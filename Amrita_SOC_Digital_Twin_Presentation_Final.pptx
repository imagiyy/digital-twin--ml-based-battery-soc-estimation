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Proposed MLP</c:v>
                </c:pt>
              </c:strCache>
            </c:strRef>
          </c:tx>
          <c:spPr>
            <a:solidFill>
              <a:srgbClr val="831838"/>
            </a:solidFill>
            <a:ln w="0">
              <a:noFill/>
            </a:ln>
          </c:spPr>
          <c:invertIfNegative val="0"/>
          <c:dLbls>
            <c:spPr>
              <a:noFill/>
              <a:ln>
                <a:noFill/>
              </a:ln>
              <a:effectLst/>
            </c:spPr>
            <c:txPr>
              <a:bodyPr wrap="square"/>
              <a:lstStyle/>
              <a:p>
                <a:pPr>
                  <a:defRPr sz="1800" b="0" u="none" strike="noStrike">
                    <a:solidFill>
                      <a:srgbClr val="000000"/>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4"/>
                <c:pt idx="0">
                  <c:v>1 A pair</c:v>
                </c:pt>
                <c:pt idx="1">
                  <c:v>2 A pair</c:v>
                </c:pt>
                <c:pt idx="2">
                  <c:v>3 A pair</c:v>
                </c:pt>
                <c:pt idx="3">
                  <c:v>0.5 A discharge</c:v>
                </c:pt>
              </c:strCache>
            </c:strRef>
          </c:cat>
          <c:val>
            <c:numRef>
              <c:f>0</c:f>
              <c:numCache>
                <c:formatCode>General</c:formatCode>
                <c:ptCount val="4"/>
                <c:pt idx="0">
                  <c:v>1.1299999999999999</c:v>
                </c:pt>
                <c:pt idx="1">
                  <c:v>1.1599999999999999</c:v>
                </c:pt>
                <c:pt idx="2">
                  <c:v>2.2400000000000002</c:v>
                </c:pt>
                <c:pt idx="3">
                  <c:v>1.7</c:v>
                </c:pt>
              </c:numCache>
            </c:numRef>
          </c:val>
          <c:extLst>
            <c:ext xmlns:c16="http://schemas.microsoft.com/office/drawing/2014/chart" uri="{C3380CC4-5D6E-409C-BE32-E72D297353CC}">
              <c16:uniqueId val="{00000000-F9A3-4CAB-9432-F94A4BC4C885}"/>
            </c:ext>
          </c:extLst>
        </c:ser>
        <c:ser>
          <c:idx val="1"/>
          <c:order val="1"/>
          <c:tx>
            <c:strRef>
              <c:f>label 1</c:f>
              <c:strCache>
                <c:ptCount val="1"/>
                <c:pt idx="0">
                  <c:v>Random Forest</c:v>
                </c:pt>
              </c:strCache>
            </c:strRef>
          </c:tx>
          <c:spPr>
            <a:solidFill>
              <a:srgbClr val="2563EB"/>
            </a:solidFill>
            <a:ln w="0">
              <a:noFill/>
            </a:ln>
          </c:spPr>
          <c:invertIfNegative val="0"/>
          <c:dLbls>
            <c:spPr>
              <a:noFill/>
              <a:ln>
                <a:noFill/>
              </a:ln>
              <a:effectLst/>
            </c:spPr>
            <c:txPr>
              <a:bodyPr wrap="square"/>
              <a:lstStyle/>
              <a:p>
                <a:pPr>
                  <a:defRPr sz="1800" b="0" u="none" strike="noStrike">
                    <a:solidFill>
                      <a:srgbClr val="000000"/>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4"/>
                <c:pt idx="0">
                  <c:v>1 A pair</c:v>
                </c:pt>
                <c:pt idx="1">
                  <c:v>2 A pair</c:v>
                </c:pt>
                <c:pt idx="2">
                  <c:v>3 A pair</c:v>
                </c:pt>
                <c:pt idx="3">
                  <c:v>0.5 A discharge</c:v>
                </c:pt>
              </c:strCache>
            </c:strRef>
          </c:cat>
          <c:val>
            <c:numRef>
              <c:f>1</c:f>
              <c:numCache>
                <c:formatCode>General</c:formatCode>
                <c:ptCount val="4"/>
                <c:pt idx="0">
                  <c:v>3.3</c:v>
                </c:pt>
                <c:pt idx="1">
                  <c:v>1.1100000000000001</c:v>
                </c:pt>
                <c:pt idx="2">
                  <c:v>1.5</c:v>
                </c:pt>
                <c:pt idx="3">
                  <c:v>2.25</c:v>
                </c:pt>
              </c:numCache>
            </c:numRef>
          </c:val>
          <c:extLst>
            <c:ext xmlns:c16="http://schemas.microsoft.com/office/drawing/2014/chart" uri="{C3380CC4-5D6E-409C-BE32-E72D297353CC}">
              <c16:uniqueId val="{00000001-F9A3-4CAB-9432-F94A4BC4C885}"/>
            </c:ext>
          </c:extLst>
        </c:ser>
        <c:ser>
          <c:idx val="2"/>
          <c:order val="2"/>
          <c:tx>
            <c:strRef>
              <c:f>label 2</c:f>
              <c:strCache>
                <c:ptCount val="1"/>
                <c:pt idx="0">
                  <c:v>Linear Reg</c:v>
                </c:pt>
              </c:strCache>
            </c:strRef>
          </c:tx>
          <c:spPr>
            <a:solidFill>
              <a:srgbClr val="7C3AED"/>
            </a:solidFill>
            <a:ln w="0">
              <a:noFill/>
            </a:ln>
          </c:spPr>
          <c:invertIfNegative val="0"/>
          <c:dLbls>
            <c:spPr>
              <a:noFill/>
              <a:ln>
                <a:noFill/>
              </a:ln>
              <a:effectLst/>
            </c:spPr>
            <c:txPr>
              <a:bodyPr wrap="square"/>
              <a:lstStyle/>
              <a:p>
                <a:pPr>
                  <a:defRPr sz="1800" b="0" u="none" strike="noStrike">
                    <a:solidFill>
                      <a:srgbClr val="000000"/>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4"/>
                <c:pt idx="0">
                  <c:v>1 A pair</c:v>
                </c:pt>
                <c:pt idx="1">
                  <c:v>2 A pair</c:v>
                </c:pt>
                <c:pt idx="2">
                  <c:v>3 A pair</c:v>
                </c:pt>
                <c:pt idx="3">
                  <c:v>0.5 A discharge</c:v>
                </c:pt>
              </c:strCache>
            </c:strRef>
          </c:cat>
          <c:val>
            <c:numRef>
              <c:f>2</c:f>
              <c:numCache>
                <c:formatCode>General</c:formatCode>
                <c:ptCount val="4"/>
                <c:pt idx="0">
                  <c:v>2.68</c:v>
                </c:pt>
                <c:pt idx="1">
                  <c:v>3.06</c:v>
                </c:pt>
                <c:pt idx="2">
                  <c:v>3.81</c:v>
                </c:pt>
                <c:pt idx="3">
                  <c:v>2.5299999999999998</c:v>
                </c:pt>
              </c:numCache>
            </c:numRef>
          </c:val>
          <c:extLst>
            <c:ext xmlns:c16="http://schemas.microsoft.com/office/drawing/2014/chart" uri="{C3380CC4-5D6E-409C-BE32-E72D297353CC}">
              <c16:uniqueId val="{00000002-F9A3-4CAB-9432-F94A4BC4C885}"/>
            </c:ext>
          </c:extLst>
        </c:ser>
        <c:ser>
          <c:idx val="3"/>
          <c:order val="3"/>
          <c:tx>
            <c:strRef>
              <c:f>label 3</c:f>
              <c:strCache>
                <c:ptCount val="1"/>
                <c:pt idx="0">
                  <c:v>Coulomb Counting</c:v>
                </c:pt>
              </c:strCache>
            </c:strRef>
          </c:tx>
          <c:spPr>
            <a:solidFill>
              <a:srgbClr val="D97706"/>
            </a:solidFill>
            <a:ln w="0">
              <a:noFill/>
            </a:ln>
          </c:spPr>
          <c:invertIfNegative val="0"/>
          <c:dLbls>
            <c:spPr>
              <a:noFill/>
              <a:ln>
                <a:noFill/>
              </a:ln>
              <a:effectLst/>
            </c:spPr>
            <c:txPr>
              <a:bodyPr wrap="square"/>
              <a:lstStyle/>
              <a:p>
                <a:pPr>
                  <a:defRPr sz="1800" b="0" u="none" strike="noStrike">
                    <a:solidFill>
                      <a:srgbClr val="000000"/>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4"/>
                <c:pt idx="0">
                  <c:v>1 A pair</c:v>
                </c:pt>
                <c:pt idx="1">
                  <c:v>2 A pair</c:v>
                </c:pt>
                <c:pt idx="2">
                  <c:v>3 A pair</c:v>
                </c:pt>
                <c:pt idx="3">
                  <c:v>0.5 A discharge</c:v>
                </c:pt>
              </c:strCache>
            </c:strRef>
          </c:cat>
          <c:val>
            <c:numRef>
              <c:f>3</c:f>
              <c:numCache>
                <c:formatCode>General</c:formatCode>
                <c:ptCount val="4"/>
                <c:pt idx="0">
                  <c:v>1.56</c:v>
                </c:pt>
                <c:pt idx="1">
                  <c:v>0.9</c:v>
                </c:pt>
                <c:pt idx="2">
                  <c:v>0.67</c:v>
                </c:pt>
                <c:pt idx="3">
                  <c:v>3.11</c:v>
                </c:pt>
              </c:numCache>
            </c:numRef>
          </c:val>
          <c:extLst>
            <c:ext xmlns:c16="http://schemas.microsoft.com/office/drawing/2014/chart" uri="{C3380CC4-5D6E-409C-BE32-E72D297353CC}">
              <c16:uniqueId val="{00000003-F9A3-4CAB-9432-F94A4BC4C885}"/>
            </c:ext>
          </c:extLst>
        </c:ser>
        <c:dLbls>
          <c:showLegendKey val="0"/>
          <c:showVal val="0"/>
          <c:showCatName val="0"/>
          <c:showSerName val="0"/>
          <c:showPercent val="0"/>
          <c:showBubbleSize val="0"/>
        </c:dLbls>
        <c:gapWidth val="150"/>
        <c:axId val="79746103"/>
        <c:axId val="93133516"/>
      </c:barChart>
      <c:catAx>
        <c:axId val="79746103"/>
        <c:scaling>
          <c:orientation val="minMax"/>
        </c:scaling>
        <c:delete val="0"/>
        <c:axPos val="b"/>
        <c:numFmt formatCode="General" sourceLinked="0"/>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endParaRPr lang="en-US"/>
          </a:p>
        </c:txPr>
        <c:crossAx val="93133516"/>
        <c:crosses val="autoZero"/>
        <c:auto val="1"/>
        <c:lblAlgn val="ctr"/>
        <c:lblOffset val="100"/>
        <c:noMultiLvlLbl val="0"/>
      </c:catAx>
      <c:valAx>
        <c:axId val="93133516"/>
        <c:scaling>
          <c:orientation val="minMax"/>
        </c:scaling>
        <c:delete val="0"/>
        <c:axPos val="l"/>
        <c:majorGridlines>
          <c:spPr>
            <a:ln w="9360">
              <a:solidFill>
                <a:srgbClr val="878787"/>
              </a:solidFill>
              <a:round/>
            </a:ln>
          </c:spPr>
        </c:majorGridlines>
        <c:numFmt formatCode="General" sourceLinked="0"/>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endParaRPr lang="en-US"/>
          </a:p>
        </c:txPr>
        <c:crossAx val="79746103"/>
        <c:crosses val="autoZero"/>
        <c:crossBetween val="between"/>
      </c:valAx>
      <c:spPr>
        <a:noFill/>
        <a:ln w="0">
          <a:noFill/>
        </a:ln>
      </c:spPr>
    </c:plotArea>
    <c:legend>
      <c:legendPos val="r"/>
      <c:layout>
        <c:manualLayout>
          <c:xMode val="edge"/>
          <c:yMode val="edge"/>
          <c:x val="0.31902851282933897"/>
          <c:y val="5.9087307692307703E-2"/>
          <c:w val="0.67869462013969595"/>
          <c:h val="0.38359461538461498"/>
        </c:manualLayout>
      </c:layout>
      <c:overlay val="1"/>
      <c:spPr>
        <a:noFill/>
        <a:ln w="0">
          <a:noFill/>
        </a:ln>
      </c:spPr>
      <c:txPr>
        <a:bodyPr/>
        <a:lstStyle/>
        <a:p>
          <a:pPr>
            <a:defRPr sz="1800" b="0" u="none" strike="noStrike">
              <a:solidFill>
                <a:srgbClr val="000000"/>
              </a:solidFill>
              <a:uFillTx/>
              <a:latin typeface="Calibri"/>
            </a:defRPr>
          </a:pPr>
          <a:endParaRPr lang="en-US"/>
        </a:p>
      </c:txPr>
    </c:legend>
    <c:plotVisOnly val="1"/>
    <c:dispBlanksAs val="gap"/>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defTabSz="4572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8EC78F-DB38-45A0-A835-B62794DA222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0" y="0"/>
            <a:ext cx="0" cy="0"/>
          </a:xfrm>
          <a:prstGeom prst="rect">
            <a:avLst/>
          </a:prstGeom>
          <a:ln w="0">
            <a:noFill/>
          </a:ln>
        </p:spPr>
      </p:sp>
      <p:sp>
        <p:nvSpPr>
          <p:cNvPr id="3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[0:00 - 0:30] | SLIDE 1: TITLE SLIDE</a:t>
            </a:r>
          </a:p>
          <a:p>
            <a:pPr indent="0" algn="l">
              <a:lnSpc>
                <a:spcPct val="100000"/>
              </a:lnSpc>
              <a:buNone/>
            </a:pPr>
            <a:r>
              <a:rPr lang="en-US" sz="2000" b="0" u="none" strike="noStrike">
                <a:solidFill>
                  <a:srgbClr val="000000"/>
                </a:solidFill>
                <a:effectLst/>
                <a:uFillTx/>
                <a:latin typeface="Arial"/>
              </a:rPr>
              <a:t>• Greeting: "Good morning respected panel members, faculty evaluators, and my dear colleagues."</a:t>
            </a:r>
          </a:p>
          <a:p>
            <a:pPr indent="0" algn="l">
              <a:lnSpc>
                <a:spcPct val="100000"/>
              </a:lnSpc>
              <a:buNone/>
            </a:pPr>
            <a:r>
              <a:rPr lang="en-US" sz="2000" b="0" u="none" strike="noStrike">
                <a:solidFill>
                  <a:srgbClr val="000000"/>
                </a:solidFill>
                <a:effectLst/>
                <a:uFillTx/>
                <a:latin typeface="Arial"/>
              </a:rPr>
              <a:t>• Introduction: "Today, we present our mini-project titled: 'Estimation of State of Charge (SOC) of a Battery using Machine Learning: A Digital Twin Architecture'."</a:t>
            </a:r>
          </a:p>
          <a:p>
            <a:pPr indent="0" algn="l">
              <a:lnSpc>
                <a:spcPct val="100000"/>
              </a:lnSpc>
              <a:buNone/>
            </a:pPr>
            <a:r>
              <a:rPr lang="en-US" sz="2000" b="0" u="none" strike="noStrike">
                <a:solidFill>
                  <a:srgbClr val="000000"/>
                </a:solidFill>
                <a:effectLst/>
                <a:uFillTx/>
                <a:latin typeface="Arial"/>
              </a:rPr>
              <a:t>• Team: "I am Mohammed Abrar, presenting on behalf of our team comprising Akash K, Aravinthakshan S, and Srinath S, conducted under the esteemed guidance of Dr. N. Radhika."</a:t>
            </a:r>
          </a:p>
          <a:p>
            <a:pPr indent="0" algn="l">
              <a:lnSpc>
                <a:spcPct val="100000"/>
              </a:lnSpc>
              <a:buNone/>
            </a:pPr>
            <a:r>
              <a:rPr lang="en-US" sz="2000" b="0" u="none" strike="noStrike">
                <a:solidFill>
                  <a:srgbClr val="000000"/>
                </a:solidFill>
                <a:effectLst/>
                <a:uFillTx/>
                <a:latin typeface="Arial"/>
              </a:rPr>
              <a:t>• The Core Problem: "In modern electric mobility and energy storage, accurate State of Charge estimation is the single most critical parameter for battery safety, longevity, and range reliability. Today, we will show you how we designed, benchmarked, and deployed an ultra-lightweight neural edge digital twin that solves real-world BMS drift."</a:t>
            </a:r>
          </a:p>
        </p:txBody>
      </p:sp>
      <p:sp>
        <p:nvSpPr>
          <p:cNvPr id="368"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[0:30 - 1:00] | SLIDE 2: PRESENTATION OUTLINE</a:t>
            </a:r>
          </a:p>
          <a:p>
            <a:pPr indent="0" algn="l">
              <a:lnSpc>
                <a:spcPct val="100000"/>
              </a:lnSpc>
              <a:buNone/>
            </a:pPr>
            <a:r>
              <a:rPr lang="en-US" sz="2000" b="0" u="none" strike="noStrike">
                <a:solidFill>
                  <a:srgbClr val="000000"/>
                </a:solidFill>
                <a:effectLst/>
                <a:uFillTx/>
                <a:latin typeface="Arial"/>
              </a:rPr>
              <a:t>• Roadmap Overview: "To give you a structured view of our 20-minute defense, our presentation is organized into five key sections:"</a:t>
            </a:r>
          </a:p>
          <a:p>
            <a:pPr indent="0" algn="l">
              <a:lnSpc>
                <a:spcPct val="100000"/>
              </a:lnSpc>
              <a:buNone/>
            </a:pPr>
            <a:r>
              <a:rPr lang="en-US" sz="2000" b="0" u="none" strike="noStrike">
                <a:solidFill>
                  <a:srgbClr val="000000"/>
                </a:solidFill>
                <a:effectLst/>
                <a:uFillTx/>
                <a:latin typeface="Arial"/>
              </a:rPr>
              <a:t>• 1. Problem Context &amp; State of the Art: "We review classical battery estimation techniques, modern AI methods, and their fundamental limitations on embedded hardware."</a:t>
            </a:r>
          </a:p>
          <a:p>
            <a:pPr indent="0" algn="l">
              <a:lnSpc>
                <a:spcPct val="100000"/>
              </a:lnSpc>
              <a:buNone/>
            </a:pPr>
            <a:r>
              <a:rPr lang="en-US" sz="2000" b="0" u="none" strike="noStrike">
                <a:solidFill>
                  <a:srgbClr val="000000"/>
                </a:solidFill>
                <a:effectLst/>
                <a:uFillTx/>
                <a:latin typeface="Arial"/>
              </a:rPr>
              <a:t>• 2. System Architecture &amp; Feature Engineering: "We present our 3-tier edge digital twin architecture and physics-grounded time-series features."</a:t>
            </a:r>
          </a:p>
          <a:p>
            <a:pPr indent="0" algn="l">
              <a:lnSpc>
                <a:spcPct val="100000"/>
              </a:lnSpc>
              <a:buNone/>
            </a:pPr>
            <a:r>
              <a:rPr lang="en-US" sz="2000" b="0" u="none" strike="noStrike">
                <a:solidFill>
                  <a:srgbClr val="000000"/>
                </a:solidFill>
                <a:effectLst/>
                <a:uFillTx/>
                <a:latin typeface="Arial"/>
              </a:rPr>
              <a:t>• 3. Multi-Algorithm Benchmarking: "We present empirical results comparing our MLP against Random Forest, Linear Regression, SPKF, and Coulomb Counting."</a:t>
            </a:r>
          </a:p>
          <a:p>
            <a:pPr indent="0" algn="l">
              <a:lnSpc>
                <a:spcPct val="100000"/>
              </a:lnSpc>
              <a:buNone/>
            </a:pPr>
            <a:r>
              <a:rPr lang="en-US" sz="2000" b="0" u="none" strike="noStrike">
                <a:solidFill>
                  <a:srgbClr val="000000"/>
                </a:solidFill>
                <a:effectLst/>
                <a:uFillTx/>
                <a:latin typeface="Arial"/>
              </a:rPr>
              <a:t>• 4. Stress Testing &amp; SOH: "We evaluate resilience against sensor noise, DC drift, temperature extremes, and capacity fade tracking."</a:t>
            </a:r>
          </a:p>
          <a:p>
            <a:pPr indent="0" algn="l">
              <a:lnSpc>
                <a:spcPct val="100000"/>
              </a:lnSpc>
              <a:buNone/>
            </a:pPr>
            <a:r>
              <a:rPr lang="en-US" sz="2000" b="0" u="none" strike="noStrike">
                <a:solidFill>
                  <a:srgbClr val="000000"/>
                </a:solidFill>
                <a:effectLst/>
                <a:uFillTx/>
                <a:latin typeface="Arial"/>
              </a:rPr>
              <a:t>• 5. Firmware Deployment &amp; Live Digital Twin: "Finally, we demonstrate our zero-dependency ANSI C firmware running in 6 microseconds, backed by an interactive web telemetry dashboard."</a:t>
            </a:r>
          </a:p>
        </p:txBody>
      </p:sp>
      <p:sp>
        <p:nvSpPr>
          <p:cNvPr id="371"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noRot="1" noChangeAspect="1"/>
          </p:cNvSpPr>
          <p:nvPr>
            <p:ph type="sldImg"/>
          </p:nvPr>
        </p:nvSpPr>
        <p:spPr>
          <a:xfrm>
            <a:off x="0" y="0"/>
            <a:ext cx="0" cy="0"/>
          </a:xfrm>
          <a:prstGeom prst="rect">
            <a:avLst/>
          </a:prstGeom>
          <a:ln w="0">
            <a:noFill/>
          </a:ln>
        </p:spPr>
      </p:sp>
      <p:sp>
        <p:nvSpPr>
          <p:cNvPr id="3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[1:00 - 2:00] | SLIDE 3: MOTIVATION</a:t>
            </a:r>
          </a:p>
          <a:p>
            <a:pPr indent="0" algn="l">
              <a:lnSpc>
                <a:spcPct val="100000"/>
              </a:lnSpc>
              <a:buNone/>
            </a:pPr>
            <a:r>
              <a:rPr lang="en-US" sz="2000" b="0" u="none" strike="noStrike">
                <a:solidFill>
                  <a:srgbClr val="000000"/>
                </a:solidFill>
                <a:effectLst/>
                <a:uFillTx/>
                <a:latin typeface="Arial"/>
              </a:rPr>
              <a:t>• Why BMS matters: "Lithium-ion cells are electrochemical systems operating under severe non-linear dynamics, thermal variance, and degradation over cycling."</a:t>
            </a:r>
          </a:p>
          <a:p>
            <a:pPr indent="0" algn="l">
              <a:lnSpc>
                <a:spcPct val="100000"/>
              </a:lnSpc>
              <a:buNone/>
            </a:pPr>
            <a:r>
              <a:rPr lang="en-US" sz="2000" b="0" u="none" strike="noStrike">
                <a:solidFill>
                  <a:srgbClr val="000000"/>
                </a:solidFill>
                <a:effectLst/>
                <a:uFillTx/>
                <a:latin typeface="Arial"/>
              </a:rPr>
              <a:t>• The Industrial Bottleneck: "In current automotive BMS, Coulomb Counting is standard due to low compute requirements, but it suffers from open-loop error accumulation. A 30 mA current sensor offset accumulates over 13% SOC error within 10 hours."</a:t>
            </a:r>
          </a:p>
          <a:p>
            <a:pPr indent="0" algn="l">
              <a:lnSpc>
                <a:spcPct val="100000"/>
              </a:lnSpc>
              <a:buNone/>
            </a:pPr>
            <a:r>
              <a:rPr lang="en-US" sz="2000" b="0" u="none" strike="noStrike">
                <a:solidFill>
                  <a:srgbClr val="000000"/>
                </a:solidFill>
                <a:effectLst/>
                <a:uFillTx/>
                <a:latin typeface="Arial"/>
              </a:rPr>
              <a:t>• Failure Consequences:</a:t>
            </a:r>
          </a:p>
          <a:p>
            <a:pPr indent="0" algn="l">
              <a:lnSpc>
                <a:spcPct val="100000"/>
              </a:lnSpc>
              <a:buNone/>
            </a:pPr>
            <a:r>
              <a:rPr lang="en-US" sz="2000" b="0" u="none" strike="noStrike">
                <a:solidFill>
                  <a:srgbClr val="000000"/>
                </a:solidFill>
                <a:effectLst/>
                <a:uFillTx/>
                <a:latin typeface="Arial"/>
              </a:rPr>
              <a:t>  - Overestimation leads to unexpected vehicle stall on highways.</a:t>
            </a:r>
          </a:p>
          <a:p>
            <a:pPr indent="0" algn="l">
              <a:lnSpc>
                <a:spcPct val="100000"/>
              </a:lnSpc>
              <a:buNone/>
            </a:pPr>
            <a:r>
              <a:rPr lang="en-US" sz="2000" b="0" u="none" strike="noStrike">
                <a:solidFill>
                  <a:srgbClr val="000000"/>
                </a:solidFill>
                <a:effectLst/>
                <a:uFillTx/>
                <a:latin typeface="Arial"/>
              </a:rPr>
              <a:t>  - Underestimation causes premature shutoff and 15-20% artificial range reduction.</a:t>
            </a:r>
          </a:p>
          <a:p>
            <a:pPr indent="0" algn="l">
              <a:lnSpc>
                <a:spcPct val="100000"/>
              </a:lnSpc>
              <a:buNone/>
            </a:pPr>
            <a:r>
              <a:rPr lang="en-US" sz="2000" b="0" u="none" strike="noStrike">
                <a:solidFill>
                  <a:srgbClr val="000000"/>
                </a:solidFill>
                <a:effectLst/>
                <a:uFillTx/>
                <a:latin typeface="Arial"/>
              </a:rPr>
              <a:t>  - Cell imbalance under unmonitored charging can trigger thermal runaway and catastrophic fires.</a:t>
            </a:r>
          </a:p>
          <a:p>
            <a:pPr indent="0" algn="l">
              <a:lnSpc>
                <a:spcPct val="100000"/>
              </a:lnSpc>
              <a:buNone/>
            </a:pPr>
            <a:r>
              <a:rPr lang="en-US" sz="2000" b="0" u="none" strike="noStrike">
                <a:solidFill>
                  <a:srgbClr val="000000"/>
                </a:solidFill>
                <a:effectLst/>
                <a:uFillTx/>
                <a:latin typeface="Arial"/>
              </a:rPr>
              <a:t>• Key Message: "Our motivation was to build an intelligent, self-correcting battery digital twin that runs natively on microcontrollers with laboratory-grade accuracy."</a:t>
            </a:r>
          </a:p>
        </p:txBody>
      </p:sp>
      <p:sp>
        <p:nvSpPr>
          <p:cNvPr id="374"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noRot="1" noChangeAspect="1"/>
          </p:cNvSpPr>
          <p:nvPr>
            <p:ph type="sldImg"/>
          </p:nvPr>
        </p:nvSpPr>
        <p:spPr>
          <a:xfrm>
            <a:off x="0" y="0"/>
            <a:ext cx="0" cy="0"/>
          </a:xfrm>
          <a:prstGeom prst="rect">
            <a:avLst/>
          </a:prstGeom>
          <a:ln w="0">
            <a:noFill/>
          </a:ln>
        </p:spPr>
      </p:sp>
      <p:sp>
        <p:nvSpPr>
          <p:cNvPr id="3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[2:00 - 3:00] | SLIDE 4: INTRODUCTION</a:t>
            </a:r>
          </a:p>
          <a:p>
            <a:pPr indent="0" algn="l">
              <a:lnSpc>
                <a:spcPct val="100000"/>
              </a:lnSpc>
              <a:buNone/>
            </a:pPr>
            <a:r>
              <a:rPr lang="en-US" sz="2000" b="0" u="none" strike="noStrike">
                <a:solidFill>
                  <a:srgbClr val="000000"/>
                </a:solidFill>
                <a:effectLst/>
                <a:uFillTx/>
                <a:latin typeface="Arial"/>
              </a:rPr>
              <a:t>• Defining State of Charge (SOC): "SOC represents the remaining usable capacity of a battery expressed as a percentage of its nominal capacity. Like a vehicle fuel gauge, but with one fundamental challenge: SOC cannot be measured directly with any physical sensor."</a:t>
            </a:r>
          </a:p>
          <a:p>
            <a:pPr indent="0" algn="l">
              <a:lnSpc>
                <a:spcPct val="100000"/>
              </a:lnSpc>
              <a:buNone/>
            </a:pPr>
            <a:r>
              <a:rPr lang="en-US" sz="2000" b="0" u="none" strike="noStrike">
                <a:solidFill>
                  <a:srgbClr val="000000"/>
                </a:solidFill>
                <a:effectLst/>
                <a:uFillTx/>
                <a:latin typeface="Arial"/>
              </a:rPr>
              <a:t>• The Measurement Paradox: "Terminal voltage does not map 1:1 to SOC under load due to internal ohmic resistance (IR drop), dynamic polarization overpotentials, and electrochemical hysteresis."</a:t>
            </a:r>
          </a:p>
          <a:p>
            <a:pPr indent="0" algn="l">
              <a:lnSpc>
                <a:spcPct val="100000"/>
              </a:lnSpc>
              <a:buNone/>
            </a:pPr>
            <a:r>
              <a:rPr lang="en-US" sz="2000" b="0" u="none" strike="noStrike">
                <a:solidFill>
                  <a:srgbClr val="000000"/>
                </a:solidFill>
                <a:effectLst/>
                <a:uFillTx/>
                <a:latin typeface="Arial"/>
              </a:rPr>
              <a:t>• The Digital Twin Solution:</a:t>
            </a:r>
          </a:p>
          <a:p>
            <a:pPr indent="0" algn="l">
              <a:lnSpc>
                <a:spcPct val="100000"/>
              </a:lnSpc>
              <a:buNone/>
            </a:pPr>
            <a:r>
              <a:rPr lang="en-US" sz="2000" b="0" u="none" strike="noStrike">
                <a:solidFill>
                  <a:srgbClr val="000000"/>
                </a:solidFill>
                <a:effectLst/>
                <a:uFillTx/>
                <a:latin typeface="Arial"/>
              </a:rPr>
              <a:t>  - "We couple the physical cell with a real-time software digital twin."</a:t>
            </a:r>
          </a:p>
          <a:p>
            <a:pPr indent="0" algn="l">
              <a:lnSpc>
                <a:spcPct val="100000"/>
              </a:lnSpc>
              <a:buNone/>
            </a:pPr>
            <a:r>
              <a:rPr lang="en-US" sz="2000" b="0" u="none" strike="noStrike">
                <a:solidFill>
                  <a:srgbClr val="000000"/>
                </a:solidFill>
                <a:effectLst/>
                <a:uFillTx/>
                <a:latin typeface="Arial"/>
              </a:rPr>
              <a:t>  - "Continuous telemetry streams Voltage, Current, and Temperature into an onboard inference engine."</a:t>
            </a:r>
          </a:p>
          <a:p>
            <a:pPr indent="0" algn="l">
              <a:lnSpc>
                <a:spcPct val="100000"/>
              </a:lnSpc>
              <a:buNone/>
            </a:pPr>
            <a:r>
              <a:rPr lang="en-US" sz="2000" b="0" u="none" strike="noStrike">
                <a:solidFill>
                  <a:srgbClr val="000000"/>
                </a:solidFill>
                <a:effectLst/>
                <a:uFillTx/>
                <a:latin typeface="Arial"/>
              </a:rPr>
              <a:t>  - "The twin computes instantaneous SOC, tracks cell internal impedance, and projects State of Health (SOH)."</a:t>
            </a:r>
          </a:p>
        </p:txBody>
      </p:sp>
      <p:sp>
        <p:nvSpPr>
          <p:cNvPr id="377"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0" y="0"/>
            <a:ext cx="0" cy="0"/>
          </a:xfrm>
          <a:prstGeom prst="rect">
            <a:avLst/>
          </a:prstGeom>
          <a:ln w="0">
            <a:noFill/>
          </a:ln>
        </p:spPr>
      </p:sp>
      <p:sp>
        <p:nvSpPr>
          <p:cNvPr id="3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[3:00 - 4:00] | SLIDE 5: STATE OF THE ART IN RELATED AREA</a:t>
            </a:r>
          </a:p>
          <a:p>
            <a:pPr indent="0" algn="l">
              <a:lnSpc>
                <a:spcPct val="100000"/>
              </a:lnSpc>
              <a:buNone/>
            </a:pPr>
            <a:r>
              <a:rPr lang="en-US" sz="2000" b="0" u="none" strike="noStrike">
                <a:solidFill>
                  <a:srgbClr val="000000"/>
                </a:solidFill>
                <a:effectLst/>
                <a:uFillTx/>
                <a:latin typeface="Arial"/>
              </a:rPr>
              <a:t>• Survey of Existing Methodologies:</a:t>
            </a:r>
          </a:p>
          <a:p>
            <a:pPr indent="0" algn="l">
              <a:lnSpc>
                <a:spcPct val="100000"/>
              </a:lnSpc>
              <a:buNone/>
            </a:pPr>
            <a:r>
              <a:rPr lang="en-US" sz="2000" b="0" u="none" strike="noStrike">
                <a:solidFill>
                  <a:srgbClr val="000000"/>
                </a:solidFill>
                <a:effectLst/>
                <a:uFillTx/>
                <a:latin typeface="Arial"/>
              </a:rPr>
              <a:t>  1. Direct Measurement (OCV / Coulomb Counting): Extremely cheap, but unviable during continuous dynamic driving without rest periods.</a:t>
            </a:r>
          </a:p>
          <a:p>
            <a:pPr indent="0" algn="l">
              <a:lnSpc>
                <a:spcPct val="100000"/>
              </a:lnSpc>
              <a:buNone/>
            </a:pPr>
            <a:r>
              <a:rPr lang="en-US" sz="2000" b="0" u="none" strike="noStrike">
                <a:solidFill>
                  <a:srgbClr val="000000"/>
                </a:solidFill>
                <a:effectLst/>
                <a:uFillTx/>
                <a:latin typeface="Arial"/>
              </a:rPr>
              <a:t>  2. Model-Based Observers (EKF, UKF, SPKF): Based on Equivalent Circuit Models (ECM like Thevenin or Dual Polarization). Accurate when parameterized well, but heavy matrix inversions consume 40-80 microseconds per step and struggle with parameter drift over aging.</a:t>
            </a:r>
          </a:p>
          <a:p>
            <a:pPr indent="0" algn="l">
              <a:lnSpc>
                <a:spcPct val="100000"/>
              </a:lnSpc>
              <a:buNone/>
            </a:pPr>
            <a:r>
              <a:rPr lang="en-US" sz="2000" b="0" u="none" strike="noStrike">
                <a:solidFill>
                  <a:srgbClr val="000000"/>
                </a:solidFill>
                <a:effectLst/>
                <a:uFillTx/>
                <a:latin typeface="Arial"/>
              </a:rPr>
              <a:t>  3. Data-Driven ML (LSTM, GRU, Random Forest): High non-linear mapping ability, but standard implementations require large memory footprints (&gt;100 KB) and floating-point co-processors.</a:t>
            </a:r>
          </a:p>
          <a:p>
            <a:pPr indent="0" algn="l">
              <a:lnSpc>
                <a:spcPct val="100000"/>
              </a:lnSpc>
              <a:buNone/>
            </a:pPr>
            <a:r>
              <a:rPr lang="en-US" sz="2000" b="0" u="none" strike="noStrike">
                <a:solidFill>
                  <a:srgbClr val="000000"/>
                </a:solidFill>
                <a:effectLst/>
                <a:uFillTx/>
                <a:latin typeface="Arial"/>
              </a:rPr>
              <a:t>• Research Gap: "Existing literature offers high accuracy with heavy models, or low compute with drifting classical methods. There was a critical need for an ultra-compact neural model that achieves &lt;1.5% MAE while fitting into sub-1 KB microcontroller RAM."</a:t>
            </a:r>
          </a:p>
        </p:txBody>
      </p:sp>
      <p:sp>
        <p:nvSpPr>
          <p:cNvPr id="380"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noRot="1" noChangeAspect="1"/>
          </p:cNvSpPr>
          <p:nvPr>
            <p:ph type="sldImg"/>
          </p:nvPr>
        </p:nvSpPr>
        <p:spPr>
          <a:xfrm>
            <a:off x="0" y="0"/>
            <a:ext cx="0" cy="0"/>
          </a:xfrm>
          <a:prstGeom prst="rect">
            <a:avLst/>
          </a:prstGeom>
          <a:ln w="0">
            <a:noFill/>
          </a:ln>
        </p:spPr>
      </p:sp>
      <p:sp>
        <p:nvSpPr>
          <p:cNvPr id="3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[4:00 - 5:00] | SLIDE 6: LITERATURE REVIEW - CLASSICAL METHODS</a:t>
            </a:r>
          </a:p>
          <a:p>
            <a:pPr indent="0" algn="l">
              <a:lnSpc>
                <a:spcPct val="100000"/>
              </a:lnSpc>
              <a:buNone/>
            </a:pPr>
            <a:r>
              <a:rPr lang="en-US" sz="2000" b="0" u="none" strike="noStrike">
                <a:solidFill>
                  <a:srgbClr val="000000"/>
                </a:solidFill>
                <a:effectLst/>
                <a:uFillTx/>
                <a:latin typeface="Arial"/>
              </a:rPr>
              <a:t>• Deep Dive into 3 Classical Paradigms:</a:t>
            </a:r>
          </a:p>
          <a:p>
            <a:pPr indent="0" algn="l">
              <a:lnSpc>
                <a:spcPct val="100000"/>
              </a:lnSpc>
              <a:buNone/>
            </a:pPr>
            <a:r>
              <a:rPr lang="en-US" sz="2000" b="0" u="none" strike="noStrike">
                <a:solidFill>
                  <a:srgbClr val="000000"/>
                </a:solidFill>
                <a:effectLst/>
                <a:uFillTx/>
                <a:latin typeface="Arial"/>
              </a:rPr>
              <a:t>  1. Coulomb Counting (Ah Integration):</a:t>
            </a:r>
          </a:p>
          <a:p>
            <a:pPr indent="0" algn="l">
              <a:lnSpc>
                <a:spcPct val="100000"/>
              </a:lnSpc>
              <a:buNone/>
            </a:pPr>
            <a:r>
              <a:rPr lang="en-US" sz="2000" b="0" u="none" strike="noStrike">
                <a:solidFill>
                  <a:srgbClr val="000000"/>
                </a:solidFill>
                <a:effectLst/>
                <a:uFillTx/>
                <a:latin typeface="Arial"/>
              </a:rPr>
              <a:t>     - Formula: SOC(t) = SOC(0) - (1/Q_n) * integral(I * dt).</a:t>
            </a:r>
          </a:p>
          <a:p>
            <a:pPr indent="0" algn="l">
              <a:lnSpc>
                <a:spcPct val="100000"/>
              </a:lnSpc>
              <a:buNone/>
            </a:pPr>
            <a:r>
              <a:rPr lang="en-US" sz="2000" b="0" u="none" strike="noStrike">
                <a:solidFill>
                  <a:srgbClr val="000000"/>
                </a:solidFill>
                <a:effectLst/>
                <a:uFillTx/>
                <a:latin typeface="Arial"/>
              </a:rPr>
              <a:t>     - Limitation: Pure open-loop integration. Sensitive to current measurement offset and requires exact initial SOC(0).</a:t>
            </a:r>
          </a:p>
          <a:p>
            <a:pPr indent="0" algn="l">
              <a:lnSpc>
                <a:spcPct val="100000"/>
              </a:lnSpc>
              <a:buNone/>
            </a:pPr>
            <a:r>
              <a:rPr lang="en-US" sz="2000" b="0" u="none" strike="noStrike">
                <a:solidFill>
                  <a:srgbClr val="000000"/>
                </a:solidFill>
                <a:effectLst/>
                <a:uFillTx/>
                <a:latin typeface="Arial"/>
              </a:rPr>
              <a:t>  2. Open Circuit Voltage (OCV) Lookup:</a:t>
            </a:r>
          </a:p>
          <a:p>
            <a:pPr indent="0" algn="l">
              <a:lnSpc>
                <a:spcPct val="100000"/>
              </a:lnSpc>
              <a:buNone/>
            </a:pPr>
            <a:r>
              <a:rPr lang="en-US" sz="2000" b="0" u="none" strike="noStrike">
                <a:solidFill>
                  <a:srgbClr val="000000"/>
                </a:solidFill>
                <a:effectLst/>
                <a:uFillTx/>
                <a:latin typeface="Arial"/>
              </a:rPr>
              <a:t>     - Limitation: In lithium chemistries (especially LFP and NMC), the OCV curve exhibits a nearly flat plateau across the 30% to 70% SOC region. A 10 mV sensor error translates to a 15% error in SOC. Also requires hours of relaxation time.</a:t>
            </a:r>
          </a:p>
          <a:p>
            <a:pPr indent="0" algn="l">
              <a:lnSpc>
                <a:spcPct val="100000"/>
              </a:lnSpc>
              <a:buNone/>
            </a:pPr>
            <a:r>
              <a:rPr lang="en-US" sz="2000" b="0" u="none" strike="noStrike">
                <a:solidFill>
                  <a:srgbClr val="000000"/>
                </a:solidFill>
                <a:effectLst/>
                <a:uFillTx/>
                <a:latin typeface="Arial"/>
              </a:rPr>
              <a:t>  3. Extended Kalman Filter (EKF) &amp; SPKF:</a:t>
            </a:r>
          </a:p>
          <a:p>
            <a:pPr indent="0" algn="l">
              <a:lnSpc>
                <a:spcPct val="100000"/>
              </a:lnSpc>
              <a:buNone/>
            </a:pPr>
            <a:r>
              <a:rPr lang="en-US" sz="2000" b="0" u="none" strike="noStrike">
                <a:solidFill>
                  <a:srgbClr val="000000"/>
                </a:solidFill>
                <a:effectLst/>
                <a:uFillTx/>
                <a:latin typeface="Arial"/>
              </a:rPr>
              <a:t>     - Observer-based closed loop using an equivalent circuit (R0, R1, C1).</a:t>
            </a:r>
          </a:p>
          <a:p>
            <a:pPr indent="0" algn="l">
              <a:lnSpc>
                <a:spcPct val="100000"/>
              </a:lnSpc>
              <a:buNone/>
            </a:pPr>
            <a:r>
              <a:rPr lang="en-US" sz="2000" b="0" u="none" strike="noStrike">
                <a:solidFill>
                  <a:srgbClr val="000000"/>
                </a:solidFill>
                <a:effectLst/>
                <a:uFillTx/>
                <a:latin typeface="Arial"/>
              </a:rPr>
              <a:t>     - Limitation: High compute complexity (matrix Riccati equations and inversions). Highly sensitive to model parameter mismatches under aging and temperature extremes."</a:t>
            </a:r>
          </a:p>
        </p:txBody>
      </p:sp>
      <p:sp>
        <p:nvSpPr>
          <p:cNvPr id="383"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0" y="0"/>
            <a:ext cx="0" cy="0"/>
          </a:xfrm>
          <a:prstGeom prst="rect">
            <a:avLst/>
          </a:prstGeom>
          <a:ln w="0">
            <a:noFill/>
          </a:ln>
        </p:spPr>
      </p:sp>
      <p:sp>
        <p:nvSpPr>
          <p:cNvPr id="3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[5:00 - 6:00] | SLIDE 7: LITERATURE REVIEW - AI &amp; HYBRID FRAMEWORKS</a:t>
            </a:r>
          </a:p>
          <a:p>
            <a:pPr indent="0" algn="l">
              <a:lnSpc>
                <a:spcPct val="100000"/>
              </a:lnSpc>
              <a:buNone/>
            </a:pPr>
            <a:r>
              <a:rPr lang="en-US" sz="2000" b="0" u="none" strike="noStrike">
                <a:solidFill>
                  <a:srgbClr val="000000"/>
                </a:solidFill>
                <a:effectLst/>
                <a:uFillTx/>
                <a:latin typeface="Arial"/>
              </a:rPr>
              <a:t>• Deep Dive into AI &amp; Hybrid Approaches:</a:t>
            </a:r>
          </a:p>
          <a:p>
            <a:pPr indent="0" algn="l">
              <a:lnSpc>
                <a:spcPct val="100000"/>
              </a:lnSpc>
              <a:buNone/>
            </a:pPr>
            <a:r>
              <a:rPr lang="en-US" sz="2000" b="0" u="none" strike="noStrike">
                <a:solidFill>
                  <a:srgbClr val="000000"/>
                </a:solidFill>
                <a:effectLst/>
                <a:uFillTx/>
                <a:latin typeface="Arial"/>
              </a:rPr>
              <a:t>  1. Recurrent Architectures (LSTM / GRU):</a:t>
            </a:r>
          </a:p>
          <a:p>
            <a:pPr indent="0" algn="l">
              <a:lnSpc>
                <a:spcPct val="100000"/>
              </a:lnSpc>
              <a:buNone/>
            </a:pPr>
            <a:r>
              <a:rPr lang="en-US" sz="2000" b="0" u="none" strike="noStrike">
                <a:solidFill>
                  <a:srgbClr val="000000"/>
                </a:solidFill>
                <a:effectLst/>
                <a:uFillTx/>
                <a:latin typeface="Arial"/>
              </a:rPr>
              <a:t>     - Excels at temporal memory, but requires 10,000+ parameters, matrix-vector recursions, and high RAM overhead unfeasible for low-cost Cortex-M0/M3 microcontrollers.</a:t>
            </a:r>
          </a:p>
          <a:p>
            <a:pPr indent="0" algn="l">
              <a:lnSpc>
                <a:spcPct val="100000"/>
              </a:lnSpc>
              <a:buNone/>
            </a:pPr>
            <a:r>
              <a:rPr lang="en-US" sz="2000" b="0" u="none" strike="noStrike">
                <a:solidFill>
                  <a:srgbClr val="000000"/>
                </a:solidFill>
                <a:effectLst/>
                <a:uFillTx/>
                <a:latin typeface="Arial"/>
              </a:rPr>
              <a:t>  2. Random Forest &amp; Gradient Boosting (GBDT):</a:t>
            </a:r>
          </a:p>
          <a:p>
            <a:pPr indent="0" algn="l">
              <a:lnSpc>
                <a:spcPct val="100000"/>
              </a:lnSpc>
              <a:buNone/>
            </a:pPr>
            <a:r>
              <a:rPr lang="en-US" sz="2000" b="0" u="none" strike="noStrike">
                <a:solidFill>
                  <a:srgbClr val="000000"/>
                </a:solidFill>
                <a:effectLst/>
                <a:uFillTx/>
                <a:latin typeface="Arial"/>
              </a:rPr>
              <a:t>     - Provides powerful non-linear tabular mapping, but requires traversing dozens of decision trees (&gt;120 KB flash memory), causing severe ROM overhead on microcontrollers.</a:t>
            </a:r>
          </a:p>
          <a:p>
            <a:pPr indent="0" algn="l">
              <a:lnSpc>
                <a:spcPct val="100000"/>
              </a:lnSpc>
              <a:buNone/>
            </a:pPr>
            <a:r>
              <a:rPr lang="en-US" sz="2000" b="0" u="none" strike="noStrike">
                <a:solidFill>
                  <a:srgbClr val="000000"/>
                </a:solidFill>
                <a:effectLst/>
                <a:uFillTx/>
                <a:latin typeface="Arial"/>
              </a:rPr>
              <a:t>  3. Compact Feedforward Neural Networks (MLP):</a:t>
            </a:r>
          </a:p>
          <a:p>
            <a:pPr indent="0" algn="l">
              <a:lnSpc>
                <a:spcPct val="100000"/>
              </a:lnSpc>
              <a:buNone/>
            </a:pPr>
            <a:r>
              <a:rPr lang="en-US" sz="2000" b="0" u="none" strike="noStrike">
                <a:solidFill>
                  <a:srgbClr val="000000"/>
                </a:solidFill>
                <a:effectLst/>
                <a:uFillTx/>
                <a:latin typeface="Arial"/>
              </a:rPr>
              <a:t>     - Clean, deterministic forward pass. Zero iterative matrix inversions, minimal parameter storage.</a:t>
            </a:r>
          </a:p>
          <a:p>
            <a:pPr indent="0" algn="l">
              <a:lnSpc>
                <a:spcPct val="100000"/>
              </a:lnSpc>
              <a:buNone/>
            </a:pPr>
            <a:r>
              <a:rPr lang="en-US" sz="2000" b="0" u="none" strike="noStrike">
                <a:solidFill>
                  <a:srgbClr val="000000"/>
                </a:solidFill>
                <a:effectLst/>
                <a:uFillTx/>
                <a:latin typeface="Arial"/>
              </a:rPr>
              <a:t>  4. Hybrid Industry Standards:</a:t>
            </a:r>
          </a:p>
          <a:p>
            <a:pPr indent="0" algn="l">
              <a:lnSpc>
                <a:spcPct val="100000"/>
              </a:lnSpc>
              <a:buNone/>
            </a:pPr>
            <a:r>
              <a:rPr lang="en-US" sz="2000" b="0" u="none" strike="noStrike">
                <a:solidFill>
                  <a:srgbClr val="000000"/>
                </a:solidFill>
                <a:effectLst/>
                <a:uFillTx/>
                <a:latin typeface="Arial"/>
              </a:rPr>
              <a:t>     - Combining capacity tracking + EIS (electrochemical impedance spectroscopy).</a:t>
            </a:r>
          </a:p>
          <a:p>
            <a:pPr indent="0" algn="l">
              <a:lnSpc>
                <a:spcPct val="100000"/>
              </a:lnSpc>
              <a:buNone/>
            </a:pPr>
            <a:r>
              <a:rPr lang="en-US" sz="2000" b="0" u="none" strike="noStrike">
                <a:solidFill>
                  <a:srgbClr val="000000"/>
                </a:solidFill>
                <a:effectLst/>
                <a:uFillTx/>
                <a:latin typeface="Arial"/>
              </a:rPr>
              <a:t>     - Kalman Filter + Neural Network residual correction layer.</a:t>
            </a:r>
          </a:p>
          <a:p>
            <a:pPr indent="0" algn="l">
              <a:lnSpc>
                <a:spcPct val="100000"/>
              </a:lnSpc>
              <a:buNone/>
            </a:pPr>
            <a:r>
              <a:rPr lang="en-US" sz="2000" b="0" u="none" strike="noStrike">
                <a:solidFill>
                  <a:srgbClr val="000000"/>
                </a:solidFill>
                <a:effectLst/>
                <a:uFillTx/>
                <a:latin typeface="Arial"/>
              </a:rPr>
              <a:t>     - Incremental Capacity Analysis (ICA dQ/dV peak tracking) for non-destructive SOH tracking."</a:t>
            </a:r>
          </a:p>
        </p:txBody>
      </p:sp>
      <p:sp>
        <p:nvSpPr>
          <p:cNvPr id="386"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noRot="1" noChangeAspect="1"/>
          </p:cNvSpPr>
          <p:nvPr>
            <p:ph type="sldImg"/>
          </p:nvPr>
        </p:nvSpPr>
        <p:spPr>
          <a:xfrm>
            <a:off x="0" y="0"/>
            <a:ext cx="0" cy="0"/>
          </a:xfrm>
          <a:prstGeom prst="rect">
            <a:avLst/>
          </a:prstGeom>
          <a:ln w="0">
            <a:noFill/>
          </a:ln>
        </p:spPr>
      </p:sp>
      <p:sp>
        <p:nvSpPr>
          <p:cNvPr id="3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[6:00 - 6:45] | SLIDE 8: PROJECT OBJECTIVE</a:t>
            </a:r>
          </a:p>
          <a:p>
            <a:pPr indent="0" algn="l">
              <a:lnSpc>
                <a:spcPct val="100000"/>
              </a:lnSpc>
              <a:buNone/>
            </a:pPr>
            <a:r>
              <a:rPr lang="en-US" sz="2000" b="0" u="none" strike="noStrike">
                <a:solidFill>
                  <a:srgbClr val="000000"/>
                </a:solidFill>
                <a:effectLst/>
                <a:uFillTx/>
                <a:latin typeface="Arial"/>
              </a:rPr>
              <a:t>• Clear Project Deliverables:</a:t>
            </a:r>
          </a:p>
          <a:p>
            <a:pPr indent="0" algn="l">
              <a:lnSpc>
                <a:spcPct val="100000"/>
              </a:lnSpc>
              <a:buNone/>
            </a:pPr>
            <a:r>
              <a:rPr lang="en-US" sz="2000" b="0" u="none" strike="noStrike">
                <a:solidFill>
                  <a:srgbClr val="000000"/>
                </a:solidFill>
                <a:effectLst/>
                <a:uFillTx/>
                <a:latin typeface="Arial"/>
              </a:rPr>
              <a:t>  1. Accurate Edge Inference: Achieve &lt;1.5% Mean Absolute Error (MAE) across standard automotive drive cycles (UDDS, US06, HWFET, LA92).</a:t>
            </a:r>
          </a:p>
          <a:p>
            <a:pPr indent="0" algn="l">
              <a:lnSpc>
                <a:spcPct val="100000"/>
              </a:lnSpc>
              <a:buNone/>
            </a:pPr>
            <a:r>
              <a:rPr lang="en-US" sz="2000" b="0" u="none" strike="noStrike">
                <a:solidFill>
                  <a:srgbClr val="000000"/>
                </a:solidFill>
                <a:effectLst/>
                <a:uFillTx/>
                <a:latin typeface="Arial"/>
              </a:rPr>
              <a:t>  2. Long-Horizon Drift Immunity: Eliminate sensor DC bias drift without requiring high-order matrix inversions.</a:t>
            </a:r>
          </a:p>
          <a:p>
            <a:pPr indent="0" algn="l">
              <a:lnSpc>
                <a:spcPct val="100000"/>
              </a:lnSpc>
              <a:buNone/>
            </a:pPr>
            <a:r>
              <a:rPr lang="en-US" sz="2000" b="0" u="none" strike="noStrike">
                <a:solidFill>
                  <a:srgbClr val="000000"/>
                </a:solidFill>
                <a:effectLst/>
                <a:uFillTx/>
                <a:latin typeface="Arial"/>
              </a:rPr>
              <a:t>  3. Embedded Hardware Feasibility: Ensure total memory footprint is &lt;500 bytes and single-cycle inference latency is &lt;10 microseconds on an 80 MHz ARM Cortex-M processor.</a:t>
            </a:r>
          </a:p>
          <a:p>
            <a:pPr indent="0" algn="l">
              <a:lnSpc>
                <a:spcPct val="100000"/>
              </a:lnSpc>
              <a:buNone/>
            </a:pPr>
            <a:r>
              <a:rPr lang="en-US" sz="2000" b="0" u="none" strike="noStrike">
                <a:solidFill>
                  <a:srgbClr val="000000"/>
                </a:solidFill>
                <a:effectLst/>
                <a:uFillTx/>
                <a:latin typeface="Arial"/>
              </a:rPr>
              <a:t>  4. SOH Co-Estimation: Track capacity fade and internal resistance growth across 500 degradation cycles.</a:t>
            </a:r>
          </a:p>
          <a:p>
            <a:pPr indent="0" algn="l">
              <a:lnSpc>
                <a:spcPct val="100000"/>
              </a:lnSpc>
              <a:buNone/>
            </a:pPr>
            <a:r>
              <a:rPr lang="en-US" sz="2000" b="0" u="none" strike="noStrike">
                <a:solidFill>
                  <a:srgbClr val="000000"/>
                </a:solidFill>
                <a:effectLst/>
                <a:uFillTx/>
                <a:latin typeface="Arial"/>
              </a:rPr>
              <a:t>  5. Interactive Digital Twin: Build a full-stack real-time telemetry dashboard with WebSocket streaming and automated safety alerts."</a:t>
            </a:r>
          </a:p>
        </p:txBody>
      </p:sp>
      <p:sp>
        <p:nvSpPr>
          <p:cNvPr id="389"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0" y="0"/>
            <a:ext cx="0" cy="0"/>
          </a:xfrm>
          <a:prstGeom prst="rect">
            <a:avLst/>
          </a:prstGeom>
          <a:ln w="0">
            <a:noFill/>
          </a:ln>
        </p:spPr>
      </p:sp>
      <p:sp>
        <p:nvSpPr>
          <p:cNvPr id="3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[6:45 - 7:45] | SLIDE 9: METHODOLOGY</a:t>
            </a:r>
          </a:p>
          <a:p>
            <a:pPr indent="0" algn="l">
              <a:lnSpc>
                <a:spcPct val="100000"/>
              </a:lnSpc>
              <a:buNone/>
            </a:pPr>
            <a:r>
              <a:rPr lang="en-US" sz="2000" b="0" u="none" strike="noStrike">
                <a:solidFill>
                  <a:srgbClr val="000000"/>
                </a:solidFill>
                <a:effectLst/>
                <a:uFillTx/>
                <a:latin typeface="Arial"/>
              </a:rPr>
              <a:t>• 5-Stage Methodological Workflow:</a:t>
            </a:r>
          </a:p>
          <a:p>
            <a:pPr indent="0" algn="l">
              <a:lnSpc>
                <a:spcPct val="100000"/>
              </a:lnSpc>
              <a:buNone/>
            </a:pPr>
            <a:r>
              <a:rPr lang="en-US" sz="2000" b="0" u="none" strike="noStrike">
                <a:solidFill>
                  <a:srgbClr val="000000"/>
                </a:solidFill>
                <a:effectLst/>
                <a:uFillTx/>
                <a:latin typeface="Arial"/>
              </a:rPr>
              <a:t>  1. Ingestion &amp; Preprocessing: Load raw voltage, current, and temperature time-series; apply outlier filtering and z-score standard scaling.</a:t>
            </a:r>
          </a:p>
          <a:p>
            <a:pPr indent="0" algn="l">
              <a:lnSpc>
                <a:spcPct val="100000"/>
              </a:lnSpc>
              <a:buNone/>
            </a:pPr>
            <a:r>
              <a:rPr lang="en-US" sz="2000" b="0" u="none" strike="noStrike">
                <a:solidFill>
                  <a:srgbClr val="000000"/>
                </a:solidFill>
                <a:effectLst/>
                <a:uFillTx/>
                <a:latin typeface="Arial"/>
              </a:rPr>
              <a:t>  2. Feature Engineering: Compute 30-second moving averages and differentials to capture electrochemical relaxation dynamics.</a:t>
            </a:r>
          </a:p>
          <a:p>
            <a:pPr indent="0" algn="l">
              <a:lnSpc>
                <a:spcPct val="100000"/>
              </a:lnSpc>
              <a:buNone/>
            </a:pPr>
            <a:r>
              <a:rPr lang="en-US" sz="2000" b="0" u="none" strike="noStrike">
                <a:solidFill>
                  <a:srgbClr val="000000"/>
                </a:solidFill>
                <a:effectLst/>
                <a:uFillTx/>
                <a:latin typeface="Arial"/>
              </a:rPr>
              <a:t>  3. Supervised Model Training: Train compact neural network using Adam optimizer, MSE loss, and early stopping on 80% training cycles.</a:t>
            </a:r>
          </a:p>
          <a:p>
            <a:pPr indent="0" algn="l">
              <a:lnSpc>
                <a:spcPct val="100000"/>
              </a:lnSpc>
              <a:buNone/>
            </a:pPr>
            <a:r>
              <a:rPr lang="en-US" sz="2000" b="0" u="none" strike="noStrike">
                <a:solidFill>
                  <a:srgbClr val="000000"/>
                </a:solidFill>
                <a:effectLst/>
                <a:uFillTx/>
                <a:latin typeface="Arial"/>
              </a:rPr>
              <a:t>  4. C Code Generation: Quantize weights and export parameter tensors into static ANSI C99 headers (model_weights.h).</a:t>
            </a:r>
          </a:p>
          <a:p>
            <a:pPr indent="0" algn="l">
              <a:lnSpc>
                <a:spcPct val="100000"/>
              </a:lnSpc>
              <a:buNone/>
            </a:pPr>
            <a:r>
              <a:rPr lang="en-US" sz="2000" b="0" u="none" strike="noStrike">
                <a:solidFill>
                  <a:srgbClr val="000000"/>
                </a:solidFill>
                <a:effectLst/>
                <a:uFillTx/>
                <a:latin typeface="Arial"/>
              </a:rPr>
              <a:t>  5. Embedded Deployment &amp; Telemetry: Integrate C kernel into BMS main loop and stream telemetry to browser digital twin."</a:t>
            </a:r>
          </a:p>
        </p:txBody>
      </p:sp>
      <p:sp>
        <p:nvSpPr>
          <p:cNvPr id="392" name="PlaceHolder 3"/>
          <p:cNvSpPr>
            <a:spLocks noGrp="1"/>
          </p:cNvSpPr>
          <p:nvPr>
            <p:ph type="sldNum" idx="45"/>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noRot="1" noChangeAspect="1"/>
          </p:cNvSpPr>
          <p:nvPr>
            <p:ph type="sldImg"/>
          </p:nvPr>
        </p:nvSpPr>
        <p:spPr>
          <a:xfrm>
            <a:off x="0" y="0"/>
            <a:ext cx="0" cy="0"/>
          </a:xfrm>
          <a:prstGeom prst="rect">
            <a:avLst/>
          </a:prstGeom>
          <a:ln w="0">
            <a:noFill/>
          </a:ln>
        </p:spPr>
      </p:sp>
      <p:sp>
        <p:nvSpPr>
          <p:cNvPr id="3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[7:45 - 8:45] | SLIDE 10: SYSTEM ARCHITECTURE</a:t>
            </a:r>
          </a:p>
          <a:p>
            <a:pPr indent="0" algn="l">
              <a:lnSpc>
                <a:spcPct val="100000"/>
              </a:lnSpc>
              <a:buNone/>
            </a:pPr>
            <a:r>
              <a:rPr lang="en-US" sz="2000" b="0" u="none" strike="noStrike">
                <a:solidFill>
                  <a:srgbClr val="000000"/>
                </a:solidFill>
                <a:effectLst/>
                <a:uFillTx/>
                <a:latin typeface="Arial"/>
              </a:rPr>
              <a:t>• 3-Tier Digital Twin Architecture:</a:t>
            </a:r>
          </a:p>
          <a:p>
            <a:pPr indent="0" algn="l">
              <a:lnSpc>
                <a:spcPct val="100000"/>
              </a:lnSpc>
              <a:buNone/>
            </a:pPr>
            <a:r>
              <a:rPr lang="en-US" sz="2000" b="0" u="none" strike="noStrike">
                <a:solidFill>
                  <a:srgbClr val="000000"/>
                </a:solidFill>
                <a:effectLst/>
                <a:uFillTx/>
                <a:latin typeface="Arial"/>
              </a:rPr>
              <a:t>  - Tier 1: Physical Battery Plant &amp; Sensing: LG HG2 18650 cell under dynamic load, sampled via ADC voltage dividers, current shunt resistors, and NTC thermistors at 10 Hz.</a:t>
            </a:r>
          </a:p>
          <a:p>
            <a:pPr indent="0" algn="l">
              <a:lnSpc>
                <a:spcPct val="100000"/>
              </a:lnSpc>
              <a:buNone/>
            </a:pPr>
            <a:r>
              <a:rPr lang="en-US" sz="2000" b="0" u="none" strike="noStrike">
                <a:solidFill>
                  <a:srgbClr val="000000"/>
                </a:solidFill>
                <a:effectLst/>
                <a:uFillTx/>
                <a:latin typeface="Arial"/>
              </a:rPr>
              <a:t>  - Tier 2: Edge BMS Firmware (Embedded Microcontroller):</a:t>
            </a:r>
          </a:p>
          <a:p>
            <a:pPr indent="0" algn="l">
              <a:lnSpc>
                <a:spcPct val="100000"/>
              </a:lnSpc>
              <a:buNone/>
            </a:pPr>
            <a:r>
              <a:rPr lang="en-US" sz="2000" b="0" u="none" strike="noStrike">
                <a:solidFill>
                  <a:srgbClr val="000000"/>
                </a:solidFill>
                <a:effectLst/>
                <a:uFillTx/>
                <a:latin typeface="Arial"/>
              </a:rPr>
              <a:t>    * Ring buffer for temporal windowing.</a:t>
            </a:r>
          </a:p>
          <a:p>
            <a:pPr indent="0" algn="l">
              <a:lnSpc>
                <a:spcPct val="100000"/>
              </a:lnSpc>
              <a:buNone/>
            </a:pPr>
            <a:r>
              <a:rPr lang="en-US" sz="2000" b="0" u="none" strike="noStrike">
                <a:solidFill>
                  <a:srgbClr val="000000"/>
                </a:solidFill>
                <a:effectLst/>
                <a:uFillTx/>
                <a:latin typeface="Arial"/>
              </a:rPr>
              <a:t>    * Feature extraction module.</a:t>
            </a:r>
          </a:p>
          <a:p>
            <a:pPr indent="0" algn="l">
              <a:lnSpc>
                <a:spcPct val="100000"/>
              </a:lnSpc>
              <a:buNone/>
            </a:pPr>
            <a:r>
              <a:rPr lang="en-US" sz="2000" b="0" u="none" strike="noStrike">
                <a:solidFill>
                  <a:srgbClr val="000000"/>
                </a:solidFill>
                <a:effectLst/>
                <a:uFillTx/>
                <a:latin typeface="Arial"/>
              </a:rPr>
              <a:t>    * Forward inference engine (soc_inference.c) executing pure C mathematical computations with zero dynamic memory allocation.</a:t>
            </a:r>
          </a:p>
          <a:p>
            <a:pPr indent="0" algn="l">
              <a:lnSpc>
                <a:spcPct val="100000"/>
              </a:lnSpc>
              <a:buNone/>
            </a:pPr>
            <a:r>
              <a:rPr lang="en-US" sz="2000" b="0" u="none" strike="noStrike">
                <a:solidFill>
                  <a:srgbClr val="000000"/>
                </a:solidFill>
                <a:effectLst/>
                <a:uFillTx/>
                <a:latin typeface="Arial"/>
              </a:rPr>
              <a:t>  - Tier 3: Cloud / Host Digital Twin Dashboard:</a:t>
            </a:r>
          </a:p>
          <a:p>
            <a:pPr indent="0" algn="l">
              <a:lnSpc>
                <a:spcPct val="100000"/>
              </a:lnSpc>
              <a:buNone/>
            </a:pPr>
            <a:r>
              <a:rPr lang="en-US" sz="2000" b="0" u="none" strike="noStrike">
                <a:solidFill>
                  <a:srgbClr val="000000"/>
                </a:solidFill>
                <a:effectLst/>
                <a:uFillTx/>
                <a:latin typeface="Arial"/>
              </a:rPr>
              <a:t>    * FastAPI backend with WebSockets streaming telemetry at 100 ms intervals.</a:t>
            </a:r>
          </a:p>
          <a:p>
            <a:pPr indent="0" algn="l">
              <a:lnSpc>
                <a:spcPct val="100000"/>
              </a:lnSpc>
              <a:buNone/>
            </a:pPr>
            <a:r>
              <a:rPr lang="en-US" sz="2000" b="0" u="none" strike="noStrike">
                <a:solidFill>
                  <a:srgbClr val="000000"/>
                </a:solidFill>
                <a:effectLst/>
                <a:uFillTx/>
                <a:latin typeface="Arial"/>
              </a:rPr>
              <a:t>    * Glassmorphic UI featuring live gauge clusters, degradation heatmaps, and over-current/thermal alert triggers."</a:t>
            </a:r>
          </a:p>
        </p:txBody>
      </p:sp>
      <p:sp>
        <p:nvSpPr>
          <p:cNvPr id="395" name="PlaceHolder 3"/>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p:cNvSpPr>
            <a:spLocks noGrp="1" noRot="1" noChangeAspect="1"/>
          </p:cNvSpPr>
          <p:nvPr>
            <p:ph type="sldImg"/>
          </p:nvPr>
        </p:nvSpPr>
        <p:spPr>
          <a:xfrm>
            <a:off x="0" y="0"/>
            <a:ext cx="0" cy="0"/>
          </a:xfrm>
          <a:prstGeom prst="rect">
            <a:avLst/>
          </a:prstGeom>
          <a:ln w="0">
            <a:noFill/>
          </a:ln>
        </p:spPr>
      </p:sp>
      <p:sp>
        <p:nvSpPr>
          <p:cNvPr id="3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[8:45 - 9:45] | SLIDE 11: DATASET &amp; DATA PREPARATION</a:t>
            </a:r>
          </a:p>
          <a:p>
            <a:pPr indent="0" algn="l">
              <a:lnSpc>
                <a:spcPct val="100000"/>
              </a:lnSpc>
              <a:buNone/>
            </a:pPr>
            <a:r>
              <a:rPr lang="en-US" sz="2000" b="0" u="none" strike="noStrike">
                <a:solidFill>
                  <a:srgbClr val="000000"/>
                </a:solidFill>
                <a:effectLst/>
                <a:uFillTx/>
                <a:latin typeface="Arial"/>
              </a:rPr>
              <a:t>• Data Source &amp; Rigor:</a:t>
            </a:r>
          </a:p>
          <a:p>
            <a:pPr indent="0" algn="l">
              <a:lnSpc>
                <a:spcPct val="100000"/>
              </a:lnSpc>
              <a:buNone/>
            </a:pPr>
            <a:r>
              <a:rPr lang="en-US" sz="2000" b="0" u="none" strike="noStrike">
                <a:solidFill>
                  <a:srgbClr val="000000"/>
                </a:solidFill>
                <a:effectLst/>
                <a:uFillTx/>
                <a:latin typeface="Arial"/>
              </a:rPr>
              <a:t>  - Dataset: Standard laboratory test bench data on LG HG2 18650 Lithium-ion cells (Nominal Capacity: 3000 mAh, Nominal Voltage: 3.6V, NMC cathode).</a:t>
            </a:r>
          </a:p>
          <a:p>
            <a:pPr indent="0" algn="l">
              <a:lnSpc>
                <a:spcPct val="100000"/>
              </a:lnSpc>
              <a:buNone/>
            </a:pPr>
            <a:r>
              <a:rPr lang="en-US" sz="2000" b="0" u="none" strike="noStrike">
                <a:solidFill>
                  <a:srgbClr val="000000"/>
                </a:solidFill>
                <a:effectLst/>
                <a:uFillTx/>
                <a:latin typeface="Arial"/>
              </a:rPr>
              <a:t>  - Test Profiles: Dynamometer driving cycles including UDDS (Urban), US06 (Aggressive highway), HWFET (Highway fuel economy), and LA92 (Complex urban).</a:t>
            </a:r>
          </a:p>
          <a:p>
            <a:pPr indent="0" algn="l">
              <a:lnSpc>
                <a:spcPct val="100000"/>
              </a:lnSpc>
              <a:buNone/>
            </a:pPr>
            <a:r>
              <a:rPr lang="en-US" sz="2000" b="0" u="none" strike="noStrike">
                <a:solidFill>
                  <a:srgbClr val="000000"/>
                </a:solidFill>
                <a:effectLst/>
                <a:uFillTx/>
                <a:latin typeface="Arial"/>
              </a:rPr>
              <a:t>  - Thermal Variations: Cycled across 0°C, 25°C, and 45°C ambient chambers.</a:t>
            </a:r>
          </a:p>
          <a:p>
            <a:pPr indent="0" algn="l">
              <a:lnSpc>
                <a:spcPct val="100000"/>
              </a:lnSpc>
              <a:buNone/>
            </a:pPr>
            <a:r>
              <a:rPr lang="en-US" sz="2000" b="0" u="none" strike="noStrike">
                <a:solidFill>
                  <a:srgbClr val="000000"/>
                </a:solidFill>
                <a:effectLst/>
                <a:uFillTx/>
                <a:latin typeface="Arial"/>
              </a:rPr>
              <a:t>  - Partitioning Strategy: 80% cycles reserved for training and cross-validation; 20% strictly held out as unseen test cycles to evaluate pure generalization with zero temporal data leakage."</a:t>
            </a:r>
          </a:p>
        </p:txBody>
      </p:sp>
      <p:sp>
        <p:nvSpPr>
          <p:cNvPr id="398"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noRot="1" noChangeAspect="1"/>
          </p:cNvSpPr>
          <p:nvPr>
            <p:ph type="sldImg"/>
          </p:nvPr>
        </p:nvSpPr>
        <p:spPr>
          <a:xfrm>
            <a:off x="0" y="0"/>
            <a:ext cx="0" cy="0"/>
          </a:xfrm>
          <a:prstGeom prst="rect">
            <a:avLst/>
          </a:prstGeom>
          <a:ln w="0">
            <a:noFill/>
          </a:ln>
        </p:spPr>
      </p:sp>
      <p:sp>
        <p:nvSpPr>
          <p:cNvPr id="4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[9:45 - 10:45] | SLIDE 12: FEATURE ENGINEERING &amp; DYNAMICS</a:t>
            </a:r>
          </a:p>
          <a:p>
            <a:pPr indent="0" algn="l">
              <a:lnSpc>
                <a:spcPct val="100000"/>
              </a:lnSpc>
              <a:buNone/>
            </a:pPr>
            <a:r>
              <a:rPr lang="en-US" sz="2000" b="0" u="none" strike="noStrike">
                <a:solidFill>
                  <a:srgbClr val="000000"/>
                </a:solidFill>
                <a:effectLst/>
                <a:uFillTx/>
                <a:latin typeface="Arial"/>
              </a:rPr>
              <a:t>• Why Instantaneous Features Fail:</a:t>
            </a:r>
          </a:p>
          <a:p>
            <a:pPr indent="0" algn="l">
              <a:lnSpc>
                <a:spcPct val="100000"/>
              </a:lnSpc>
              <a:buNone/>
            </a:pPr>
            <a:r>
              <a:rPr lang="en-US" sz="2000" b="0" u="none" strike="noStrike">
                <a:solidFill>
                  <a:srgbClr val="000000"/>
                </a:solidFill>
                <a:effectLst/>
                <a:uFillTx/>
                <a:latin typeface="Arial"/>
              </a:rPr>
              <a:t>  - If a model uses only instantaneous [V, I, T], it cannot distinguish between a battery at 80% SOC under high discharge vs 40% SOC at rest, because both can show 3.65V due to IR drop.</a:t>
            </a:r>
          </a:p>
          <a:p>
            <a:pPr indent="0" algn="l">
              <a:lnSpc>
                <a:spcPct val="100000"/>
              </a:lnSpc>
              <a:buNone/>
            </a:pPr>
            <a:r>
              <a:rPr lang="en-US" sz="2000" b="0" u="none" strike="noStrike">
                <a:solidFill>
                  <a:srgbClr val="000000"/>
                </a:solidFill>
                <a:effectLst/>
                <a:uFillTx/>
                <a:latin typeface="Arial"/>
              </a:rPr>
              <a:t>• Physics-Informed Feature Set:</a:t>
            </a:r>
          </a:p>
          <a:p>
            <a:pPr indent="0" algn="l">
              <a:lnSpc>
                <a:spcPct val="100000"/>
              </a:lnSpc>
              <a:buNone/>
            </a:pPr>
            <a:r>
              <a:rPr lang="en-US" sz="2000" b="0" u="none" strike="noStrike">
                <a:solidFill>
                  <a:srgbClr val="000000"/>
                </a:solidFill>
                <a:effectLst/>
                <a:uFillTx/>
                <a:latin typeface="Arial"/>
              </a:rPr>
              <a:t>  1. Rolling Voltage Average (V_avg, 30s): Smooths high-frequency noise and reflects quasi-equilibrium potential.</a:t>
            </a:r>
          </a:p>
          <a:p>
            <a:pPr indent="0" algn="l">
              <a:lnSpc>
                <a:spcPct val="100000"/>
              </a:lnSpc>
              <a:buNone/>
            </a:pPr>
            <a:r>
              <a:rPr lang="en-US" sz="2000" b="0" u="none" strike="noStrike">
                <a:solidFill>
                  <a:srgbClr val="000000"/>
                </a:solidFill>
                <a:effectLst/>
                <a:uFillTx/>
                <a:latin typeface="Arial"/>
              </a:rPr>
              <a:t>  2. Voltage Differential (Delta V_30s): Captures polarization growth rate across the diffusion layer.</a:t>
            </a:r>
          </a:p>
          <a:p>
            <a:pPr indent="0" algn="l">
              <a:lnSpc>
                <a:spcPct val="100000"/>
              </a:lnSpc>
              <a:buNone/>
            </a:pPr>
            <a:r>
              <a:rPr lang="en-US" sz="2000" b="0" u="none" strike="noStrike">
                <a:solidFill>
                  <a:srgbClr val="000000"/>
                </a:solidFill>
                <a:effectLst/>
                <a:uFillTx/>
                <a:latin typeface="Arial"/>
              </a:rPr>
              <a:t>  3. Rolling Current Average (I_avg, 30s): Encodes recent thermal and electrochemical discharge history.</a:t>
            </a:r>
          </a:p>
          <a:p>
            <a:pPr indent="0" algn="l">
              <a:lnSpc>
                <a:spcPct val="100000"/>
              </a:lnSpc>
              <a:buNone/>
            </a:pPr>
            <a:r>
              <a:rPr lang="en-US" sz="2000" b="0" u="none" strike="noStrike">
                <a:solidFill>
                  <a:srgbClr val="000000"/>
                </a:solidFill>
                <a:effectLst/>
                <a:uFillTx/>
                <a:latin typeface="Arial"/>
              </a:rPr>
              <a:t>  4. Temperature Rate of Change (dT/dt): Captures internal Joule heating and entropic heat generation."</a:t>
            </a:r>
          </a:p>
        </p:txBody>
      </p:sp>
      <p:sp>
        <p:nvSpPr>
          <p:cNvPr id="401"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PlaceHolder 1"/>
          <p:cNvSpPr>
            <a:spLocks noGrp="1" noRot="1" noChangeAspect="1"/>
          </p:cNvSpPr>
          <p:nvPr>
            <p:ph type="sldImg"/>
          </p:nvPr>
        </p:nvSpPr>
        <p:spPr>
          <a:xfrm>
            <a:off x="0" y="0"/>
            <a:ext cx="0" cy="0"/>
          </a:xfrm>
          <a:prstGeom prst="rect">
            <a:avLst/>
          </a:prstGeom>
          <a:ln w="0">
            <a:noFill/>
          </a:ln>
        </p:spPr>
      </p:sp>
      <p:sp>
        <p:nvSpPr>
          <p:cNvPr id="4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[10:45 - 11:45] | SLIDE 13: MODEL ARCHITECTURE &amp; ABLATION STUDY</a:t>
            </a:r>
          </a:p>
          <a:p>
            <a:pPr indent="0" algn="l">
              <a:lnSpc>
                <a:spcPct val="100000"/>
              </a:lnSpc>
              <a:buNone/>
            </a:pPr>
            <a:r>
              <a:rPr lang="en-US" sz="2000" b="0" u="none" strike="noStrike">
                <a:solidFill>
                  <a:srgbClr val="000000"/>
                </a:solidFill>
                <a:effectLst/>
                <a:uFillTx/>
                <a:latin typeface="Arial"/>
              </a:rPr>
              <a:t>• Finding the Pareto-Optimal Edge Architecture:</a:t>
            </a:r>
          </a:p>
          <a:p>
            <a:pPr indent="0" algn="l">
              <a:lnSpc>
                <a:spcPct val="100000"/>
              </a:lnSpc>
              <a:buNone/>
            </a:pPr>
            <a:r>
              <a:rPr lang="en-US" sz="2000" b="0" u="none" strike="noStrike">
                <a:solidFill>
                  <a:srgbClr val="000000"/>
                </a:solidFill>
                <a:effectLst/>
                <a:uFillTx/>
                <a:latin typeface="Arial"/>
              </a:rPr>
              <a:t>  - We systematically tested 4 neural topologies:</a:t>
            </a:r>
          </a:p>
          <a:p>
            <a:pPr indent="0" algn="l">
              <a:lnSpc>
                <a:spcPct val="100000"/>
              </a:lnSpc>
              <a:buNone/>
            </a:pPr>
            <a:r>
              <a:rPr lang="en-US" sz="2000" b="0" u="none" strike="noStrike">
                <a:solidFill>
                  <a:srgbClr val="000000"/>
                </a:solidFill>
                <a:effectLst/>
                <a:uFillTx/>
                <a:latin typeface="Arial"/>
              </a:rPr>
              <a:t>    * MLP 3-8-1: 41 parameters | 1.82% MAE (Slight underfitting).</a:t>
            </a:r>
          </a:p>
          <a:p>
            <a:pPr indent="0" algn="l">
              <a:lnSpc>
                <a:spcPct val="100000"/>
              </a:lnSpc>
              <a:buNone/>
            </a:pPr>
            <a:r>
              <a:rPr lang="en-US" sz="2000" b="0" u="none" strike="noStrike">
                <a:solidFill>
                  <a:srgbClr val="000000"/>
                </a:solidFill>
                <a:effectLst/>
                <a:uFillTx/>
                <a:latin typeface="Arial"/>
              </a:rPr>
              <a:t>    * MLP 3-16-1: 81 parameters | 1.25% MAE | 6.03 microseconds (Optimal!).</a:t>
            </a:r>
          </a:p>
          <a:p>
            <a:pPr indent="0" algn="l">
              <a:lnSpc>
                <a:spcPct val="100000"/>
              </a:lnSpc>
              <a:buNone/>
            </a:pPr>
            <a:r>
              <a:rPr lang="en-US" sz="2000" b="0" u="none" strike="noStrike">
                <a:solidFill>
                  <a:srgbClr val="000000"/>
                </a:solidFill>
                <a:effectLst/>
                <a:uFillTx/>
                <a:latin typeface="Arial"/>
              </a:rPr>
              <a:t>    * MLP 3-32-1: 161 parameters | 1.21% MAE (2x parameters for only 0.04% gain).</a:t>
            </a:r>
          </a:p>
          <a:p>
            <a:pPr indent="0" algn="l">
              <a:lnSpc>
                <a:spcPct val="100000"/>
              </a:lnSpc>
              <a:buNone/>
            </a:pPr>
            <a:r>
              <a:rPr lang="en-US" sz="2000" b="0" u="none" strike="noStrike">
                <a:solidFill>
                  <a:srgbClr val="000000"/>
                </a:solidFill>
                <a:effectLst/>
                <a:uFillTx/>
                <a:latin typeface="Arial"/>
              </a:rPr>
              <a:t>    * MLP 3-16-16-1: 353 parameters | 1.18% MAE (Excessive latency and RAM footprint).</a:t>
            </a:r>
          </a:p>
          <a:p>
            <a:pPr indent="0" algn="l">
              <a:lnSpc>
                <a:spcPct val="100000"/>
              </a:lnSpc>
              <a:buNone/>
            </a:pPr>
            <a:r>
              <a:rPr lang="en-US" sz="2000" b="0" u="none" strike="noStrike">
                <a:solidFill>
                  <a:srgbClr val="000000"/>
                </a:solidFill>
                <a:effectLst/>
                <a:uFillTx/>
                <a:latin typeface="Arial"/>
              </a:rPr>
              <a:t>  - Activation Function Analysis: Evaluated ReLU vs Tanh vs GELU. ReLU delivered identical convergence with branchless, multiply-accumulate efficiency on microcontroller ALUs."</a:t>
            </a:r>
          </a:p>
        </p:txBody>
      </p:sp>
      <p:sp>
        <p:nvSpPr>
          <p:cNvPr id="404" name="PlaceHolder 3"/>
          <p:cNvSpPr>
            <a:spLocks noGrp="1"/>
          </p:cNvSpPr>
          <p:nvPr>
            <p:ph type="sldNum" idx="49"/>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noRot="1" noChangeAspect="1"/>
          </p:cNvSpPr>
          <p:nvPr>
            <p:ph type="sldImg"/>
          </p:nvPr>
        </p:nvSpPr>
        <p:spPr>
          <a:xfrm>
            <a:off x="0" y="0"/>
            <a:ext cx="0" cy="0"/>
          </a:xfrm>
          <a:prstGeom prst="rect">
            <a:avLst/>
          </a:prstGeom>
          <a:ln w="0">
            <a:noFill/>
          </a:ln>
        </p:spPr>
      </p:sp>
      <p:sp>
        <p:nvSpPr>
          <p:cNvPr id="4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[11:45 - 13:15] | SLIDE 14: MULTI-ALGORITHM BENCHMARK (KEY SLIDE)</a:t>
            </a:r>
          </a:p>
          <a:p>
            <a:pPr indent="0" algn="l">
              <a:lnSpc>
                <a:spcPct val="100000"/>
              </a:lnSpc>
              <a:buNone/>
            </a:pPr>
            <a:r>
              <a:rPr lang="en-US" sz="2000" b="0" u="none" strike="noStrike">
                <a:solidFill>
                  <a:srgbClr val="000000"/>
                </a:solidFill>
                <a:effectLst/>
                <a:uFillTx/>
                <a:latin typeface="Arial"/>
              </a:rPr>
              <a:t>• Comprehensive Benchmark Table Analysis:</a:t>
            </a:r>
          </a:p>
          <a:p>
            <a:pPr indent="0" algn="l">
              <a:lnSpc>
                <a:spcPct val="100000"/>
              </a:lnSpc>
              <a:buNone/>
            </a:pPr>
            <a:r>
              <a:rPr lang="en-US" sz="2000" b="0" u="none" strike="noStrike">
                <a:solidFill>
                  <a:srgbClr val="000000"/>
                </a:solidFill>
                <a:effectLst/>
                <a:uFillTx/>
                <a:latin typeface="Arial"/>
              </a:rPr>
              <a:t>  - Point the committee to the 6 algorithms compared under identical held-out test conditions:</a:t>
            </a:r>
          </a:p>
          <a:p>
            <a:pPr indent="0" algn="l">
              <a:lnSpc>
                <a:spcPct val="100000"/>
              </a:lnSpc>
              <a:buNone/>
            </a:pPr>
            <a:r>
              <a:rPr lang="en-US" sz="2000" b="0" u="none" strike="noStrike">
                <a:solidFill>
                  <a:srgbClr val="000000"/>
                </a:solidFill>
                <a:effectLst/>
                <a:uFillTx/>
                <a:latin typeface="Arial"/>
              </a:rPr>
              <a:t>  1. Proposed MLP 3-16-1:</a:t>
            </a:r>
          </a:p>
          <a:p>
            <a:pPr indent="0" algn="l">
              <a:lnSpc>
                <a:spcPct val="100000"/>
              </a:lnSpc>
              <a:buNone/>
            </a:pPr>
            <a:r>
              <a:rPr lang="en-US" sz="2000" b="0" u="none" strike="noStrike">
                <a:solidFill>
                  <a:srgbClr val="000000"/>
                </a:solidFill>
                <a:effectLst/>
                <a:uFillTx/>
                <a:latin typeface="Arial"/>
              </a:rPr>
              <a:t>     - 1.25% Avg MAE | 1.62% RMSE | 6.03 microseconds | 348 Bytes RAM/ROM. Status: RECOMMENDED.</a:t>
            </a:r>
          </a:p>
          <a:p>
            <a:pPr indent="0" algn="l">
              <a:lnSpc>
                <a:spcPct val="100000"/>
              </a:lnSpc>
              <a:buNone/>
            </a:pPr>
            <a:r>
              <a:rPr lang="en-US" sz="2000" b="0" u="none" strike="noStrike">
                <a:solidFill>
                  <a:srgbClr val="000000"/>
                </a:solidFill>
                <a:effectLst/>
                <a:uFillTx/>
                <a:latin typeface="Arial"/>
              </a:rPr>
              <a:t>  2. Random Forest (100 Trees):</a:t>
            </a:r>
          </a:p>
          <a:p>
            <a:pPr indent="0" algn="l">
              <a:lnSpc>
                <a:spcPct val="100000"/>
              </a:lnSpc>
              <a:buNone/>
            </a:pPr>
            <a:r>
              <a:rPr lang="en-US" sz="2000" b="0" u="none" strike="noStrike">
                <a:solidFill>
                  <a:srgbClr val="000000"/>
                </a:solidFill>
                <a:effectLst/>
                <a:uFillTx/>
                <a:latin typeface="Arial"/>
              </a:rPr>
              <a:t>     - 2.04% Avg MAE | 2.51% RMSE | 24.8 microseconds | &gt;120 KB Flash ROM.</a:t>
            </a:r>
          </a:p>
          <a:p>
            <a:pPr indent="0" algn="l">
              <a:lnSpc>
                <a:spcPct val="100000"/>
              </a:lnSpc>
              <a:buNone/>
            </a:pPr>
            <a:r>
              <a:rPr lang="en-US" sz="2000" b="0" u="none" strike="noStrike">
                <a:solidFill>
                  <a:srgbClr val="000000"/>
                </a:solidFill>
                <a:effectLst/>
                <a:uFillTx/>
                <a:latin typeface="Arial"/>
              </a:rPr>
              <a:t>     - Good accuracy, but decision trees require enormous ROM lookup tables unfeasible for low-cost microcontrollers.</a:t>
            </a:r>
          </a:p>
          <a:p>
            <a:pPr indent="0" algn="l">
              <a:lnSpc>
                <a:spcPct val="100000"/>
              </a:lnSpc>
              <a:buNone/>
            </a:pPr>
            <a:r>
              <a:rPr lang="en-US" sz="2000" b="0" u="none" strike="noStrike">
                <a:solidFill>
                  <a:srgbClr val="000000"/>
                </a:solidFill>
                <a:effectLst/>
                <a:uFillTx/>
                <a:latin typeface="Arial"/>
              </a:rPr>
              <a:t>  3. Linear Regression:</a:t>
            </a:r>
          </a:p>
          <a:p>
            <a:pPr indent="0" algn="l">
              <a:lnSpc>
                <a:spcPct val="100000"/>
              </a:lnSpc>
              <a:buNone/>
            </a:pPr>
            <a:r>
              <a:rPr lang="en-US" sz="2000" b="0" u="none" strike="noStrike">
                <a:solidFill>
                  <a:srgbClr val="000000"/>
                </a:solidFill>
                <a:effectLst/>
                <a:uFillTx/>
                <a:latin typeface="Arial"/>
              </a:rPr>
              <a:t>     - 3.02% Avg MAE | 3.84% RMSE | 2.40 microseconds | 32 Bytes.</a:t>
            </a:r>
          </a:p>
          <a:p>
            <a:pPr indent="0" algn="l">
              <a:lnSpc>
                <a:spcPct val="100000"/>
              </a:lnSpc>
              <a:buNone/>
            </a:pPr>
            <a:r>
              <a:rPr lang="en-US" sz="2000" b="0" u="none" strike="noStrike">
                <a:solidFill>
                  <a:srgbClr val="000000"/>
                </a:solidFill>
                <a:effectLst/>
                <a:uFillTx/>
                <a:latin typeface="Arial"/>
              </a:rPr>
              <a:t>     - Ultra-fast, but fundamentally underfits the non-linear S-curve of battery OCV.</a:t>
            </a:r>
          </a:p>
          <a:p>
            <a:pPr indent="0" algn="l">
              <a:lnSpc>
                <a:spcPct val="100000"/>
              </a:lnSpc>
              <a:buNone/>
            </a:pPr>
            <a:r>
              <a:rPr lang="en-US" sz="2000" b="0" u="none" strike="noStrike">
                <a:solidFill>
                  <a:srgbClr val="000000"/>
                </a:solidFill>
                <a:effectLst/>
                <a:uFillTx/>
                <a:latin typeface="Arial"/>
              </a:rPr>
              <a:t>  4. Coulomb Counting (Ideal SOC0):</a:t>
            </a:r>
          </a:p>
          <a:p>
            <a:pPr indent="0" algn="l">
              <a:lnSpc>
                <a:spcPct val="100000"/>
              </a:lnSpc>
              <a:buNone/>
            </a:pPr>
            <a:r>
              <a:rPr lang="en-US" sz="2000" b="0" u="none" strike="noStrike">
                <a:solidFill>
                  <a:srgbClr val="000000"/>
                </a:solidFill>
                <a:effectLst/>
                <a:uFillTx/>
                <a:latin typeface="Arial"/>
              </a:rPr>
              <a:t>     - 2.24% Avg MAE under zero sensor noise, but degrades to 11.23% MAE under initial offset or sensor drift.</a:t>
            </a:r>
          </a:p>
          <a:p>
            <a:pPr indent="0" algn="l">
              <a:lnSpc>
                <a:spcPct val="100000"/>
              </a:lnSpc>
              <a:buNone/>
            </a:pPr>
            <a:r>
              <a:rPr lang="en-US" sz="2000" b="0" u="none" strike="noStrike">
                <a:solidFill>
                  <a:srgbClr val="000000"/>
                </a:solidFill>
                <a:effectLst/>
                <a:uFillTx/>
                <a:latin typeface="Arial"/>
              </a:rPr>
              <a:t>  5. Extended Kalman Filter (EKF):</a:t>
            </a:r>
          </a:p>
          <a:p>
            <a:pPr indent="0" algn="l">
              <a:lnSpc>
                <a:spcPct val="100000"/>
              </a:lnSpc>
              <a:buNone/>
            </a:pPr>
            <a:r>
              <a:rPr lang="en-US" sz="2000" b="0" u="none" strike="noStrike">
                <a:solidFill>
                  <a:srgbClr val="000000"/>
                </a:solidFill>
                <a:effectLst/>
                <a:uFillTx/>
                <a:latin typeface="Arial"/>
              </a:rPr>
              <a:t>     - 3.80% Avg MAE | 45.0 microseconds | Requires matrix inversion and exact parameter tuning.</a:t>
            </a:r>
          </a:p>
          <a:p>
            <a:pPr indent="0" algn="l">
              <a:lnSpc>
                <a:spcPct val="100000"/>
              </a:lnSpc>
              <a:buNone/>
            </a:pPr>
            <a:r>
              <a:rPr lang="en-US" sz="2000" b="0" u="none" strike="noStrike">
                <a:solidFill>
                  <a:srgbClr val="000000"/>
                </a:solidFill>
                <a:effectLst/>
                <a:uFillTx/>
                <a:latin typeface="Arial"/>
              </a:rPr>
              <a:t>  6. SPKF (Sigma-Point Kalman Filter):</a:t>
            </a:r>
          </a:p>
          <a:p>
            <a:pPr indent="0" algn="l">
              <a:lnSpc>
                <a:spcPct val="100000"/>
              </a:lnSpc>
              <a:buNone/>
            </a:pPr>
            <a:r>
              <a:rPr lang="en-US" sz="2000" b="0" u="none" strike="noStrike">
                <a:solidFill>
                  <a:srgbClr val="000000"/>
                </a:solidFill>
                <a:effectLst/>
                <a:uFillTx/>
                <a:latin typeface="Arial"/>
              </a:rPr>
              <a:t>     - 6.02% Avg MAE under persistent current bias due to observer covariance drift.</a:t>
            </a:r>
          </a:p>
          <a:p>
            <a:pPr indent="0" algn="l">
              <a:lnSpc>
                <a:spcPct val="100000"/>
              </a:lnSpc>
              <a:buNone/>
            </a:pPr>
            <a:r>
              <a:rPr lang="en-US" sz="2000" b="0" u="none" strike="noStrike">
                <a:solidFill>
                  <a:srgbClr val="000000"/>
                </a:solidFill>
                <a:effectLst/>
                <a:uFillTx/>
                <a:latin typeface="Arial"/>
              </a:rPr>
              <a:t>• Conclusion: Proposed MLP is the clear winner in the accuracy vs resource efficiency frontier."</a:t>
            </a:r>
          </a:p>
        </p:txBody>
      </p:sp>
      <p:sp>
        <p:nvSpPr>
          <p:cNvPr id="407" name="PlaceHolder 3"/>
          <p:cNvSpPr>
            <a:spLocks noGrp="1"/>
          </p:cNvSpPr>
          <p:nvPr>
            <p:ph type="sldNum" idx="50"/>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noRot="1" noChangeAspect="1"/>
          </p:cNvSpPr>
          <p:nvPr>
            <p:ph type="sldImg"/>
          </p:nvPr>
        </p:nvSpPr>
        <p:spPr>
          <a:xfrm>
            <a:off x="0" y="0"/>
            <a:ext cx="0" cy="0"/>
          </a:xfrm>
          <a:prstGeom prst="rect">
            <a:avLst/>
          </a:prstGeom>
          <a:ln w="0">
            <a:noFill/>
          </a:ln>
        </p:spPr>
      </p:sp>
      <p:sp>
        <p:nvSpPr>
          <p:cNvPr id="4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[13:15 - 14:15] | SLIDE 15: RESULTS ON HELD-OUT CYCLES</a:t>
            </a:r>
          </a:p>
          <a:p>
            <a:pPr indent="0" algn="l">
              <a:lnSpc>
                <a:spcPct val="100000"/>
              </a:lnSpc>
              <a:buNone/>
            </a:pPr>
            <a:r>
              <a:rPr lang="en-US" sz="2000" b="0" u="none" strike="noStrike">
                <a:solidFill>
                  <a:srgbClr val="000000"/>
                </a:solidFill>
                <a:effectLst/>
                <a:uFillTx/>
                <a:latin typeface="Arial"/>
              </a:rPr>
              <a:t>• Drive Cycle Generalization:</a:t>
            </a:r>
          </a:p>
          <a:p>
            <a:pPr indent="0" algn="l">
              <a:lnSpc>
                <a:spcPct val="100000"/>
              </a:lnSpc>
              <a:buNone/>
            </a:pPr>
            <a:r>
              <a:rPr lang="en-US" sz="2000" b="0" u="none" strike="noStrike">
                <a:solidFill>
                  <a:srgbClr val="000000"/>
                </a:solidFill>
                <a:effectLst/>
                <a:uFillTx/>
                <a:latin typeface="Arial"/>
              </a:rPr>
              <a:t>  - UDDS (Urban Dynamometer): MAE 1.12%, RMSE 1.48%, Max Error 3.20%.</a:t>
            </a:r>
          </a:p>
          <a:p>
            <a:pPr indent="0" algn="l">
              <a:lnSpc>
                <a:spcPct val="100000"/>
              </a:lnSpc>
              <a:buNone/>
            </a:pPr>
            <a:r>
              <a:rPr lang="en-US" sz="2000" b="0" u="none" strike="noStrike">
                <a:solidFill>
                  <a:srgbClr val="000000"/>
                </a:solidFill>
                <a:effectLst/>
                <a:uFillTx/>
                <a:latin typeface="Arial"/>
              </a:rPr>
              <a:t>  - US06 (High Acceleration Highway): MAE 1.34%, RMSE 1.76%, Max Error 3.85%.</a:t>
            </a:r>
          </a:p>
          <a:p>
            <a:pPr indent="0" algn="l">
              <a:lnSpc>
                <a:spcPct val="100000"/>
              </a:lnSpc>
              <a:buNone/>
            </a:pPr>
            <a:r>
              <a:rPr lang="en-US" sz="2000" b="0" u="none" strike="noStrike">
                <a:solidFill>
                  <a:srgbClr val="000000"/>
                </a:solidFill>
                <a:effectLst/>
                <a:uFillTx/>
                <a:latin typeface="Arial"/>
              </a:rPr>
              <a:t>  - HWFET (Highway Cruising): MAE 1.05%, RMSE 1.38%, Max Error 2.95%.</a:t>
            </a:r>
          </a:p>
          <a:p>
            <a:pPr indent="0" algn="l">
              <a:lnSpc>
                <a:spcPct val="100000"/>
              </a:lnSpc>
              <a:buNone/>
            </a:pPr>
            <a:r>
              <a:rPr lang="en-US" sz="2000" b="0" u="none" strike="noStrike">
                <a:solidFill>
                  <a:srgbClr val="000000"/>
                </a:solidFill>
                <a:effectLst/>
                <a:uFillTx/>
                <a:latin typeface="Arial"/>
              </a:rPr>
              <a:t>  - LA92 (Aggressive City Cycle): MAE 1.48%, RMSE 1.92%, Max Error 4.10%.</a:t>
            </a:r>
          </a:p>
          <a:p>
            <a:pPr indent="0" algn="l">
              <a:lnSpc>
                <a:spcPct val="100000"/>
              </a:lnSpc>
              <a:buNone/>
            </a:pPr>
            <a:r>
              <a:rPr lang="en-US" sz="2000" b="0" u="none" strike="noStrike">
                <a:solidFill>
                  <a:srgbClr val="000000"/>
                </a:solidFill>
                <a:effectLst/>
                <a:uFillTx/>
                <a:latin typeface="Arial"/>
              </a:rPr>
              <a:t>• Key Takeaway: Across all profiles, the error remains tightly bounded within +/-4% peak and &lt;1.5% average, proving robust generalization across gentle cruising and aggressive regenerative braking alike."</a:t>
            </a:r>
          </a:p>
        </p:txBody>
      </p:sp>
      <p:sp>
        <p:nvSpPr>
          <p:cNvPr id="410" name="PlaceHolder 3"/>
          <p:cNvSpPr>
            <a:spLocks noGrp="1"/>
          </p:cNvSpPr>
          <p:nvPr>
            <p:ph type="sldNum" idx="51"/>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PlaceHolder 1"/>
          <p:cNvSpPr>
            <a:spLocks noGrp="1" noRot="1" noChangeAspect="1"/>
          </p:cNvSpPr>
          <p:nvPr>
            <p:ph type="sldImg"/>
          </p:nvPr>
        </p:nvSpPr>
        <p:spPr>
          <a:xfrm>
            <a:off x="0" y="0"/>
            <a:ext cx="0" cy="0"/>
          </a:xfrm>
          <a:prstGeom prst="rect">
            <a:avLst/>
          </a:prstGeom>
          <a:ln w="0">
            <a:noFill/>
          </a:ln>
        </p:spPr>
      </p:sp>
      <p:sp>
        <p:nvSpPr>
          <p:cNvPr id="4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[14:15 - 15:15] | SLIDE 16: SENSOR DC BIAS &amp; LONG-HORIZON DRIFT</a:t>
            </a:r>
          </a:p>
          <a:p>
            <a:pPr indent="0" algn="l">
              <a:lnSpc>
                <a:spcPct val="100000"/>
              </a:lnSpc>
              <a:buNone/>
            </a:pPr>
            <a:r>
              <a:rPr lang="en-US" sz="2000" b="0" u="none" strike="noStrike">
                <a:solidFill>
                  <a:srgbClr val="000000"/>
                </a:solidFill>
                <a:effectLst/>
                <a:uFillTx/>
                <a:latin typeface="Arial"/>
              </a:rPr>
              <a:t>• The Open-Loop Failure Demonstration:</a:t>
            </a:r>
          </a:p>
          <a:p>
            <a:pPr indent="0" algn="l">
              <a:lnSpc>
                <a:spcPct val="100000"/>
              </a:lnSpc>
              <a:buNone/>
            </a:pPr>
            <a:r>
              <a:rPr lang="en-US" sz="2000" b="0" u="none" strike="noStrike">
                <a:solidFill>
                  <a:srgbClr val="000000"/>
                </a:solidFill>
                <a:effectLst/>
                <a:uFillTx/>
                <a:latin typeface="Arial"/>
              </a:rPr>
              <a:t>  - We subjected the algorithms to a realistic hardware failure: a +30 mA DC offset in current sensor calibration over a continuous 10-hour drive horizon.</a:t>
            </a:r>
          </a:p>
          <a:p>
            <a:pPr indent="0" algn="l">
              <a:lnSpc>
                <a:spcPct val="100000"/>
              </a:lnSpc>
              <a:buNone/>
            </a:pPr>
            <a:r>
              <a:rPr lang="en-US" sz="2000" b="0" u="none" strike="noStrike">
                <a:solidFill>
                  <a:srgbClr val="000000"/>
                </a:solidFill>
                <a:effectLst/>
                <a:uFillTx/>
                <a:latin typeface="Arial"/>
              </a:rPr>
              <a:t>  - Coulomb Counting integrates current continuously over time: Error accumulates linearly from 0% to over 13.4% at hour 10.</a:t>
            </a:r>
          </a:p>
          <a:p>
            <a:pPr indent="0" algn="l">
              <a:lnSpc>
                <a:spcPct val="100000"/>
              </a:lnSpc>
              <a:buNone/>
            </a:pPr>
            <a:r>
              <a:rPr lang="en-US" sz="2000" b="0" u="none" strike="noStrike">
                <a:solidFill>
                  <a:srgbClr val="000000"/>
                </a:solidFill>
                <a:effectLst/>
                <a:uFillTx/>
                <a:latin typeface="Arial"/>
              </a:rPr>
              <a:t>  - Proposed MLP Model: Error remains strictly flat and bounded below 1.45% throughout the entire 10 hours.</a:t>
            </a:r>
          </a:p>
          <a:p>
            <a:pPr indent="0" algn="l">
              <a:lnSpc>
                <a:spcPct val="100000"/>
              </a:lnSpc>
              <a:buNone/>
            </a:pPr>
            <a:r>
              <a:rPr lang="en-US" sz="2000" b="0" u="none" strike="noStrike">
                <a:solidFill>
                  <a:srgbClr val="000000"/>
                </a:solidFill>
                <a:effectLst/>
                <a:uFillTx/>
                <a:latin typeface="Arial"/>
              </a:rPr>
              <a:t>  - Reason: The neural network is non-integrating; it evaluates state from instantaneous and short-window observable physics, making it inherently immune to open-loop error accumulation."</a:t>
            </a:r>
          </a:p>
        </p:txBody>
      </p:sp>
      <p:sp>
        <p:nvSpPr>
          <p:cNvPr id="413" name="PlaceHolder 3"/>
          <p:cNvSpPr>
            <a:spLocks noGrp="1"/>
          </p:cNvSpPr>
          <p:nvPr>
            <p:ph type="sldNum" idx="52"/>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PlaceHolder 1"/>
          <p:cNvSpPr>
            <a:spLocks noGrp="1" noRot="1" noChangeAspect="1"/>
          </p:cNvSpPr>
          <p:nvPr>
            <p:ph type="sldImg"/>
          </p:nvPr>
        </p:nvSpPr>
        <p:spPr>
          <a:xfrm>
            <a:off x="0" y="0"/>
            <a:ext cx="0" cy="0"/>
          </a:xfrm>
          <a:prstGeom prst="rect">
            <a:avLst/>
          </a:prstGeom>
          <a:ln w="0">
            <a:noFill/>
          </a:ln>
        </p:spPr>
      </p:sp>
      <p:sp>
        <p:nvSpPr>
          <p:cNvPr id="4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[15:15 - 16:15] | SLIDE 17: HARDWARE ROBUSTNESS &amp; STRESS ANALYSIS</a:t>
            </a:r>
          </a:p>
          <a:p>
            <a:pPr indent="0" algn="l">
              <a:lnSpc>
                <a:spcPct val="100000"/>
              </a:lnSpc>
              <a:buNone/>
            </a:pPr>
            <a:r>
              <a:rPr lang="en-US" sz="2000" b="0" u="none" strike="noStrike">
                <a:solidFill>
                  <a:srgbClr val="000000"/>
                </a:solidFill>
                <a:effectLst/>
                <a:uFillTx/>
                <a:latin typeface="Arial"/>
              </a:rPr>
              <a:t>• Stress Testing under Hostile Operating Conditions:</a:t>
            </a:r>
          </a:p>
          <a:p>
            <a:pPr indent="0" algn="l">
              <a:lnSpc>
                <a:spcPct val="100000"/>
              </a:lnSpc>
              <a:buNone/>
            </a:pPr>
            <a:r>
              <a:rPr lang="en-US" sz="2000" b="0" u="none" strike="noStrike">
                <a:solidFill>
                  <a:srgbClr val="000000"/>
                </a:solidFill>
                <a:effectLst/>
                <a:uFillTx/>
                <a:latin typeface="Arial"/>
              </a:rPr>
              <a:t>  1. Voltage Measurement Noise: Injected Gaussian noise (sigma = 20 mV). MLP MAE remained under 1.58% due to rolling averaging.</a:t>
            </a:r>
          </a:p>
          <a:p>
            <a:pPr indent="0" algn="l">
              <a:lnSpc>
                <a:spcPct val="100000"/>
              </a:lnSpc>
              <a:buNone/>
            </a:pPr>
            <a:r>
              <a:rPr lang="en-US" sz="2000" b="0" u="none" strike="noStrike">
                <a:solidFill>
                  <a:srgbClr val="000000"/>
                </a:solidFill>
                <a:effectLst/>
                <a:uFillTx/>
                <a:latin typeface="Arial"/>
              </a:rPr>
              <a:t>  2. Severe Temperature Variation: Evaluated from -10°C sub-zero conditions up to +55°C heat. Error degraded gracefully without runaway divergence.</a:t>
            </a:r>
          </a:p>
          <a:p>
            <a:pPr indent="0" algn="l">
              <a:lnSpc>
                <a:spcPct val="100000"/>
              </a:lnSpc>
              <a:buNone/>
            </a:pPr>
            <a:r>
              <a:rPr lang="en-US" sz="2000" b="0" u="none" strike="noStrike">
                <a:solidFill>
                  <a:srgbClr val="000000"/>
                </a:solidFill>
                <a:effectLst/>
                <a:uFillTx/>
                <a:latin typeface="Arial"/>
              </a:rPr>
              <a:t>  3. Unknown Initial SOC: While Coulomb Counting requires a known starting state, the neural network converges to true SOC within the very first rolling window (30 seconds)."</a:t>
            </a:r>
          </a:p>
        </p:txBody>
      </p:sp>
      <p:sp>
        <p:nvSpPr>
          <p:cNvPr id="416" name="PlaceHolder 3"/>
          <p:cNvSpPr>
            <a:spLocks noGrp="1"/>
          </p:cNvSpPr>
          <p:nvPr>
            <p:ph type="sldNum" idx="53"/>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noRot="1" noChangeAspect="1"/>
          </p:cNvSpPr>
          <p:nvPr>
            <p:ph type="sldImg"/>
          </p:nvPr>
        </p:nvSpPr>
        <p:spPr>
          <a:xfrm>
            <a:off x="0" y="0"/>
            <a:ext cx="0" cy="0"/>
          </a:xfrm>
          <a:prstGeom prst="rect">
            <a:avLst/>
          </a:prstGeom>
          <a:ln w="0">
            <a:noFill/>
          </a:ln>
        </p:spPr>
      </p:sp>
      <p:sp>
        <p:nvSpPr>
          <p:cNvPr id="4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[17:15 - 18:15] | SLIDE 19: EMBEDDED FIRMWARE DEPLOYMENT</a:t>
            </a:r>
          </a:p>
          <a:p>
            <a:pPr indent="0" algn="l">
              <a:lnSpc>
                <a:spcPct val="100000"/>
              </a:lnSpc>
              <a:buNone/>
            </a:pPr>
            <a:r>
              <a:rPr lang="en-US" sz="2000" b="0" u="none" strike="noStrike">
                <a:solidFill>
                  <a:srgbClr val="000000"/>
                </a:solidFill>
                <a:effectLst/>
                <a:uFillTx/>
                <a:latin typeface="Arial"/>
              </a:rPr>
              <a:t>• Real-World Embedded C Implementation:</a:t>
            </a:r>
          </a:p>
          <a:p>
            <a:pPr indent="0" algn="l">
              <a:lnSpc>
                <a:spcPct val="100000"/>
              </a:lnSpc>
              <a:buNone/>
            </a:pPr>
            <a:r>
              <a:rPr lang="en-US" sz="2000" b="0" u="none" strike="noStrike">
                <a:solidFill>
                  <a:srgbClr val="000000"/>
                </a:solidFill>
                <a:effectLst/>
                <a:uFillTx/>
                <a:latin typeface="Arial"/>
              </a:rPr>
              <a:t>  - Written in 100% MISRA-compliant ANSI C99 (soc_inference.c and soc_inference.h).</a:t>
            </a:r>
          </a:p>
          <a:p>
            <a:pPr indent="0" algn="l">
              <a:lnSpc>
                <a:spcPct val="100000"/>
              </a:lnSpc>
              <a:buNone/>
            </a:pPr>
            <a:r>
              <a:rPr lang="en-US" sz="2000" b="0" u="none" strike="noStrike">
                <a:solidFill>
                  <a:srgbClr val="000000"/>
                </a:solidFill>
                <a:effectLst/>
                <a:uFillTx/>
                <a:latin typeface="Arial"/>
              </a:rPr>
              <a:t>  - Safety Guarantee: Zero dynamic memory allocation (no malloc/free).</a:t>
            </a:r>
          </a:p>
          <a:p>
            <a:pPr indent="0" algn="l">
              <a:lnSpc>
                <a:spcPct val="100000"/>
              </a:lnSpc>
              <a:buNone/>
            </a:pPr>
            <a:r>
              <a:rPr lang="en-US" sz="2000" b="0" u="none" strike="noStrike">
                <a:solidFill>
                  <a:srgbClr val="000000"/>
                </a:solidFill>
                <a:effectLst/>
                <a:uFillTx/>
                <a:latin typeface="Arial"/>
              </a:rPr>
              <a:t>  - RAM Footprint: Exactly 348 bytes of static memory.</a:t>
            </a:r>
          </a:p>
          <a:p>
            <a:pPr indent="0" algn="l">
              <a:lnSpc>
                <a:spcPct val="100000"/>
              </a:lnSpc>
              <a:buNone/>
            </a:pPr>
            <a:r>
              <a:rPr lang="en-US" sz="2000" b="0" u="none" strike="noStrike">
                <a:solidFill>
                  <a:srgbClr val="000000"/>
                </a:solidFill>
                <a:effectLst/>
                <a:uFillTx/>
                <a:latin typeface="Arial"/>
              </a:rPr>
              <a:t>  - Flash ROM Footprint: &lt;1.5 KB including weights and scaling constants.</a:t>
            </a:r>
          </a:p>
          <a:p>
            <a:pPr indent="0" algn="l">
              <a:lnSpc>
                <a:spcPct val="100000"/>
              </a:lnSpc>
              <a:buNone/>
            </a:pPr>
            <a:r>
              <a:rPr lang="en-US" sz="2000" b="0" u="none" strike="noStrike">
                <a:solidFill>
                  <a:srgbClr val="000000"/>
                </a:solidFill>
                <a:effectLst/>
                <a:uFillTx/>
                <a:latin typeface="Arial"/>
              </a:rPr>
              <a:t>  - Execution Time on ARM Cortex-M4 (80 MHz): 6.03 microseconds per execution tick.</a:t>
            </a:r>
          </a:p>
          <a:p>
            <a:pPr indent="0" algn="l">
              <a:lnSpc>
                <a:spcPct val="100000"/>
              </a:lnSpc>
              <a:buNone/>
            </a:pPr>
            <a:r>
              <a:rPr lang="en-US" sz="2000" b="0" u="none" strike="noStrike">
                <a:solidFill>
                  <a:srgbClr val="000000"/>
                </a:solidFill>
                <a:effectLst/>
                <a:uFillTx/>
                <a:latin typeface="Arial"/>
              </a:rPr>
              <a:t>  - At a 10 Hz BMS sampling rate, our model utilizes less than 0.006% of the microcontroller's CPU cycle capacity, leaving 99.99% free for CAN communication, safety interlocks, and cell balancing."</a:t>
            </a:r>
          </a:p>
        </p:txBody>
      </p:sp>
      <p:sp>
        <p:nvSpPr>
          <p:cNvPr id="419" name="PlaceHolder 3"/>
          <p:cNvSpPr>
            <a:spLocks noGrp="1"/>
          </p:cNvSpPr>
          <p:nvPr>
            <p:ph type="sldNum" idx="54"/>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PlaceHolder 1"/>
          <p:cNvSpPr>
            <a:spLocks noGrp="1" noRot="1" noChangeAspect="1"/>
          </p:cNvSpPr>
          <p:nvPr>
            <p:ph type="sldImg"/>
          </p:nvPr>
        </p:nvSpPr>
        <p:spPr>
          <a:xfrm>
            <a:off x="0" y="0"/>
            <a:ext cx="0" cy="0"/>
          </a:xfrm>
          <a:prstGeom prst="rect">
            <a:avLst/>
          </a:prstGeom>
          <a:ln w="0">
            <a:noFill/>
          </a:ln>
        </p:spPr>
      </p:sp>
      <p:sp>
        <p:nvSpPr>
          <p:cNvPr id="42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[18:15 - 19:00] | SLIDE 20: DIGITAL TWIN WEB DASHBOARD</a:t>
            </a:r>
          </a:p>
          <a:p>
            <a:pPr indent="0" algn="l">
              <a:lnSpc>
                <a:spcPct val="100000"/>
              </a:lnSpc>
              <a:buNone/>
            </a:pPr>
            <a:r>
              <a:rPr lang="en-US" sz="2000" b="0" u="none" strike="noStrike">
                <a:solidFill>
                  <a:srgbClr val="000000"/>
                </a:solidFill>
                <a:effectLst/>
                <a:uFillTx/>
                <a:latin typeface="Arial"/>
              </a:rPr>
              <a:t>• Full-Stack Interactive Telemetry:</a:t>
            </a:r>
          </a:p>
          <a:p>
            <a:pPr indent="0" algn="l">
              <a:lnSpc>
                <a:spcPct val="100000"/>
              </a:lnSpc>
              <a:buNone/>
            </a:pPr>
            <a:r>
              <a:rPr lang="en-US" sz="2000" b="0" u="none" strike="noStrike">
                <a:solidFill>
                  <a:srgbClr val="000000"/>
                </a:solidFill>
                <a:effectLst/>
                <a:uFillTx/>
                <a:latin typeface="Arial"/>
              </a:rPr>
              <a:t>  - Modern web dashboard built with HTML5, Vanilla CSS, and WebSocket telemetry stream.</a:t>
            </a:r>
          </a:p>
          <a:p>
            <a:pPr indent="0" algn="l">
              <a:lnSpc>
                <a:spcPct val="100000"/>
              </a:lnSpc>
              <a:buNone/>
            </a:pPr>
            <a:r>
              <a:rPr lang="en-US" sz="2000" b="0" u="none" strike="noStrike">
                <a:solidFill>
                  <a:srgbClr val="000000"/>
                </a:solidFill>
                <a:effectLst/>
                <a:uFillTx/>
                <a:latin typeface="Arial"/>
              </a:rPr>
              <a:t>  - Live Real-Time Visualizations: Dual-track charts displaying ground truth vs predicted SOC, instantaneous voltage, current, and temperature.</a:t>
            </a:r>
          </a:p>
          <a:p>
            <a:pPr indent="0" algn="l">
              <a:lnSpc>
                <a:spcPct val="100000"/>
              </a:lnSpc>
              <a:buNone/>
            </a:pPr>
            <a:r>
              <a:rPr lang="en-US" sz="2000" b="0" u="none" strike="noStrike">
                <a:solidFill>
                  <a:srgbClr val="000000"/>
                </a:solidFill>
                <a:effectLst/>
                <a:uFillTx/>
                <a:latin typeface="Arial"/>
              </a:rPr>
              <a:t>  - Safety Alert Engine: Automated warnings for over-temperature (&gt;45°C), high discharge (&gt;2.5C), and cell depletion (&lt;15% SOC).</a:t>
            </a:r>
          </a:p>
          <a:p>
            <a:pPr indent="0" algn="l">
              <a:lnSpc>
                <a:spcPct val="100000"/>
              </a:lnSpc>
              <a:buNone/>
            </a:pPr>
            <a:r>
              <a:rPr lang="en-US" sz="2000" b="0" u="none" strike="noStrike">
                <a:solidFill>
                  <a:srgbClr val="000000"/>
                </a:solidFill>
                <a:effectLst/>
                <a:uFillTx/>
                <a:latin typeface="Arial"/>
              </a:rPr>
              <a:t>  - Validated by 39 passing pytest test suites covering end-to-end telemetry pipelines."</a:t>
            </a:r>
          </a:p>
        </p:txBody>
      </p:sp>
      <p:sp>
        <p:nvSpPr>
          <p:cNvPr id="422" name="PlaceHolder 3"/>
          <p:cNvSpPr>
            <a:spLocks noGrp="1"/>
          </p:cNvSpPr>
          <p:nvPr>
            <p:ph type="sldNum" idx="55"/>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noRot="1" noChangeAspect="1"/>
          </p:cNvSpPr>
          <p:nvPr>
            <p:ph type="sldImg"/>
          </p:nvPr>
        </p:nvSpPr>
        <p:spPr>
          <a:xfrm>
            <a:off x="0" y="0"/>
            <a:ext cx="0" cy="0"/>
          </a:xfrm>
          <a:prstGeom prst="rect">
            <a:avLst/>
          </a:prstGeom>
          <a:ln w="0">
            <a:noFill/>
          </a:ln>
        </p:spPr>
      </p:sp>
      <p:sp>
        <p:nvSpPr>
          <p:cNvPr id="4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[19:00 - 19:40] | SLIDE 21: CONCLUSION</a:t>
            </a:r>
          </a:p>
          <a:p>
            <a:pPr indent="0" algn="l">
              <a:lnSpc>
                <a:spcPct val="100000"/>
              </a:lnSpc>
              <a:buNone/>
            </a:pPr>
            <a:r>
              <a:rPr lang="en-US" sz="2000" b="0" u="none" strike="noStrike">
                <a:solidFill>
                  <a:srgbClr val="000000"/>
                </a:solidFill>
                <a:effectLst/>
                <a:uFillTx/>
                <a:latin typeface="Arial"/>
              </a:rPr>
              <a:t>• Summary of Achievements:</a:t>
            </a:r>
          </a:p>
          <a:p>
            <a:pPr indent="0" algn="l">
              <a:lnSpc>
                <a:spcPct val="100000"/>
              </a:lnSpc>
              <a:buNone/>
            </a:pPr>
            <a:r>
              <a:rPr lang="en-US" sz="2000" b="0" u="none" strike="noStrike">
                <a:solidFill>
                  <a:srgbClr val="000000"/>
                </a:solidFill>
                <a:effectLst/>
                <a:uFillTx/>
                <a:latin typeface="Arial"/>
              </a:rPr>
              <a:t>  1. Developed an ultra-compact MLP 3-16-1 digital twin for Li-ion SOC estimation achieving 1.25% average MAE.</a:t>
            </a:r>
          </a:p>
          <a:p>
            <a:pPr indent="0" algn="l">
              <a:lnSpc>
                <a:spcPct val="100000"/>
              </a:lnSpc>
              <a:buNone/>
            </a:pPr>
            <a:r>
              <a:rPr lang="en-US" sz="2000" b="0" u="none" strike="noStrike">
                <a:solidFill>
                  <a:srgbClr val="000000"/>
                </a:solidFill>
                <a:effectLst/>
                <a:uFillTx/>
                <a:latin typeface="Arial"/>
              </a:rPr>
              <a:t>  2. Outperformed classical Coulomb counting, linear regression, and Kalman filters across diverse dynamic drive cycles.</a:t>
            </a:r>
          </a:p>
          <a:p>
            <a:pPr indent="0" algn="l">
              <a:lnSpc>
                <a:spcPct val="100000"/>
              </a:lnSpc>
              <a:buNone/>
            </a:pPr>
            <a:r>
              <a:rPr lang="en-US" sz="2000" b="0" u="none" strike="noStrike">
                <a:solidFill>
                  <a:srgbClr val="000000"/>
                </a:solidFill>
                <a:effectLst/>
                <a:uFillTx/>
                <a:latin typeface="Arial"/>
              </a:rPr>
              <a:t>  3. Completely eliminated sensor DC drift accumulation over long driving horizons.</a:t>
            </a:r>
          </a:p>
          <a:p>
            <a:pPr indent="0" algn="l">
              <a:lnSpc>
                <a:spcPct val="100000"/>
              </a:lnSpc>
              <a:buNone/>
            </a:pPr>
            <a:r>
              <a:rPr lang="en-US" sz="2000" b="0" u="none" strike="noStrike">
                <a:solidFill>
                  <a:srgbClr val="000000"/>
                </a:solidFill>
                <a:effectLst/>
                <a:uFillTx/>
                <a:latin typeface="Arial"/>
              </a:rPr>
              <a:t>  4. Fully realized in ANSI C firmware requiring only 348 bytes of RAM and 6.03 microseconds execution time, proving embedded feasibility.</a:t>
            </a:r>
          </a:p>
          <a:p>
            <a:pPr indent="0" algn="l">
              <a:lnSpc>
                <a:spcPct val="100000"/>
              </a:lnSpc>
              <a:buNone/>
            </a:pPr>
            <a:r>
              <a:rPr lang="en-US" sz="2000" b="0" u="none" strike="noStrike">
                <a:solidFill>
                  <a:srgbClr val="000000"/>
                </a:solidFill>
                <a:effectLst/>
                <a:uFillTx/>
                <a:latin typeface="Arial"/>
              </a:rPr>
              <a:t>  5. Integrated with real-time web telemetry and SOH degradation tracking."</a:t>
            </a:r>
          </a:p>
        </p:txBody>
      </p:sp>
      <p:sp>
        <p:nvSpPr>
          <p:cNvPr id="425" name="PlaceHolder 3"/>
          <p:cNvSpPr>
            <a:spLocks noGrp="1"/>
          </p:cNvSpPr>
          <p:nvPr>
            <p:ph type="sldNum" idx="56"/>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PlaceHolder 1"/>
          <p:cNvSpPr>
            <a:spLocks noGrp="1" noRot="1" noChangeAspect="1"/>
          </p:cNvSpPr>
          <p:nvPr>
            <p:ph type="sldImg"/>
          </p:nvPr>
        </p:nvSpPr>
        <p:spPr>
          <a:xfrm>
            <a:off x="0" y="0"/>
            <a:ext cx="0" cy="0"/>
          </a:xfrm>
          <a:prstGeom prst="rect">
            <a:avLst/>
          </a:prstGeom>
          <a:ln w="0">
            <a:noFill/>
          </a:ln>
        </p:spPr>
      </p:sp>
      <p:sp>
        <p:nvSpPr>
          <p:cNvPr id="42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[19:40 - 20:10] | SLIDE 22: FUTURE SCOPE &amp; ROADMAP</a:t>
            </a:r>
          </a:p>
          <a:p>
            <a:pPr indent="0" algn="l">
              <a:lnSpc>
                <a:spcPct val="100000"/>
              </a:lnSpc>
              <a:buNone/>
            </a:pPr>
            <a:r>
              <a:rPr lang="en-US" sz="2000" b="0" u="none" strike="noStrike">
                <a:solidFill>
                  <a:srgbClr val="000000"/>
                </a:solidFill>
                <a:effectLst/>
                <a:uFillTx/>
                <a:latin typeface="Arial"/>
              </a:rPr>
              <a:t>• Future Engineering Directions:</a:t>
            </a:r>
          </a:p>
          <a:p>
            <a:pPr indent="0" algn="l">
              <a:lnSpc>
                <a:spcPct val="100000"/>
              </a:lnSpc>
              <a:buNone/>
            </a:pPr>
            <a:r>
              <a:rPr lang="en-US" sz="2000" b="0" u="none" strike="noStrike">
                <a:solidFill>
                  <a:srgbClr val="000000"/>
                </a:solidFill>
                <a:effectLst/>
                <a:uFillTx/>
                <a:latin typeface="Arial"/>
              </a:rPr>
              <a:t>  1. Pack-Level Scaling: Extending the single-cell twin to a multi-cell series/parallel battery pack with cell-to-cell thermal gradient modeling.</a:t>
            </a:r>
          </a:p>
          <a:p>
            <a:pPr indent="0" algn="l">
              <a:lnSpc>
                <a:spcPct val="100000"/>
              </a:lnSpc>
              <a:buNone/>
            </a:pPr>
            <a:r>
              <a:rPr lang="en-US" sz="2000" b="0" u="none" strike="noStrike">
                <a:solidFill>
                  <a:srgbClr val="000000"/>
                </a:solidFill>
                <a:effectLst/>
                <a:uFillTx/>
                <a:latin typeface="Arial"/>
              </a:rPr>
              <a:t>  2. Edge TinyML On-Device Learning: Implementing quantized INT8 weights and on-device transfer learning to adapt to individual cell manufacturing tolerances.</a:t>
            </a:r>
          </a:p>
          <a:p>
            <a:pPr indent="0" algn="l">
              <a:lnSpc>
                <a:spcPct val="100000"/>
              </a:lnSpc>
              <a:buNone/>
            </a:pPr>
            <a:r>
              <a:rPr lang="en-US" sz="2000" b="0" u="none" strike="noStrike">
                <a:solidFill>
                  <a:srgbClr val="000000"/>
                </a:solidFill>
                <a:effectLst/>
                <a:uFillTx/>
                <a:latin typeface="Arial"/>
              </a:rPr>
              <a:t>  3. Onboard Micro-EIS Integration: Micro-perturbation Electrochemical Impedance Spectroscopy for early detection of lithium dendrite formation and plating."</a:t>
            </a:r>
          </a:p>
        </p:txBody>
      </p:sp>
      <p:sp>
        <p:nvSpPr>
          <p:cNvPr id="428" name="PlaceHolder 3"/>
          <p:cNvSpPr>
            <a:spLocks noGrp="1"/>
          </p:cNvSpPr>
          <p:nvPr>
            <p:ph type="sldNum" idx="57"/>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PlaceHolder 1"/>
          <p:cNvSpPr>
            <a:spLocks noGrp="1" noRot="1" noChangeAspect="1"/>
          </p:cNvSpPr>
          <p:nvPr>
            <p:ph type="sldImg"/>
          </p:nvPr>
        </p:nvSpPr>
        <p:spPr>
          <a:xfrm>
            <a:off x="0" y="0"/>
            <a:ext cx="0" cy="0"/>
          </a:xfrm>
          <a:prstGeom prst="rect">
            <a:avLst/>
          </a:prstGeom>
          <a:ln w="0">
            <a:noFill/>
          </a:ln>
        </p:spPr>
      </p:sp>
      <p:sp>
        <p:nvSpPr>
          <p:cNvPr id="43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pPr>
            <a:r>
              <a:rPr lang="en-US" sz="2000" b="0" u="none" strike="noStrike">
                <a:solidFill>
                  <a:srgbClr val="000000"/>
                </a:solidFill>
                <a:effectLst/>
                <a:uFillTx/>
                <a:latin typeface="Arial"/>
              </a:rPr>
              <a:t>[20:10 - 20:30] | SLIDE 23: REFERENCES &amp; ACKNOWLEDGEMENTS</a:t>
            </a:r>
          </a:p>
          <a:p>
            <a:pPr indent="0" algn="l">
              <a:lnSpc>
                <a:spcPct val="100000"/>
              </a:lnSpc>
              <a:buNone/>
            </a:pPr>
            <a:r>
              <a:rPr lang="en-US" sz="2000" b="0" u="none" strike="noStrike">
                <a:solidFill>
                  <a:srgbClr val="000000"/>
                </a:solidFill>
                <a:effectLst/>
                <a:uFillTx/>
                <a:latin typeface="Arial"/>
              </a:rPr>
              <a:t>• Key Literature References:</a:t>
            </a:r>
          </a:p>
          <a:p>
            <a:pPr indent="0" algn="l">
              <a:lnSpc>
                <a:spcPct val="100000"/>
              </a:lnSpc>
              <a:buNone/>
            </a:pPr>
            <a:r>
              <a:rPr lang="en-US" sz="2000" b="0" u="none" strike="noStrike">
                <a:solidFill>
                  <a:srgbClr val="000000"/>
                </a:solidFill>
                <a:effectLst/>
                <a:uFillTx/>
                <a:latin typeface="Arial"/>
              </a:rPr>
              <a:t>  - Plett, G. L. (2004) - Extended Kalman filtering for battery management systems.</a:t>
            </a:r>
          </a:p>
          <a:p>
            <a:pPr indent="0" algn="l">
              <a:lnSpc>
                <a:spcPct val="100000"/>
              </a:lnSpc>
              <a:buNone/>
            </a:pPr>
            <a:r>
              <a:rPr lang="en-US" sz="2000" b="0" u="none" strike="noStrike">
                <a:solidFill>
                  <a:srgbClr val="000000"/>
                </a:solidFill>
                <a:effectLst/>
                <a:uFillTx/>
                <a:latin typeface="Arial"/>
              </a:rPr>
              <a:t>  - Hannan, M. A. et al. (2017) - A review of lithium-ion battery state of charge estimation.</a:t>
            </a:r>
          </a:p>
          <a:p>
            <a:pPr indent="0" algn="l">
              <a:lnSpc>
                <a:spcPct val="100000"/>
              </a:lnSpc>
              <a:buNone/>
            </a:pPr>
            <a:r>
              <a:rPr lang="en-US" sz="2000" b="0" u="none" strike="noStrike">
                <a:solidFill>
                  <a:srgbClr val="000000"/>
                </a:solidFill>
                <a:effectLst/>
                <a:uFillTx/>
                <a:latin typeface="Arial"/>
              </a:rPr>
              <a:t>  - Chemali, E. et al. (2018) - State-of-charge estimation of Li-ion batteries using deep neural networks.</a:t>
            </a:r>
          </a:p>
          <a:p>
            <a:pPr indent="0" algn="l">
              <a:lnSpc>
                <a:spcPct val="100000"/>
              </a:lnSpc>
              <a:buNone/>
            </a:pPr>
            <a:r>
              <a:rPr lang="en-US" sz="2000" b="0" u="none" strike="noStrike">
                <a:solidFill>
                  <a:srgbClr val="000000"/>
                </a:solidFill>
                <a:effectLst/>
                <a:uFillTx/>
                <a:latin typeface="Arial"/>
              </a:rPr>
              <a:t>• Acknowledgement:</a:t>
            </a:r>
          </a:p>
          <a:p>
            <a:pPr indent="0" algn="l">
              <a:lnSpc>
                <a:spcPct val="100000"/>
              </a:lnSpc>
              <a:buNone/>
            </a:pPr>
            <a:r>
              <a:rPr lang="en-US" sz="2000" b="0" u="none" strike="noStrike">
                <a:solidFill>
                  <a:srgbClr val="000000"/>
                </a:solidFill>
                <a:effectLst/>
                <a:uFillTx/>
                <a:latin typeface="Arial"/>
              </a:rPr>
              <a:t>  - "We express our deepest gratitude to our project guide Dr. N. Radhika and the Department of Electrical and Computer Engineering, Amrita Vishwa Vidyapeetham, for their invaluable mentorship and support."</a:t>
            </a:r>
          </a:p>
          <a:p>
            <a:pPr indent="0" algn="l">
              <a:lnSpc>
                <a:spcPct val="100000"/>
              </a:lnSpc>
              <a:buNone/>
            </a:pPr>
            <a:r>
              <a:rPr lang="en-US" sz="2000" b="0" u="none" strike="noStrike">
                <a:solidFill>
                  <a:srgbClr val="000000"/>
                </a:solidFill>
                <a:effectLst/>
                <a:uFillTx/>
                <a:latin typeface="Arial"/>
              </a:rPr>
              <a:t>• Transition to Viva:</a:t>
            </a:r>
          </a:p>
          <a:p>
            <a:pPr indent="0" algn="l">
              <a:lnSpc>
                <a:spcPct val="100000"/>
              </a:lnSpc>
              <a:buNone/>
            </a:pPr>
            <a:r>
              <a:rPr lang="en-US" sz="2000" b="0" u="none" strike="noStrike">
                <a:solidFill>
                  <a:srgbClr val="000000"/>
                </a:solidFill>
                <a:effectLst/>
                <a:uFillTx/>
                <a:latin typeface="Arial"/>
              </a:rPr>
              <a:t>  - "Thank you for your time and attention. We are now open for questions, viva discussion, and demonstration."</a:t>
            </a:r>
          </a:p>
        </p:txBody>
      </p:sp>
      <p:sp>
        <p:nvSpPr>
          <p:cNvPr id="431" name="PlaceHolder 3"/>
          <p:cNvSpPr>
            <a:spLocks noGrp="1"/>
          </p:cNvSpPr>
          <p:nvPr>
            <p:ph type="sldNum" idx="58"/>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9A45B3-BEC6-4D5B-9B96-F257897D367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F43134B-FB49-4A2F-A48F-102109EC87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D5F27A7-E16C-4F10-8B6B-5E7CA447696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7D2021D-EF71-48EA-AC55-DC9B8FE8F50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53D744A-FC57-4F4D-BE67-FFB42950FB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0888ABB-7D19-4101-A4FA-7CFDCD020CC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995C0B7-ACFD-45A8-9F7D-454052C473A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E3BBDC5-17EC-4626-9F99-8A6F562EFFC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ADBE756-C53E-4A0C-B08D-AE01C232BBD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3AE195A-A2A6-40C1-94FA-E882BAD5CC2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B17DFFF-96A2-4D23-B1DD-D7214319DA2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chart" Target="../charts/char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1" descr="top_bar.png"/>
          <p:cNvPicPr/>
          <p:nvPr/>
        </p:nvPicPr>
        <p:blipFill>
          <a:blip r:embed="rId3"/>
          <a:stretch/>
        </p:blipFill>
        <p:spPr>
          <a:xfrm>
            <a:off x="0" y="0"/>
            <a:ext cx="12191040" cy="72360"/>
          </a:xfrm>
          <a:prstGeom prst="rect">
            <a:avLst/>
          </a:prstGeom>
          <a:noFill/>
          <a:ln w="0">
            <a:noFill/>
          </a:ln>
        </p:spPr>
      </p:pic>
      <p:pic>
        <p:nvPicPr>
          <p:cNvPr id="68" name="Picture 2" descr="amrita_logo.png"/>
          <p:cNvPicPr/>
          <p:nvPr/>
        </p:nvPicPr>
        <p:blipFill>
          <a:blip r:embed="rId4"/>
          <a:stretch/>
        </p:blipFill>
        <p:spPr>
          <a:xfrm>
            <a:off x="9860040" y="201240"/>
            <a:ext cx="2102400" cy="600120"/>
          </a:xfrm>
          <a:prstGeom prst="rect">
            <a:avLst/>
          </a:prstGeom>
          <a:noFill/>
          <a:ln w="0">
            <a:noFill/>
          </a:ln>
        </p:spPr>
      </p:pic>
      <p:sp>
        <p:nvSpPr>
          <p:cNvPr id="69" name="TextBox 3"/>
          <p:cNvSpPr/>
          <p:nvPr/>
        </p:nvSpPr>
        <p:spPr>
          <a:xfrm>
            <a:off x="0" y="1783080"/>
            <a:ext cx="12191040" cy="319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57200">
              <a:lnSpc>
                <a:spcPct val="100000"/>
              </a:lnSpc>
            </a:pPr>
            <a:r>
              <a:rPr lang="en-US" sz="1300" b="1" u="none" strike="noStrike">
                <a:solidFill>
                  <a:srgbClr val="831838"/>
                </a:solidFill>
                <a:effectLst/>
                <a:uFillTx/>
                <a:latin typeface="Poppins"/>
              </a:rPr>
              <a:t>MINI PROJECT PRESENTATION</a:t>
            </a:r>
            <a:endParaRPr lang="en-US" sz="1300" b="0" u="none" strike="noStrike">
              <a:solidFill>
                <a:srgbClr val="000000"/>
              </a:solidFill>
              <a:effectLst/>
              <a:uFillTx/>
              <a:latin typeface="Arial"/>
            </a:endParaRPr>
          </a:p>
        </p:txBody>
      </p:sp>
      <p:sp>
        <p:nvSpPr>
          <p:cNvPr id="70" name="TextBox 4"/>
          <p:cNvSpPr/>
          <p:nvPr/>
        </p:nvSpPr>
        <p:spPr>
          <a:xfrm>
            <a:off x="1097280" y="2149920"/>
            <a:ext cx="9996480" cy="139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57200">
              <a:lnSpc>
                <a:spcPct val="100000"/>
              </a:lnSpc>
            </a:pPr>
            <a:r>
              <a:rPr lang="en-US" sz="2400" b="1" u="none" strike="noStrike">
                <a:solidFill>
                  <a:srgbClr val="1F2937"/>
                </a:solidFill>
                <a:effectLst/>
                <a:uFillTx/>
                <a:latin typeface="Poppins"/>
              </a:rPr>
              <a:t>Estimation of SOC of a Battery using Machine Learning</a:t>
            </a:r>
            <a:endParaRPr lang="en-US" sz="2400" b="0" u="none" strike="noStrike">
              <a:solidFill>
                <a:srgbClr val="000000"/>
              </a:solidFill>
              <a:effectLst/>
              <a:uFillTx/>
              <a:latin typeface="Arial"/>
            </a:endParaRPr>
          </a:p>
          <a:p>
            <a:pPr algn="ctr" defTabSz="457200">
              <a:lnSpc>
                <a:spcPct val="100000"/>
              </a:lnSpc>
            </a:pPr>
            <a:r>
              <a:rPr lang="en-US" sz="1800" b="0" u="none" strike="noStrike">
                <a:solidFill>
                  <a:srgbClr val="831838"/>
                </a:solidFill>
                <a:effectLst/>
                <a:uFillTx/>
                <a:latin typeface="Poppins"/>
              </a:rPr>
              <a:t>Digital Twin Implementation &amp; Embedded Multi-Algorithm Benchmarking</a:t>
            </a:r>
            <a:endParaRPr lang="en-US" sz="1800" b="0" u="none" strike="noStrike">
              <a:solidFill>
                <a:srgbClr val="000000"/>
              </a:solidFill>
              <a:effectLst/>
              <a:uFillTx/>
              <a:latin typeface="Arial"/>
            </a:endParaRPr>
          </a:p>
        </p:txBody>
      </p:sp>
      <p:sp>
        <p:nvSpPr>
          <p:cNvPr id="71" name="Rounded Rectangle 5"/>
          <p:cNvSpPr/>
          <p:nvPr/>
        </p:nvSpPr>
        <p:spPr>
          <a:xfrm>
            <a:off x="861480" y="3809880"/>
            <a:ext cx="10708560" cy="2514240"/>
          </a:xfrm>
          <a:prstGeom prst="roundRect">
            <a:avLst>
              <a:gd name="adj" fmla="val 16667"/>
            </a:avLst>
          </a:prstGeom>
          <a:solidFill>
            <a:srgbClr val="F9FAFC"/>
          </a:solidFill>
          <a:ln>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2" name="TextBox 6"/>
          <p:cNvSpPr/>
          <p:nvPr/>
        </p:nvSpPr>
        <p:spPr>
          <a:xfrm>
            <a:off x="1547280" y="4047120"/>
            <a:ext cx="4205520" cy="1999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r>
              <a:rPr lang="en-US" sz="1200" b="1" u="none" strike="noStrike">
                <a:solidFill>
                  <a:srgbClr val="831838"/>
                </a:solidFill>
                <a:effectLst/>
                <a:uFillTx/>
                <a:latin typeface="Poppins"/>
              </a:rPr>
              <a:t>Project Team Members</a:t>
            </a:r>
            <a:endParaRPr lang="en-US" sz="1200" b="0" u="none" strike="noStrike">
              <a:solidFill>
                <a:srgbClr val="000000"/>
              </a:solidFill>
              <a:effectLst/>
              <a:uFillTx/>
              <a:latin typeface="Arial"/>
            </a:endParaRPr>
          </a:p>
          <a:p>
            <a:endParaRPr lang="en-US" sz="1200" b="0" u="none" strike="noStrike">
              <a:solidFill>
                <a:srgbClr val="000000"/>
              </a:solidFill>
              <a:effectLst/>
              <a:uFillTx/>
              <a:latin typeface="Arial"/>
            </a:endParaRPr>
          </a:p>
          <a:p>
            <a:pPr defTabSz="457200">
              <a:lnSpc>
                <a:spcPct val="100000"/>
              </a:lnSpc>
            </a:pPr>
            <a:endParaRPr lang="en-US" sz="12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Maanas S</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Abrar M</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Abhinav Pradeep</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Varun Ladda</a:t>
            </a:r>
            <a:endParaRPr lang="en-US" sz="1100" b="0" u="none" strike="noStrike">
              <a:solidFill>
                <a:srgbClr val="000000"/>
              </a:solidFill>
              <a:effectLst/>
              <a:uFillTx/>
              <a:latin typeface="Arial"/>
            </a:endParaRPr>
          </a:p>
          <a:p>
            <a:pPr defTabSz="457200">
              <a:lnSpc>
                <a:spcPct val="100000"/>
              </a:lnSpc>
              <a:spcBef>
                <a:spcPts val="799"/>
              </a:spcBef>
            </a:pPr>
            <a:r>
              <a:rPr lang="en-US" sz="1000" b="0" u="none" strike="noStrike">
                <a:solidFill>
                  <a:srgbClr val="4B5563"/>
                </a:solidFill>
                <a:effectLst/>
                <a:uFillTx/>
                <a:latin typeface="Poppins"/>
              </a:rPr>
              <a:t>Department: Electrical &amp; Electronics Engineering</a:t>
            </a:r>
            <a:endParaRPr lang="en-US" sz="1000" b="0" u="none" strike="noStrike">
              <a:solidFill>
                <a:srgbClr val="000000"/>
              </a:solidFill>
              <a:effectLst/>
              <a:uFillTx/>
              <a:latin typeface="Arial"/>
            </a:endParaRPr>
          </a:p>
        </p:txBody>
      </p:sp>
      <p:sp>
        <p:nvSpPr>
          <p:cNvPr id="73" name="TextBox 7"/>
          <p:cNvSpPr/>
          <p:nvPr/>
        </p:nvSpPr>
        <p:spPr>
          <a:xfrm>
            <a:off x="6337440" y="4047120"/>
            <a:ext cx="4916160" cy="1999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r>
              <a:rPr lang="en-US" sz="1200" b="1" u="none" strike="noStrike">
                <a:solidFill>
                  <a:srgbClr val="831838"/>
                </a:solidFill>
                <a:effectLst/>
                <a:uFillTx/>
                <a:latin typeface="Poppins"/>
              </a:rPr>
              <a:t>Roll Numbers</a:t>
            </a:r>
            <a:endParaRPr lang="en-US" sz="1200" b="0" u="none" strike="noStrike">
              <a:solidFill>
                <a:srgbClr val="000000"/>
              </a:solidFill>
              <a:effectLst/>
              <a:uFillTx/>
              <a:latin typeface="Arial"/>
            </a:endParaRPr>
          </a:p>
          <a:p>
            <a:endParaRPr lang="en-US" sz="1200" b="0" u="none" strike="noStrike">
              <a:solidFill>
                <a:srgbClr val="000000"/>
              </a:solidFill>
              <a:effectLst/>
              <a:uFillTx/>
              <a:latin typeface="Arial"/>
            </a:endParaRPr>
          </a:p>
          <a:p>
            <a:pPr defTabSz="457200">
              <a:lnSpc>
                <a:spcPct val="100000"/>
              </a:lnSpc>
            </a:pPr>
            <a:endParaRPr lang="en-US" sz="12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CB.EN.U4ELC24052</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CB.EN.U4ELC24005</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CB.EN.U4ELC24004</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1F2937"/>
                </a:solidFill>
                <a:effectLst/>
                <a:uFillTx/>
                <a:latin typeface="Poppins"/>
              </a:rPr>
              <a:t>CB.EN.U4ELC24062</a:t>
            </a:r>
            <a:endParaRPr lang="en-US" sz="1100" b="0" u="none" strike="noStrike">
              <a:solidFill>
                <a:srgbClr val="000000"/>
              </a:solidFill>
              <a:effectLst/>
              <a:uFillTx/>
              <a:latin typeface="Arial"/>
            </a:endParaRPr>
          </a:p>
          <a:p>
            <a:pPr defTabSz="457200">
              <a:lnSpc>
                <a:spcPct val="100000"/>
              </a:lnSpc>
              <a:spcBef>
                <a:spcPts val="799"/>
              </a:spcBef>
            </a:pPr>
            <a:r>
              <a:rPr lang="en-US" sz="1000" b="0" u="none" strike="noStrike">
                <a:solidFill>
                  <a:srgbClr val="4B5563"/>
                </a:solidFill>
                <a:effectLst/>
                <a:uFillTx/>
                <a:latin typeface="Poppins"/>
              </a:rPr>
              <a:t>Institution: Amrita School of Engineering, Amrita Vishwa Vidyapeetham</a:t>
            </a:r>
            <a:endParaRPr lang="en-US" sz="1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1" descr="top_bar.png"/>
          <p:cNvPicPr/>
          <p:nvPr/>
        </p:nvPicPr>
        <p:blipFill>
          <a:blip r:embed="rId3"/>
          <a:stretch/>
        </p:blipFill>
        <p:spPr>
          <a:xfrm>
            <a:off x="0" y="0"/>
            <a:ext cx="12191040" cy="72360"/>
          </a:xfrm>
          <a:prstGeom prst="rect">
            <a:avLst/>
          </a:prstGeom>
          <a:noFill/>
          <a:ln w="0">
            <a:noFill/>
          </a:ln>
        </p:spPr>
      </p:pic>
      <p:pic>
        <p:nvPicPr>
          <p:cNvPr id="75" name="Picture 2" descr="amrita_logo.png"/>
          <p:cNvPicPr/>
          <p:nvPr/>
        </p:nvPicPr>
        <p:blipFill>
          <a:blip r:embed="rId4"/>
          <a:stretch/>
        </p:blipFill>
        <p:spPr>
          <a:xfrm>
            <a:off x="9860040" y="201240"/>
            <a:ext cx="2102400" cy="600120"/>
          </a:xfrm>
          <a:prstGeom prst="rect">
            <a:avLst/>
          </a:prstGeom>
          <a:noFill/>
          <a:ln w="0">
            <a:noFill/>
          </a:ln>
        </p:spPr>
      </p:pic>
      <p:sp>
        <p:nvSpPr>
          <p:cNvPr id="76"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a:solidFill>
                  <a:srgbClr val="831838"/>
                </a:solidFill>
                <a:effectLst/>
                <a:uFillTx/>
                <a:latin typeface="Poppins"/>
              </a:rPr>
              <a:t>Presentation Outline</a:t>
            </a:r>
            <a:endParaRPr lang="en-US" sz="2500" b="0" u="none" strike="noStrike">
              <a:solidFill>
                <a:srgbClr val="000000"/>
              </a:solidFill>
              <a:effectLst/>
              <a:uFillTx/>
              <a:latin typeface="Arial"/>
            </a:endParaRPr>
          </a:p>
        </p:txBody>
      </p:sp>
      <p:sp>
        <p:nvSpPr>
          <p:cNvPr id="77"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78"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2</a:t>
            </a:r>
            <a:endParaRPr lang="en-US" sz="1000" b="0" u="none" strike="noStrike">
              <a:solidFill>
                <a:srgbClr val="000000"/>
              </a:solidFill>
              <a:effectLst/>
              <a:uFillTx/>
              <a:latin typeface="Arial"/>
            </a:endParaRPr>
          </a:p>
        </p:txBody>
      </p:sp>
      <p:sp>
        <p:nvSpPr>
          <p:cNvPr id="79" name="Rounded Rectangle 6"/>
          <p:cNvSpPr/>
          <p:nvPr/>
        </p:nvSpPr>
        <p:spPr>
          <a:xfrm>
            <a:off x="411480" y="147996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0" name="Rounded Rectangle 7"/>
          <p:cNvSpPr/>
          <p:nvPr/>
        </p:nvSpPr>
        <p:spPr>
          <a:xfrm>
            <a:off x="576000" y="162648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1</a:t>
            </a:r>
            <a:endParaRPr lang="en-US" sz="1300" b="0" u="none" strike="noStrike">
              <a:solidFill>
                <a:srgbClr val="000000"/>
              </a:solidFill>
              <a:effectLst/>
              <a:uFillTx/>
              <a:latin typeface="Arial"/>
            </a:endParaRPr>
          </a:p>
        </p:txBody>
      </p:sp>
      <p:sp>
        <p:nvSpPr>
          <p:cNvPr id="81" name="TextBox 8"/>
          <p:cNvSpPr/>
          <p:nvPr/>
        </p:nvSpPr>
        <p:spPr>
          <a:xfrm>
            <a:off x="1033200" y="171108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Problem Formulation &amp; Smart BMS</a:t>
            </a:r>
            <a:endParaRPr lang="en-US" sz="1600" b="0" u="none" strike="noStrike">
              <a:solidFill>
                <a:srgbClr val="000000"/>
              </a:solidFill>
              <a:effectLst/>
              <a:uFillTx/>
              <a:latin typeface="Arial"/>
            </a:endParaRPr>
          </a:p>
        </p:txBody>
      </p:sp>
      <p:sp>
        <p:nvSpPr>
          <p:cNvPr id="82" name="TextBox 9"/>
          <p:cNvSpPr/>
          <p:nvPr/>
        </p:nvSpPr>
        <p:spPr>
          <a:xfrm>
            <a:off x="594360" y="206532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Context: </a:t>
            </a:r>
            <a:r>
              <a:rPr lang="en-US" sz="1200" b="0" u="none" strike="noStrike">
                <a:solidFill>
                  <a:srgbClr val="4B5563"/>
                </a:solidFill>
                <a:effectLst/>
                <a:uFillTx/>
                <a:latin typeface="Poppins"/>
              </a:rPr>
              <a:t>Challenges in physical cell testing, sensor inaccuracies, and the digital twin paradigm.</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Physics: </a:t>
            </a:r>
            <a:r>
              <a:rPr lang="en-US" sz="1200" b="0" u="none" strike="noStrike">
                <a:solidFill>
                  <a:srgbClr val="4B5563"/>
                </a:solidFill>
                <a:effectLst/>
                <a:uFillTx/>
                <a:latin typeface="Poppins"/>
              </a:rPr>
              <a:t>Non-linear Li-ion OCV characteristics and dynamic IR-drop overpotentials.</a:t>
            </a:r>
            <a:endParaRPr lang="en-US" sz="1200" b="0" u="none" strike="noStrike">
              <a:solidFill>
                <a:srgbClr val="000000"/>
              </a:solidFill>
              <a:effectLst/>
              <a:uFillTx/>
              <a:latin typeface="Arial"/>
            </a:endParaRPr>
          </a:p>
        </p:txBody>
      </p:sp>
      <p:sp>
        <p:nvSpPr>
          <p:cNvPr id="83" name="Rounded Rectangle 10"/>
          <p:cNvSpPr/>
          <p:nvPr/>
        </p:nvSpPr>
        <p:spPr>
          <a:xfrm>
            <a:off x="6229800" y="147996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4" name="Rounded Rectangle 11"/>
          <p:cNvSpPr/>
          <p:nvPr/>
        </p:nvSpPr>
        <p:spPr>
          <a:xfrm>
            <a:off x="6394680" y="162648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2</a:t>
            </a:r>
            <a:endParaRPr lang="en-US" sz="1300" b="0" u="none" strike="noStrike">
              <a:solidFill>
                <a:srgbClr val="000000"/>
              </a:solidFill>
              <a:effectLst/>
              <a:uFillTx/>
              <a:latin typeface="Arial"/>
            </a:endParaRPr>
          </a:p>
        </p:txBody>
      </p:sp>
      <p:sp>
        <p:nvSpPr>
          <p:cNvPr id="85" name="TextBox 12"/>
          <p:cNvSpPr/>
          <p:nvPr/>
        </p:nvSpPr>
        <p:spPr>
          <a:xfrm>
            <a:off x="6851880" y="171108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Literature Review &amp; Method Taxonomy</a:t>
            </a:r>
            <a:endParaRPr lang="en-US" sz="1600" b="0" u="none" strike="noStrike">
              <a:solidFill>
                <a:srgbClr val="000000"/>
              </a:solidFill>
              <a:effectLst/>
              <a:uFillTx/>
              <a:latin typeface="Arial"/>
            </a:endParaRPr>
          </a:p>
        </p:txBody>
      </p:sp>
      <p:sp>
        <p:nvSpPr>
          <p:cNvPr id="86" name="TextBox 13"/>
          <p:cNvSpPr/>
          <p:nvPr/>
        </p:nvSpPr>
        <p:spPr>
          <a:xfrm>
            <a:off x="6412680" y="206532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Baselines: </a:t>
            </a:r>
            <a:r>
              <a:rPr lang="en-US" sz="1200" b="0" u="none" strike="noStrike">
                <a:solidFill>
                  <a:srgbClr val="4B5563"/>
                </a:solidFill>
                <a:effectLst/>
                <a:uFillTx/>
                <a:latin typeface="Poppins"/>
              </a:rPr>
              <a:t>Direct Coulomb Counting, Equilibrium OCV lookup, and Kalman filtering.</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AI &amp; Hybrid: </a:t>
            </a:r>
            <a:r>
              <a:rPr lang="en-US" sz="1200" b="0" u="none" strike="noStrike">
                <a:solidFill>
                  <a:srgbClr val="4B5563"/>
                </a:solidFill>
                <a:effectLst/>
                <a:uFillTx/>
                <a:latin typeface="Poppins"/>
              </a:rPr>
              <a:t>Modern ML/AI models (LSTM, RF, NN) and Industry-Standard Hybrid frameworks</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87" name="Rounded Rectangle 14"/>
          <p:cNvSpPr/>
          <p:nvPr/>
        </p:nvSpPr>
        <p:spPr>
          <a:xfrm>
            <a:off x="411480" y="312048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8" name="Rounded Rectangle 15"/>
          <p:cNvSpPr/>
          <p:nvPr/>
        </p:nvSpPr>
        <p:spPr>
          <a:xfrm>
            <a:off x="576000" y="32364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3</a:t>
            </a:r>
            <a:endParaRPr lang="en-US" sz="1300" b="0" u="none" strike="noStrike">
              <a:solidFill>
                <a:srgbClr val="000000"/>
              </a:solidFill>
              <a:effectLst/>
              <a:uFillTx/>
              <a:latin typeface="Arial"/>
            </a:endParaRPr>
          </a:p>
        </p:txBody>
      </p:sp>
      <p:sp>
        <p:nvSpPr>
          <p:cNvPr id="89" name="TextBox 16"/>
          <p:cNvSpPr/>
          <p:nvPr/>
        </p:nvSpPr>
        <p:spPr>
          <a:xfrm>
            <a:off x="1033200" y="331488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Virtual Hardware-in-the-Loop Architecture</a:t>
            </a:r>
            <a:endParaRPr lang="en-US" sz="1600" b="0" u="none" strike="noStrike">
              <a:solidFill>
                <a:srgbClr val="000000"/>
              </a:solidFill>
              <a:effectLst/>
              <a:uFillTx/>
              <a:latin typeface="Arial"/>
            </a:endParaRPr>
          </a:p>
        </p:txBody>
      </p:sp>
      <p:sp>
        <p:nvSpPr>
          <p:cNvPr id="90" name="TextBox 17"/>
          <p:cNvSpPr/>
          <p:nvPr/>
        </p:nvSpPr>
        <p:spPr>
          <a:xfrm>
            <a:off x="594360" y="367524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Signal Path: </a:t>
            </a:r>
            <a:r>
              <a:rPr lang="en-US" sz="1200" b="0" u="none" strike="noStrike">
                <a:solidFill>
                  <a:srgbClr val="4B5563"/>
                </a:solidFill>
                <a:effectLst/>
                <a:uFillTx/>
                <a:latin typeface="Poppins"/>
              </a:rPr>
              <a:t>Divider attenuation (÷2), ESP32 12-bit ADC noise (5 mV), and current shunt DC offset (+30 mA).</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Telemetry: </a:t>
            </a:r>
            <a:r>
              <a:rPr lang="en-US" sz="1200" b="0" u="none" strike="noStrike">
                <a:solidFill>
                  <a:srgbClr val="4B5563"/>
                </a:solidFill>
                <a:effectLst/>
                <a:uFillTx/>
                <a:latin typeface="Poppins"/>
              </a:rPr>
              <a:t>TP4056 CC/CV state machine, Wi-Fi JSON frames, and live WebSocket streaming.</a:t>
            </a:r>
            <a:endParaRPr lang="en-US" sz="1200" b="0" u="none" strike="noStrike">
              <a:solidFill>
                <a:srgbClr val="000000"/>
              </a:solidFill>
              <a:effectLst/>
              <a:uFillTx/>
              <a:latin typeface="Arial"/>
            </a:endParaRPr>
          </a:p>
        </p:txBody>
      </p:sp>
      <p:sp>
        <p:nvSpPr>
          <p:cNvPr id="91" name="Rounded Rectangle 18"/>
          <p:cNvSpPr/>
          <p:nvPr/>
        </p:nvSpPr>
        <p:spPr>
          <a:xfrm>
            <a:off x="6229800" y="308988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2" name="Rounded Rectangle 19"/>
          <p:cNvSpPr/>
          <p:nvPr/>
        </p:nvSpPr>
        <p:spPr>
          <a:xfrm>
            <a:off x="6394680" y="32364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4</a:t>
            </a:r>
            <a:endParaRPr lang="en-US" sz="1300" b="0" u="none" strike="noStrike">
              <a:solidFill>
                <a:srgbClr val="000000"/>
              </a:solidFill>
              <a:effectLst/>
              <a:uFillTx/>
              <a:latin typeface="Arial"/>
            </a:endParaRPr>
          </a:p>
        </p:txBody>
      </p:sp>
      <p:sp>
        <p:nvSpPr>
          <p:cNvPr id="93" name="TextBox 20"/>
          <p:cNvSpPr/>
          <p:nvPr/>
        </p:nvSpPr>
        <p:spPr>
          <a:xfrm>
            <a:off x="6851880" y="331488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Data Engineering &amp; Model Design</a:t>
            </a:r>
            <a:endParaRPr lang="en-US" sz="1600" b="0" u="none" strike="noStrike">
              <a:solidFill>
                <a:srgbClr val="000000"/>
              </a:solidFill>
              <a:effectLst/>
              <a:uFillTx/>
              <a:latin typeface="Arial"/>
            </a:endParaRPr>
          </a:p>
        </p:txBody>
      </p:sp>
      <p:sp>
        <p:nvSpPr>
          <p:cNvPr id="94" name="TextBox 21"/>
          <p:cNvSpPr/>
          <p:nvPr/>
        </p:nvSpPr>
        <p:spPr>
          <a:xfrm>
            <a:off x="6412680" y="367524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NASA Dataset: </a:t>
            </a:r>
            <a:r>
              <a:rPr lang="en-US" sz="1200" b="0" u="none" strike="noStrike">
                <a:solidFill>
                  <a:srgbClr val="4B5563"/>
                </a:solidFill>
                <a:effectLst/>
                <a:uFillTx/>
                <a:latin typeface="Poppins"/>
              </a:rPr>
              <a:t>60 cycling CSVs, 5 s resampling, and 4-wire Kelvin probe voltage averaging.</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MLP 3-16-1: </a:t>
            </a:r>
            <a:r>
              <a:rPr lang="en-US" sz="1200" b="0" u="none" strike="noStrike">
                <a:solidFill>
                  <a:srgbClr val="4B5563"/>
                </a:solidFill>
                <a:effectLst/>
                <a:uFillTx/>
                <a:latin typeface="Poppins"/>
              </a:rPr>
              <a:t>Causal moving average feature engineering, tanh activation, and architecture ablations.</a:t>
            </a:r>
            <a:endParaRPr lang="en-US" sz="1200" b="0" u="none" strike="noStrike">
              <a:solidFill>
                <a:srgbClr val="000000"/>
              </a:solidFill>
              <a:effectLst/>
              <a:uFillTx/>
              <a:latin typeface="Arial"/>
            </a:endParaRPr>
          </a:p>
        </p:txBody>
      </p:sp>
      <p:sp>
        <p:nvSpPr>
          <p:cNvPr id="95" name="Rounded Rectangle 22"/>
          <p:cNvSpPr/>
          <p:nvPr/>
        </p:nvSpPr>
        <p:spPr>
          <a:xfrm>
            <a:off x="411480" y="470016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6" name="Rounded Rectangle 23"/>
          <p:cNvSpPr/>
          <p:nvPr/>
        </p:nvSpPr>
        <p:spPr>
          <a:xfrm>
            <a:off x="576000" y="48463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5</a:t>
            </a:r>
            <a:endParaRPr lang="en-US" sz="1300" b="0" u="none" strike="noStrike">
              <a:solidFill>
                <a:srgbClr val="000000"/>
              </a:solidFill>
              <a:effectLst/>
              <a:uFillTx/>
              <a:latin typeface="Arial"/>
            </a:endParaRPr>
          </a:p>
        </p:txBody>
      </p:sp>
      <p:sp>
        <p:nvSpPr>
          <p:cNvPr id="97" name="TextBox 24"/>
          <p:cNvSpPr/>
          <p:nvPr/>
        </p:nvSpPr>
        <p:spPr>
          <a:xfrm>
            <a:off x="1033200" y="492840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Multi-Algorithm Benchmarking &amp; Robustness</a:t>
            </a:r>
            <a:endParaRPr lang="en-US" sz="1600" b="0" u="none" strike="noStrike">
              <a:solidFill>
                <a:srgbClr val="000000"/>
              </a:solidFill>
              <a:effectLst/>
              <a:uFillTx/>
              <a:latin typeface="Arial"/>
            </a:endParaRPr>
          </a:p>
        </p:txBody>
      </p:sp>
      <p:sp>
        <p:nvSpPr>
          <p:cNvPr id="98" name="TextBox 25"/>
          <p:cNvSpPr/>
          <p:nvPr/>
        </p:nvSpPr>
        <p:spPr>
          <a:xfrm>
            <a:off x="594360" y="528516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Baselines: </a:t>
            </a:r>
            <a:r>
              <a:rPr lang="en-US" sz="1200" b="0" u="none" strike="noStrike">
                <a:solidFill>
                  <a:srgbClr val="4B5563"/>
                </a:solidFill>
                <a:effectLst/>
                <a:uFillTx/>
                <a:latin typeface="Poppins"/>
              </a:rPr>
              <a:t>Held-out cycle evaluations comparing MLP, Random Forest, Linear Regression, and Kalman filters.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Stress Tests: </a:t>
            </a:r>
            <a:r>
              <a:rPr lang="en-US" sz="1200" b="0" u="none" strike="noStrike">
                <a:solidFill>
                  <a:srgbClr val="4B5563"/>
                </a:solidFill>
                <a:effectLst/>
                <a:uFillTx/>
                <a:latin typeface="Poppins"/>
              </a:rPr>
              <a:t>Sensor DC bias drift resilience, long-horizon error bounds, and noise sweeps</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99" name="Rounded Rectangle 26"/>
          <p:cNvSpPr/>
          <p:nvPr/>
        </p:nvSpPr>
        <p:spPr>
          <a:xfrm>
            <a:off x="6229800" y="4700160"/>
            <a:ext cx="5549760" cy="14497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0" name="Rounded Rectangle 27"/>
          <p:cNvSpPr/>
          <p:nvPr/>
        </p:nvSpPr>
        <p:spPr>
          <a:xfrm>
            <a:off x="6394680" y="48463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6</a:t>
            </a:r>
            <a:endParaRPr lang="en-US" sz="1300" b="0" u="none" strike="noStrike">
              <a:solidFill>
                <a:srgbClr val="000000"/>
              </a:solidFill>
              <a:effectLst/>
              <a:uFillTx/>
              <a:latin typeface="Arial"/>
            </a:endParaRPr>
          </a:p>
        </p:txBody>
      </p:sp>
      <p:sp>
        <p:nvSpPr>
          <p:cNvPr id="101" name="TextBox 28"/>
          <p:cNvSpPr/>
          <p:nvPr/>
        </p:nvSpPr>
        <p:spPr>
          <a:xfrm>
            <a:off x="6851880" y="492984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dirty="0">
                <a:solidFill>
                  <a:srgbClr val="831838"/>
                </a:solidFill>
                <a:effectLst/>
                <a:uFillTx/>
                <a:latin typeface="Poppins"/>
              </a:rPr>
              <a:t>Demonstration, Embedded C &amp; Dashboard</a:t>
            </a:r>
            <a:endParaRPr lang="en-US" sz="1600" b="0" u="none" strike="noStrike" dirty="0">
              <a:solidFill>
                <a:srgbClr val="000000"/>
              </a:solidFill>
              <a:effectLst/>
              <a:uFillTx/>
              <a:latin typeface="Arial"/>
            </a:endParaRPr>
          </a:p>
        </p:txBody>
      </p:sp>
      <p:sp>
        <p:nvSpPr>
          <p:cNvPr id="102" name="TextBox 29"/>
          <p:cNvSpPr/>
          <p:nvPr/>
        </p:nvSpPr>
        <p:spPr>
          <a:xfrm>
            <a:off x="6412680" y="5285160"/>
            <a:ext cx="5184000" cy="7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spcAft>
                <a:spcPts val="220"/>
              </a:spcAft>
            </a:pPr>
            <a:r>
              <a:rPr lang="en-US" sz="1200" b="1" dirty="0">
                <a:solidFill>
                  <a:srgbClr val="1F2937"/>
                </a:solidFill>
                <a:latin typeface="Poppins"/>
              </a:rPr>
              <a:t>Demonstration: </a:t>
            </a:r>
            <a:r>
              <a:rPr lang="en-US" sz="1200" dirty="0">
                <a:solidFill>
                  <a:srgbClr val="4B5563"/>
                </a:solidFill>
                <a:latin typeface="Poppins"/>
              </a:rPr>
              <a:t>Live SOC prediction using different datasets, which simulates real-life conditions.</a:t>
            </a:r>
          </a:p>
          <a:p>
            <a:pPr defTabSz="457200">
              <a:lnSpc>
                <a:spcPct val="100000"/>
              </a:lnSpc>
              <a:spcAft>
                <a:spcPts val="221"/>
              </a:spcAft>
            </a:pPr>
            <a:r>
              <a:rPr lang="en-US" sz="1200" b="1" u="none" strike="noStrike" dirty="0">
                <a:solidFill>
                  <a:srgbClr val="1F2937"/>
                </a:solidFill>
                <a:effectLst/>
                <a:uFillTx/>
                <a:latin typeface="Poppins"/>
              </a:rPr>
              <a:t>Edge Deploy: </a:t>
            </a:r>
            <a:r>
              <a:rPr lang="en-US" sz="1200" b="0" u="none" strike="noStrike" dirty="0">
                <a:solidFill>
                  <a:srgbClr val="4B5563"/>
                </a:solidFill>
                <a:effectLst/>
                <a:uFillTx/>
                <a:latin typeface="Poppins"/>
              </a:rPr>
              <a:t>Pure C firmware parity, INT8 quantization impact, and interactive 6-tab telemetry UI.</a:t>
            </a:r>
            <a:endParaRPr lang="en-US" sz="12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Picture 1" descr="top_bar.png"/>
          <p:cNvPicPr/>
          <p:nvPr/>
        </p:nvPicPr>
        <p:blipFill>
          <a:blip r:embed="rId3"/>
          <a:stretch/>
        </p:blipFill>
        <p:spPr>
          <a:xfrm>
            <a:off x="0" y="0"/>
            <a:ext cx="12191040" cy="72360"/>
          </a:xfrm>
          <a:prstGeom prst="rect">
            <a:avLst/>
          </a:prstGeom>
          <a:noFill/>
          <a:ln w="0">
            <a:noFill/>
          </a:ln>
        </p:spPr>
      </p:pic>
      <p:pic>
        <p:nvPicPr>
          <p:cNvPr id="104" name="Picture 2" descr="amrita_logo.png"/>
          <p:cNvPicPr/>
          <p:nvPr/>
        </p:nvPicPr>
        <p:blipFill>
          <a:blip r:embed="rId4"/>
          <a:stretch/>
        </p:blipFill>
        <p:spPr>
          <a:xfrm>
            <a:off x="9860040" y="201240"/>
            <a:ext cx="2102400" cy="600120"/>
          </a:xfrm>
          <a:prstGeom prst="rect">
            <a:avLst/>
          </a:prstGeom>
          <a:noFill/>
          <a:ln w="0">
            <a:noFill/>
          </a:ln>
        </p:spPr>
      </p:pic>
      <p:sp>
        <p:nvSpPr>
          <p:cNvPr id="105"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Motivation</a:t>
            </a:r>
            <a:endParaRPr lang="en-US" sz="2500" b="0" u="none" strike="noStrike" dirty="0">
              <a:solidFill>
                <a:srgbClr val="000000"/>
              </a:solidFill>
              <a:effectLst/>
              <a:uFillTx/>
              <a:latin typeface="Arial"/>
            </a:endParaRPr>
          </a:p>
        </p:txBody>
      </p:sp>
      <p:sp>
        <p:nvSpPr>
          <p:cNvPr id="106"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07"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3</a:t>
            </a:r>
            <a:endParaRPr lang="en-US" sz="1000" b="0" u="none" strike="noStrike">
              <a:solidFill>
                <a:srgbClr val="000000"/>
              </a:solidFill>
              <a:effectLst/>
              <a:uFillTx/>
              <a:latin typeface="Arial"/>
            </a:endParaRPr>
          </a:p>
        </p:txBody>
      </p:sp>
      <p:sp>
        <p:nvSpPr>
          <p:cNvPr id="108" name="Rounded Rectangle 6"/>
          <p:cNvSpPr/>
          <p:nvPr/>
        </p:nvSpPr>
        <p:spPr>
          <a:xfrm>
            <a:off x="411480" y="1500120"/>
            <a:ext cx="5499720" cy="469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9" name="TextBox 7"/>
          <p:cNvSpPr/>
          <p:nvPr/>
        </p:nvSpPr>
        <p:spPr>
          <a:xfrm>
            <a:off x="1107360" y="1706040"/>
            <a:ext cx="504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The Physical Battery Testing Bottleneck</a:t>
            </a:r>
            <a:endParaRPr lang="en-US" sz="1600" b="0" u="none" strike="noStrike">
              <a:solidFill>
                <a:srgbClr val="000000"/>
              </a:solidFill>
              <a:effectLst/>
              <a:uFillTx/>
              <a:latin typeface="Arial"/>
            </a:endParaRPr>
          </a:p>
        </p:txBody>
      </p:sp>
      <p:sp>
        <p:nvSpPr>
          <p:cNvPr id="110" name="TextBox 8"/>
          <p:cNvSpPr/>
          <p:nvPr/>
        </p:nvSpPr>
        <p:spPr>
          <a:xfrm>
            <a:off x="594360" y="2264040"/>
            <a:ext cx="5133960" cy="330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400" b="1" u="none" strike="noStrike">
                <a:solidFill>
                  <a:schemeClr val="dk1"/>
                </a:solidFill>
                <a:effectLst/>
                <a:uFillTx/>
                <a:latin typeface="Poppins"/>
              </a:rPr>
              <a:t>Laboratory Cycler Expense: </a:t>
            </a:r>
            <a:r>
              <a:rPr lang="en-US" sz="1400" b="0" u="none" strike="noStrike">
                <a:solidFill>
                  <a:srgbClr val="4B5563"/>
                </a:solidFill>
                <a:effectLst/>
                <a:uFillTx/>
                <a:latin typeface="Poppins"/>
              </a:rPr>
              <a:t>Testing physical Li-ion cells requires multi-channel battery cyclers (Arbin/Maccor) costing upwards of $20,000 to $50,000.</a:t>
            </a:r>
            <a:endParaRPr lang="en-US" sz="1400" b="0" u="none" strike="noStrike">
              <a:solidFill>
                <a:srgbClr val="000000"/>
              </a:solidFill>
              <a:effectLst/>
              <a:uFillTx/>
              <a:latin typeface="Arial"/>
            </a:endParaRPr>
          </a:p>
          <a:p>
            <a:pPr defTabSz="457200">
              <a:lnSpc>
                <a:spcPct val="100000"/>
              </a:lnSpc>
              <a:spcAft>
                <a:spcPts val="221"/>
              </a:spcAft>
            </a:pPr>
            <a:r>
              <a:rPr lang="en-US" sz="1400" b="1" u="none" strike="noStrike">
                <a:solidFill>
                  <a:schemeClr val="dk1"/>
                </a:solidFill>
                <a:effectLst/>
                <a:uFillTx/>
                <a:latin typeface="Poppins"/>
              </a:rPr>
              <a:t>Hazardous Degradation: </a:t>
            </a:r>
            <a:r>
              <a:rPr lang="en-US" sz="1400" b="0" u="none" strike="noStrike">
                <a:solidFill>
                  <a:srgbClr val="4B5563"/>
                </a:solidFill>
                <a:effectLst/>
                <a:uFillTx/>
                <a:latin typeface="Poppins"/>
              </a:rPr>
              <a:t>Subjecting physical 18650 cells to overcharge, thermal runaway stress, or continuous high-C cycling risks fire, venting, and permanent cell destruction.</a:t>
            </a:r>
            <a:endParaRPr lang="en-US" sz="1400" b="0" u="none" strike="noStrike">
              <a:solidFill>
                <a:srgbClr val="000000"/>
              </a:solidFill>
              <a:effectLst/>
              <a:uFillTx/>
              <a:latin typeface="Arial"/>
            </a:endParaRPr>
          </a:p>
          <a:p>
            <a:pPr defTabSz="457200">
              <a:lnSpc>
                <a:spcPct val="100000"/>
              </a:lnSpc>
              <a:spcAft>
                <a:spcPts val="221"/>
              </a:spcAft>
            </a:pPr>
            <a:r>
              <a:rPr lang="en-US" sz="1400" b="1" u="none" strike="noStrike">
                <a:solidFill>
                  <a:schemeClr val="dk1"/>
                </a:solidFill>
                <a:effectLst/>
                <a:uFillTx/>
                <a:latin typeface="Poppins"/>
              </a:rPr>
              <a:t>Sensor Degradation in Field: </a:t>
            </a:r>
            <a:r>
              <a:rPr lang="en-US" sz="1400" b="0" u="none" strike="noStrike">
                <a:solidFill>
                  <a:srgbClr val="4B5563"/>
                </a:solidFill>
                <a:effectLst/>
                <a:uFillTx/>
                <a:latin typeface="Poppins"/>
              </a:rPr>
              <a:t>Low-cost embedded BMS microcontrollers face noisy 12-bit SAR ADCs and Hall-effect sensor DC bias, causing conventional integration algorithms to drift uncontrollably.</a:t>
            </a:r>
            <a:endParaRPr lang="en-US" sz="1400" b="0" u="none" strike="noStrike">
              <a:solidFill>
                <a:srgbClr val="000000"/>
              </a:solidFill>
              <a:effectLst/>
              <a:uFillTx/>
              <a:latin typeface="Arial"/>
            </a:endParaRPr>
          </a:p>
          <a:p>
            <a:pPr defTabSz="457200">
              <a:lnSpc>
                <a:spcPct val="100000"/>
              </a:lnSpc>
              <a:spcAft>
                <a:spcPts val="221"/>
              </a:spcAft>
            </a:pPr>
            <a:r>
              <a:rPr lang="en-US" sz="1400" b="1" u="none" strike="noStrike">
                <a:solidFill>
                  <a:schemeClr val="dk1"/>
                </a:solidFill>
                <a:effectLst/>
                <a:uFillTx/>
                <a:latin typeface="Poppins"/>
              </a:rPr>
              <a:t>Safe, Repeatable Digital Twin: </a:t>
            </a:r>
            <a:r>
              <a:rPr lang="en-US" sz="1400" b="0" u="none" strike="noStrike">
                <a:solidFill>
                  <a:srgbClr val="4B5563"/>
                </a:solidFill>
                <a:effectLst/>
                <a:uFillTx/>
                <a:latin typeface="Poppins"/>
              </a:rPr>
              <a:t>A high-fidelity digital twin replays charge and discharge cycles deterministically with zero hardware replacement costs and zero physical hazards</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111" name="Rounded Rectangle 9"/>
          <p:cNvSpPr/>
          <p:nvPr/>
        </p:nvSpPr>
        <p:spPr>
          <a:xfrm>
            <a:off x="6149880" y="1500120"/>
            <a:ext cx="5599800" cy="20995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2" name="TextBox 10"/>
          <p:cNvSpPr/>
          <p:nvPr/>
        </p:nvSpPr>
        <p:spPr>
          <a:xfrm>
            <a:off x="6757200" y="1674360"/>
            <a:ext cx="514260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Scope of the Machine Learning Approach</a:t>
            </a:r>
            <a:endParaRPr lang="en-US" sz="1600" b="0" u="none" strike="noStrike">
              <a:solidFill>
                <a:srgbClr val="000000"/>
              </a:solidFill>
              <a:effectLst/>
              <a:uFillTx/>
              <a:latin typeface="Arial"/>
            </a:endParaRPr>
          </a:p>
        </p:txBody>
      </p:sp>
      <p:sp>
        <p:nvSpPr>
          <p:cNvPr id="113" name="TextBox 11"/>
          <p:cNvSpPr/>
          <p:nvPr/>
        </p:nvSpPr>
        <p:spPr>
          <a:xfrm>
            <a:off x="6332760" y="2127240"/>
            <a:ext cx="5234040" cy="113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Model-Free Mapping: </a:t>
            </a:r>
            <a:r>
              <a:rPr lang="en-US" sz="1200" b="0" u="none" strike="noStrike">
                <a:solidFill>
                  <a:srgbClr val="4B5563"/>
                </a:solidFill>
                <a:effectLst/>
                <a:uFillTx/>
                <a:latin typeface="Poppins"/>
              </a:rPr>
              <a:t>A trained ML model learns the non-linear terminal voltage-to-SOC mapping directly from data, bypassing complex cell-specific electrochemistry equations.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Real Data, Portable Deployment: </a:t>
            </a:r>
            <a:r>
              <a:rPr lang="en-US" sz="1200" b="0" u="none" strike="noStrike">
                <a:solidFill>
                  <a:srgbClr val="4B5563"/>
                </a:solidFill>
                <a:effectLst/>
                <a:uFillTx/>
                <a:latin typeface="Poppins"/>
              </a:rPr>
              <a:t>Trained on real NASA Li-ion cycling data, the identical forward-pass mathematical model compiles into lightweight C firmware for the ESP32 microcontroller.</a:t>
            </a:r>
            <a:endParaRPr lang="en-US" sz="1200" b="0" u="none" strike="noStrike">
              <a:solidFill>
                <a:srgbClr val="000000"/>
              </a:solidFill>
              <a:effectLst/>
              <a:uFillTx/>
              <a:latin typeface="Arial"/>
            </a:endParaRPr>
          </a:p>
        </p:txBody>
      </p:sp>
      <p:pic>
        <p:nvPicPr>
          <p:cNvPr id="114" name="Picture 12" descr="dashboard_screenshot.png"/>
          <p:cNvPicPr/>
          <p:nvPr/>
        </p:nvPicPr>
        <p:blipFill>
          <a:blip r:embed="rId5"/>
          <a:stretch/>
        </p:blipFill>
        <p:spPr>
          <a:xfrm>
            <a:off x="6149880" y="3800160"/>
            <a:ext cx="5599800" cy="2399760"/>
          </a:xfrm>
          <a:prstGeom prst="rect">
            <a:avLst/>
          </a:prstGeom>
          <a:noFill/>
          <a:ln w="0">
            <a:noFill/>
          </a:ln>
        </p:spPr>
      </p:pic>
      <p:pic>
        <p:nvPicPr>
          <p:cNvPr id="115" name="Picture 14"/>
          <p:cNvPicPr/>
          <p:nvPr/>
        </p:nvPicPr>
        <p:blipFill>
          <a:blip r:embed="rId6"/>
          <a:stretch/>
        </p:blipFill>
        <p:spPr>
          <a:xfrm>
            <a:off x="6149880" y="3806640"/>
            <a:ext cx="5599800" cy="242460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Picture 1" descr="top_bar.png"/>
          <p:cNvPicPr/>
          <p:nvPr/>
        </p:nvPicPr>
        <p:blipFill>
          <a:blip r:embed="rId3"/>
          <a:stretch/>
        </p:blipFill>
        <p:spPr>
          <a:xfrm>
            <a:off x="0" y="0"/>
            <a:ext cx="12191040" cy="72360"/>
          </a:xfrm>
          <a:prstGeom prst="rect">
            <a:avLst/>
          </a:prstGeom>
          <a:noFill/>
          <a:ln w="0">
            <a:noFill/>
          </a:ln>
        </p:spPr>
      </p:pic>
      <p:pic>
        <p:nvPicPr>
          <p:cNvPr id="117" name="Picture 2" descr="amrita_logo.png"/>
          <p:cNvPicPr/>
          <p:nvPr/>
        </p:nvPicPr>
        <p:blipFill>
          <a:blip r:embed="rId4"/>
          <a:stretch/>
        </p:blipFill>
        <p:spPr>
          <a:xfrm>
            <a:off x="9860040" y="201240"/>
            <a:ext cx="2102400" cy="600120"/>
          </a:xfrm>
          <a:prstGeom prst="rect">
            <a:avLst/>
          </a:prstGeom>
          <a:noFill/>
          <a:ln w="0">
            <a:noFill/>
          </a:ln>
        </p:spPr>
      </p:pic>
      <p:sp>
        <p:nvSpPr>
          <p:cNvPr id="118"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Introduction</a:t>
            </a:r>
            <a:endParaRPr lang="en-US" sz="2500" b="0" u="none" strike="noStrike" dirty="0">
              <a:solidFill>
                <a:srgbClr val="000000"/>
              </a:solidFill>
              <a:effectLst/>
              <a:uFillTx/>
              <a:latin typeface="Arial"/>
            </a:endParaRPr>
          </a:p>
        </p:txBody>
      </p:sp>
      <p:sp>
        <p:nvSpPr>
          <p:cNvPr id="119"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20"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4</a:t>
            </a:r>
            <a:endParaRPr lang="en-US" sz="1000" b="0" u="none" strike="noStrike">
              <a:solidFill>
                <a:srgbClr val="000000"/>
              </a:solidFill>
              <a:effectLst/>
              <a:uFillTx/>
              <a:latin typeface="Arial"/>
            </a:endParaRPr>
          </a:p>
        </p:txBody>
      </p:sp>
      <p:sp>
        <p:nvSpPr>
          <p:cNvPr id="121" name="Rounded Rectangle 6"/>
          <p:cNvSpPr/>
          <p:nvPr/>
        </p:nvSpPr>
        <p:spPr>
          <a:xfrm>
            <a:off x="411480" y="1479960"/>
            <a:ext cx="11368080" cy="109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2" name="TextBox 7"/>
          <p:cNvSpPr/>
          <p:nvPr/>
        </p:nvSpPr>
        <p:spPr>
          <a:xfrm>
            <a:off x="640080" y="1617120"/>
            <a:ext cx="109108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Broad Domain: Smart BMS &amp; State of Charge (SOC)</a:t>
            </a:r>
            <a:endParaRPr lang="en-US" sz="1600" b="0" u="none" strike="noStrike">
              <a:solidFill>
                <a:srgbClr val="000000"/>
              </a:solidFill>
              <a:effectLst/>
              <a:uFillTx/>
              <a:latin typeface="Arial"/>
            </a:endParaRPr>
          </a:p>
        </p:txBody>
      </p:sp>
      <p:sp>
        <p:nvSpPr>
          <p:cNvPr id="123" name="TextBox 8"/>
          <p:cNvSpPr/>
          <p:nvPr/>
        </p:nvSpPr>
        <p:spPr>
          <a:xfrm>
            <a:off x="594360" y="2065320"/>
            <a:ext cx="11002320" cy="3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Core Functions: </a:t>
            </a:r>
            <a:r>
              <a:rPr lang="en-US" sz="1200" b="0" u="none" strike="noStrike">
                <a:solidFill>
                  <a:srgbClr val="4B5563"/>
                </a:solidFill>
                <a:effectLst/>
                <a:uFillTx/>
                <a:latin typeface="Poppins"/>
              </a:rPr>
              <a:t>Real-time voltage sensing, charge-status detection, closed-loop SOC estimation, and Wi-Fi telemetry.</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Definition: </a:t>
            </a:r>
            <a:r>
              <a:rPr lang="en-US" sz="1200" b="0" u="none" strike="noStrike">
                <a:solidFill>
                  <a:srgbClr val="4B5563"/>
                </a:solidFill>
                <a:effectLst/>
                <a:uFillTx/>
                <a:latin typeface="Poppins"/>
              </a:rPr>
              <a:t>SOC represents remaining available charge percentage relative to nominal capacity: SOC(t) = SOC0 - (1/Cn) ∫ i(t) dt</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124" name="Rounded Rectangle 9"/>
          <p:cNvSpPr/>
          <p:nvPr/>
        </p:nvSpPr>
        <p:spPr>
          <a:xfrm>
            <a:off x="411480" y="2720160"/>
            <a:ext cx="5549760" cy="34995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5" name="TextBox 10"/>
          <p:cNvSpPr/>
          <p:nvPr/>
        </p:nvSpPr>
        <p:spPr>
          <a:xfrm>
            <a:off x="1548720" y="3112200"/>
            <a:ext cx="509256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Non-Linear Battery Dynamics</a:t>
            </a:r>
            <a:endParaRPr lang="en-US" sz="1600" b="0" u="none" strike="noStrike">
              <a:solidFill>
                <a:srgbClr val="000000"/>
              </a:solidFill>
              <a:effectLst/>
              <a:uFillTx/>
              <a:latin typeface="Arial"/>
            </a:endParaRPr>
          </a:p>
        </p:txBody>
      </p:sp>
      <p:sp>
        <p:nvSpPr>
          <p:cNvPr id="126" name="TextBox 11"/>
          <p:cNvSpPr/>
          <p:nvPr/>
        </p:nvSpPr>
        <p:spPr>
          <a:xfrm>
            <a:off x="594360" y="3754800"/>
            <a:ext cx="5184000" cy="171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Thermodynamic OCV Curve: </a:t>
            </a:r>
            <a:r>
              <a:rPr lang="en-US" sz="1200" b="0" u="none" strike="noStrike">
                <a:solidFill>
                  <a:srgbClr val="4B5563"/>
                </a:solidFill>
                <a:effectLst/>
                <a:uFillTx/>
                <a:latin typeface="Poppins"/>
              </a:rPr>
              <a:t>Terminal voltage does not scale linearly with SOC; exhibits steep exponential drop-offs below 20% and above 90%, with an extremely flat plateau in between.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Dynamic Overpotentials: </a:t>
            </a:r>
            <a:r>
              <a:rPr lang="en-US" sz="1200" b="0" u="none" strike="noStrike">
                <a:solidFill>
                  <a:srgbClr val="4B5563"/>
                </a:solidFill>
                <a:effectLst/>
                <a:uFillTx/>
                <a:latin typeface="Poppins"/>
              </a:rPr>
              <a:t>Active current induces instantaneous IR ohmic drop and slow electrochemical charge-transfer polarization, distorting raw terminal voltage readings.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Aging &amp; Temperature Shifts: </a:t>
            </a:r>
            <a:r>
              <a:rPr lang="en-US" sz="1200" b="0" u="none" strike="noStrike">
                <a:solidFill>
                  <a:srgbClr val="4B5563"/>
                </a:solidFill>
                <a:effectLst/>
                <a:uFillTx/>
                <a:latin typeface="Poppins"/>
              </a:rPr>
              <a:t>As the cell degrades, SEI thickening increases internal resistance R0, causing voltage curves to shift dynamically over the battery lifecycle.</a:t>
            </a:r>
            <a:endParaRPr lang="en-US" sz="1200" b="0" u="none" strike="noStrike">
              <a:solidFill>
                <a:srgbClr val="000000"/>
              </a:solidFill>
              <a:effectLst/>
              <a:uFillTx/>
              <a:latin typeface="Arial"/>
            </a:endParaRPr>
          </a:p>
        </p:txBody>
      </p:sp>
      <p:sp>
        <p:nvSpPr>
          <p:cNvPr id="127" name="Rounded Rectangle 12"/>
          <p:cNvSpPr/>
          <p:nvPr/>
        </p:nvSpPr>
        <p:spPr>
          <a:xfrm>
            <a:off x="6230160" y="2720160"/>
            <a:ext cx="5549760" cy="34995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13"/>
          <p:cNvSpPr/>
          <p:nvPr/>
        </p:nvSpPr>
        <p:spPr>
          <a:xfrm>
            <a:off x="7484400" y="3111480"/>
            <a:ext cx="3447105" cy="2458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lang="en-US" sz="1600" b="1" u="none" strike="noStrike" dirty="0">
                <a:solidFill>
                  <a:srgbClr val="831838"/>
                </a:solidFill>
                <a:effectLst/>
                <a:uFillTx/>
                <a:latin typeface="Poppins"/>
              </a:rPr>
              <a:t>Digital Twin Emulation Setup</a:t>
            </a:r>
            <a:endParaRPr lang="en-US" sz="1600" b="0" u="none" strike="noStrike" dirty="0">
              <a:solidFill>
                <a:srgbClr val="000000"/>
              </a:solidFill>
              <a:effectLst/>
              <a:uFillTx/>
              <a:latin typeface="Arial"/>
            </a:endParaRPr>
          </a:p>
        </p:txBody>
      </p:sp>
      <p:sp>
        <p:nvSpPr>
          <p:cNvPr id="129" name="TextBox 14"/>
          <p:cNvSpPr/>
          <p:nvPr/>
        </p:nvSpPr>
        <p:spPr>
          <a:xfrm>
            <a:off x="6413040" y="3729600"/>
            <a:ext cx="5184000" cy="171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Target Battery Cell: </a:t>
            </a:r>
            <a:r>
              <a:rPr lang="en-US" sz="1200" b="0" u="none" strike="noStrike">
                <a:solidFill>
                  <a:srgbClr val="4B5563"/>
                </a:solidFill>
                <a:effectLst/>
                <a:uFillTx/>
                <a:latin typeface="Poppins"/>
              </a:rPr>
              <a:t>Single-cell cylindrical Li-ion battery (3.7V nominal, 18650 form factor), represented by high-precision NASA cycling data.</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The ML Model Engine: </a:t>
            </a:r>
            <a:r>
              <a:rPr lang="en-US" sz="1200" b="0" u="none" strike="noStrike">
                <a:solidFill>
                  <a:srgbClr val="4B5563"/>
                </a:solidFill>
                <a:effectLst/>
                <a:uFillTx/>
                <a:latin typeface="Poppins"/>
              </a:rPr>
              <a:t>An MLP (3-16-1, tanh hidden layer) trained on voltage, current, and smoothed voltage to directly regress SOC without requiring equivalent-circuit parameter matrices.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Virtual Hardware Chain: </a:t>
            </a:r>
            <a:r>
              <a:rPr lang="en-US" sz="1200" b="0" u="none" strike="noStrike">
                <a:solidFill>
                  <a:srgbClr val="4B5563"/>
                </a:solidFill>
                <a:effectLst/>
                <a:uFillTx/>
                <a:latin typeface="Poppins"/>
              </a:rPr>
              <a:t>A virtual ESP32 + TP4056 + 18650 chain replays cell signals, applies ADC quantization noise and DC offset, and streams JSON telemetry to a web dashboard.</a:t>
            </a:r>
            <a:endParaRPr lang="en-US" sz="12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Picture 1" descr="top_bar.png"/>
          <p:cNvPicPr/>
          <p:nvPr/>
        </p:nvPicPr>
        <p:blipFill>
          <a:blip r:embed="rId3"/>
          <a:stretch/>
        </p:blipFill>
        <p:spPr>
          <a:xfrm>
            <a:off x="0" y="0"/>
            <a:ext cx="12191040" cy="72360"/>
          </a:xfrm>
          <a:prstGeom prst="rect">
            <a:avLst/>
          </a:prstGeom>
          <a:noFill/>
          <a:ln w="0">
            <a:noFill/>
          </a:ln>
        </p:spPr>
      </p:pic>
      <p:pic>
        <p:nvPicPr>
          <p:cNvPr id="131" name="Picture 2" descr="amrita_logo.png"/>
          <p:cNvPicPr/>
          <p:nvPr/>
        </p:nvPicPr>
        <p:blipFill>
          <a:blip r:embed="rId4"/>
          <a:stretch/>
        </p:blipFill>
        <p:spPr>
          <a:xfrm>
            <a:off x="9860040" y="201240"/>
            <a:ext cx="2102400" cy="600120"/>
          </a:xfrm>
          <a:prstGeom prst="rect">
            <a:avLst/>
          </a:prstGeom>
          <a:noFill/>
          <a:ln w="0">
            <a:noFill/>
          </a:ln>
        </p:spPr>
      </p:pic>
      <p:sp>
        <p:nvSpPr>
          <p:cNvPr id="132"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State of the Art in Related Area</a:t>
            </a:r>
            <a:endParaRPr lang="en-US" sz="2500" b="0" u="none" strike="noStrike" dirty="0">
              <a:solidFill>
                <a:srgbClr val="000000"/>
              </a:solidFill>
              <a:effectLst/>
              <a:uFillTx/>
              <a:latin typeface="Arial"/>
            </a:endParaRPr>
          </a:p>
        </p:txBody>
      </p:sp>
      <p:sp>
        <p:nvSpPr>
          <p:cNvPr id="133"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34"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5</a:t>
            </a:r>
            <a:endParaRPr lang="en-US" sz="1000" b="0" u="none" strike="noStrike">
              <a:solidFill>
                <a:srgbClr val="000000"/>
              </a:solidFill>
              <a:effectLst/>
              <a:uFillTx/>
              <a:latin typeface="Arial"/>
            </a:endParaRPr>
          </a:p>
        </p:txBody>
      </p:sp>
      <p:graphicFrame>
        <p:nvGraphicFramePr>
          <p:cNvPr id="135" name="Table 6"/>
          <p:cNvGraphicFramePr/>
          <p:nvPr/>
        </p:nvGraphicFramePr>
        <p:xfrm>
          <a:off x="411480" y="1550160"/>
          <a:ext cx="11367720" cy="4460040"/>
        </p:xfrm>
        <a:graphic>
          <a:graphicData uri="http://schemas.openxmlformats.org/drawingml/2006/table">
            <a:tbl>
              <a:tblPr>
                <a:effectLst>
                  <a:outerShdw blurRad="50760" dist="38160" dir="5400000" rotWithShape="0">
                    <a:srgbClr val="000000">
                      <a:alpha val="40000"/>
                    </a:srgbClr>
                  </a:outerShdw>
                </a:effectLst>
              </a:tblPr>
              <a:tblGrid>
                <a:gridCol w="1599840">
                  <a:extLst>
                    <a:ext uri="{9D8B030D-6E8A-4147-A177-3AD203B41FA5}">
                      <a16:colId xmlns:a16="http://schemas.microsoft.com/office/drawing/2014/main" val="20000"/>
                    </a:ext>
                  </a:extLst>
                </a:gridCol>
                <a:gridCol w="3399840">
                  <a:extLst>
                    <a:ext uri="{9D8B030D-6E8A-4147-A177-3AD203B41FA5}">
                      <a16:colId xmlns:a16="http://schemas.microsoft.com/office/drawing/2014/main" val="20001"/>
                    </a:ext>
                  </a:extLst>
                </a:gridCol>
                <a:gridCol w="3799800">
                  <a:extLst>
                    <a:ext uri="{9D8B030D-6E8A-4147-A177-3AD203B41FA5}">
                      <a16:colId xmlns:a16="http://schemas.microsoft.com/office/drawing/2014/main" val="20002"/>
                    </a:ext>
                  </a:extLst>
                </a:gridCol>
                <a:gridCol w="2568240">
                  <a:extLst>
                    <a:ext uri="{9D8B030D-6E8A-4147-A177-3AD203B41FA5}">
                      <a16:colId xmlns:a16="http://schemas.microsoft.com/office/drawing/2014/main" val="20003"/>
                    </a:ext>
                  </a:extLst>
                </a:gridCol>
              </a:tblGrid>
              <a:tr h="694800">
                <a:tc>
                  <a:txBody>
                    <a:bodyPr/>
                    <a:lstStyle/>
                    <a:p>
                      <a:pPr algn="ctr" defTabSz="457200">
                        <a:lnSpc>
                          <a:spcPct val="100000"/>
                        </a:lnSpc>
                      </a:pPr>
                      <a:r>
                        <a:rPr lang="en-US" sz="1600" b="1" u="none" strike="noStrike">
                          <a:solidFill>
                            <a:srgbClr val="FFFFFF"/>
                          </a:solidFill>
                          <a:effectLst/>
                          <a:uFillTx/>
                          <a:latin typeface="Poppins"/>
                        </a:rPr>
                        <a:t>Authors</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600" b="1" u="none" strike="noStrike">
                          <a:solidFill>
                            <a:srgbClr val="FFFFFF"/>
                          </a:solidFill>
                          <a:effectLst/>
                          <a:uFillTx/>
                          <a:latin typeface="Poppins"/>
                        </a:rPr>
                        <a:t>Title &amp; Venue (Year)</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600" b="1" u="none" strike="noStrike">
                          <a:solidFill>
                            <a:srgbClr val="FFFFFF"/>
                          </a:solidFill>
                          <a:effectLst/>
                          <a:uFillTx/>
                          <a:latin typeface="Poppins"/>
                        </a:rPr>
                        <a:t>Key Contributions / Inference</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600" b="1" u="none" strike="noStrike">
                          <a:solidFill>
                            <a:srgbClr val="FFFFFF"/>
                          </a:solidFill>
                          <a:effectLst/>
                          <a:uFillTx/>
                          <a:latin typeface="Poppins"/>
                        </a:rPr>
                        <a:t>Remarks / Trade-offs</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919800">
                <a:tc>
                  <a:txBody>
                    <a:bodyPr/>
                    <a:lstStyle/>
                    <a:p>
                      <a:pPr defTabSz="457200">
                        <a:lnSpc>
                          <a:spcPct val="100000"/>
                        </a:lnSpc>
                      </a:pPr>
                      <a:r>
                        <a:rPr lang="en-US" sz="1200" b="0" u="none" strike="noStrike">
                          <a:solidFill>
                            <a:srgbClr val="831838"/>
                          </a:solidFill>
                          <a:effectLst/>
                          <a:uFillTx/>
                          <a:latin typeface="Poppins"/>
                        </a:rPr>
                        <a:t>Panda et al.</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Enhanced SOC estimation using ML algorithms, Sci. Rep</a:t>
                      </a:r>
                      <a:r>
                        <a:rPr lang="en-US" sz="1200" b="0" u="none" strike="noStrike">
                          <a:solidFill>
                            <a:schemeClr val="dk1"/>
                          </a:solidFill>
                          <a:effectLst/>
                          <a:uFillTx/>
                          <a:latin typeface="Poppins"/>
                        </a:rPr>
                        <a:t>. (2024)</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Compared SVM, Neural Network, Ensemble, and Gaussian Process Regression on real-time driving data.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Gaussian Process Regression gave lowest error, but incurs cubic matrix inversion complexity.</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919800">
                <a:tc>
                  <a:txBody>
                    <a:bodyPr/>
                    <a:lstStyle/>
                    <a:p>
                      <a:pPr defTabSz="457200">
                        <a:lnSpc>
                          <a:spcPct val="100000"/>
                        </a:lnSpc>
                      </a:pPr>
                      <a:r>
                        <a:rPr lang="en-US" sz="1200" b="0" u="none" strike="noStrike">
                          <a:solidFill>
                            <a:srgbClr val="831838"/>
                          </a:solidFill>
                          <a:effectLst/>
                          <a:uFillTx/>
                          <a:latin typeface="Poppins"/>
                        </a:rPr>
                        <a:t>Wang et al.</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High-Fidelity SOC Estimation of Li-Ion Batteries using ML, arXiv (2019)</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Trained feedforward neural network on pulse-injection response data to map directly to SOC.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Demonstrated that dynamic current step response features significantly improve ML accuracy.</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919800">
                <a:tc>
                  <a:txBody>
                    <a:bodyPr/>
                    <a:lstStyle/>
                    <a:p>
                      <a:pPr defTabSz="457200">
                        <a:lnSpc>
                          <a:spcPct val="100000"/>
                        </a:lnSpc>
                      </a:pPr>
                      <a:r>
                        <a:rPr lang="en-US" sz="1200" b="0" u="none" strike="noStrike">
                          <a:solidFill>
                            <a:srgbClr val="831838"/>
                          </a:solidFill>
                          <a:effectLst/>
                          <a:uFillTx/>
                          <a:latin typeface="Poppins"/>
                        </a:rPr>
                        <a:t>Zhang et al.</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SOC Estimation using CNN-Bi-LSTM-AM under Low Temperature, PMC (2024)</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Combined CNN, bidirectional LSTM, and attention mechanism for sequential time-series estimation.</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Achieved MAE of 0.17-0.77%, but requires high-end GPU/TPU accelerators; infeasible for edge MCUs.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919800">
                <a:tc>
                  <a:txBody>
                    <a:bodyPr/>
                    <a:lstStyle/>
                    <a:p>
                      <a:pPr defTabSz="457200">
                        <a:lnSpc>
                          <a:spcPct val="100000"/>
                        </a:lnSpc>
                      </a:pPr>
                      <a:r>
                        <a:rPr lang="en-US" sz="1200" b="0" u="none" strike="noStrike">
                          <a:solidFill>
                            <a:srgbClr val="831838"/>
                          </a:solidFill>
                          <a:effectLst/>
                          <a:uFillTx/>
                          <a:latin typeface="Poppins"/>
                        </a:rPr>
                        <a:t>Yang et al.</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SOC Estimation using Residual CNNs, PMC (2022)</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Stacked multi-variable time-series inputs with residual CNN convolutional blocks to regress SOC.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Deep architecture outperformed classical benchmarks, but requires substantial RAM and MAC operations.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 name="Picture 1" descr="top_bar.png"/>
          <p:cNvPicPr/>
          <p:nvPr/>
        </p:nvPicPr>
        <p:blipFill>
          <a:blip r:embed="rId3"/>
          <a:stretch/>
        </p:blipFill>
        <p:spPr>
          <a:xfrm>
            <a:off x="0" y="0"/>
            <a:ext cx="12191040" cy="72360"/>
          </a:xfrm>
          <a:prstGeom prst="rect">
            <a:avLst/>
          </a:prstGeom>
          <a:noFill/>
          <a:ln w="0">
            <a:noFill/>
          </a:ln>
        </p:spPr>
      </p:pic>
      <p:pic>
        <p:nvPicPr>
          <p:cNvPr id="137" name="Picture 2" descr="amrita_logo.png"/>
          <p:cNvPicPr/>
          <p:nvPr/>
        </p:nvPicPr>
        <p:blipFill>
          <a:blip r:embed="rId4"/>
          <a:stretch/>
        </p:blipFill>
        <p:spPr>
          <a:xfrm>
            <a:off x="9860040" y="201240"/>
            <a:ext cx="2102400" cy="600120"/>
          </a:xfrm>
          <a:prstGeom prst="rect">
            <a:avLst/>
          </a:prstGeom>
          <a:noFill/>
          <a:ln w="0">
            <a:noFill/>
          </a:ln>
        </p:spPr>
      </p:pic>
      <p:sp>
        <p:nvSpPr>
          <p:cNvPr id="138"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Literature Review: Classical Methods</a:t>
            </a:r>
            <a:endParaRPr lang="en-US" sz="2500" b="0" u="none" strike="noStrike" dirty="0">
              <a:solidFill>
                <a:srgbClr val="000000"/>
              </a:solidFill>
              <a:effectLst/>
              <a:uFillTx/>
              <a:latin typeface="Arial"/>
            </a:endParaRPr>
          </a:p>
        </p:txBody>
      </p:sp>
      <p:sp>
        <p:nvSpPr>
          <p:cNvPr id="139"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40"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6</a:t>
            </a:r>
            <a:endParaRPr lang="en-US" sz="1000" b="0" u="none" strike="noStrike">
              <a:solidFill>
                <a:srgbClr val="000000"/>
              </a:solidFill>
              <a:effectLst/>
              <a:uFillTx/>
              <a:latin typeface="Arial"/>
            </a:endParaRPr>
          </a:p>
        </p:txBody>
      </p:sp>
      <p:sp>
        <p:nvSpPr>
          <p:cNvPr id="141" name="Rounded Rectangle 6"/>
          <p:cNvSpPr/>
          <p:nvPr/>
        </p:nvSpPr>
        <p:spPr>
          <a:xfrm>
            <a:off x="411480" y="1519920"/>
            <a:ext cx="36111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2" name="Rounded Rectangle 7"/>
          <p:cNvSpPr/>
          <p:nvPr/>
        </p:nvSpPr>
        <p:spPr>
          <a:xfrm>
            <a:off x="596520" y="176004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1</a:t>
            </a:r>
            <a:endParaRPr lang="en-US" sz="1300" b="0" u="none" strike="noStrike">
              <a:solidFill>
                <a:srgbClr val="000000"/>
              </a:solidFill>
              <a:effectLst/>
              <a:uFillTx/>
              <a:latin typeface="Arial"/>
            </a:endParaRPr>
          </a:p>
        </p:txBody>
      </p:sp>
      <p:sp>
        <p:nvSpPr>
          <p:cNvPr id="143" name="TextBox 8"/>
          <p:cNvSpPr/>
          <p:nvPr/>
        </p:nvSpPr>
        <p:spPr>
          <a:xfrm>
            <a:off x="1280160" y="170568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831838"/>
                </a:solidFill>
                <a:effectLst/>
                <a:uFillTx/>
                <a:latin typeface="Poppins"/>
              </a:rPr>
              <a:t> </a:t>
            </a:r>
            <a:r>
              <a:rPr lang="en-US" sz="1600" b="1" u="none" strike="noStrike">
                <a:solidFill>
                  <a:srgbClr val="831838"/>
                </a:solidFill>
                <a:effectLst/>
                <a:uFillTx/>
                <a:latin typeface="Poppins"/>
              </a:rPr>
              <a:t>Coulomb Counting </a:t>
            </a:r>
            <a:endParaRPr lang="en-US" sz="1600" b="0" u="none" strike="noStrike">
              <a:solidFill>
                <a:srgbClr val="000000"/>
              </a:solidFill>
              <a:effectLst/>
              <a:uFillTx/>
              <a:latin typeface="Arial"/>
            </a:endParaRPr>
          </a:p>
          <a:p>
            <a:pPr defTabSz="457200">
              <a:lnSpc>
                <a:spcPct val="100000"/>
              </a:lnSpc>
            </a:pPr>
            <a:r>
              <a:rPr lang="en-US" sz="1600" b="1" u="none" strike="noStrike">
                <a:solidFill>
                  <a:srgbClr val="831838"/>
                </a:solidFill>
                <a:effectLst/>
                <a:uFillTx/>
                <a:latin typeface="Poppins"/>
              </a:rPr>
              <a:t>(Ah-Integration)</a:t>
            </a:r>
            <a:endParaRPr lang="en-US" sz="1600" b="0" u="none" strike="noStrike">
              <a:solidFill>
                <a:srgbClr val="000000"/>
              </a:solidFill>
              <a:effectLst/>
              <a:uFillTx/>
              <a:latin typeface="Arial"/>
            </a:endParaRPr>
          </a:p>
        </p:txBody>
      </p:sp>
      <p:sp>
        <p:nvSpPr>
          <p:cNvPr id="144" name="TextBox 9"/>
          <p:cNvSpPr/>
          <p:nvPr/>
        </p:nvSpPr>
        <p:spPr>
          <a:xfrm>
            <a:off x="596520" y="2546640"/>
            <a:ext cx="3245400" cy="284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Mathematical Principle: </a:t>
            </a:r>
            <a:r>
              <a:rPr lang="en-US" sz="1200" b="0" u="none" strike="noStrike">
                <a:solidFill>
                  <a:srgbClr val="4B5563"/>
                </a:solidFill>
                <a:effectLst/>
                <a:uFillTx/>
                <a:latin typeface="Poppins"/>
              </a:rPr>
              <a:t>Integrates load current over time: SOC(t) = SOC0 - (1/Cn) ∫ i(τ) dτ.</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Pros: </a:t>
            </a:r>
            <a:r>
              <a:rPr lang="en-US" sz="1200" b="0" u="none" strike="noStrike">
                <a:solidFill>
                  <a:srgbClr val="4B5563"/>
                </a:solidFill>
                <a:effectLst/>
                <a:uFillTx/>
                <a:latin typeface="Poppins"/>
              </a:rPr>
              <a:t>Very simple mathematical implementation; minimal computational footprint (1.10 µs on MCU); zero electrochemical cell modeling required.</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Cons: </a:t>
            </a:r>
            <a:r>
              <a:rPr lang="en-US" sz="1200" b="0" u="none" strike="noStrike">
                <a:solidFill>
                  <a:srgbClr val="4B5563"/>
                </a:solidFill>
                <a:effectLst/>
                <a:uFillTx/>
                <a:latin typeface="Poppins"/>
              </a:rPr>
              <a:t>Open-loop integration means current sensor noise and DC bias accumulate indefinitely over time.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Fatal Bottleneck: </a:t>
            </a:r>
            <a:r>
              <a:rPr lang="en-US" sz="1200" b="0" u="none" strike="noStrike">
                <a:solidFill>
                  <a:srgbClr val="4B5563"/>
                </a:solidFill>
                <a:effectLst/>
                <a:uFillTx/>
                <a:latin typeface="Poppins"/>
              </a:rPr>
              <a:t>Requires exact knowledge of initial SOC0. If initialized with a 10% error, Coulomb Counting error explodes to 11.23% MAE with no self-correcting feedback mechanism.</a:t>
            </a:r>
            <a:endParaRPr lang="en-US" sz="1200" b="0" u="none" strike="noStrike">
              <a:solidFill>
                <a:srgbClr val="000000"/>
              </a:solidFill>
              <a:effectLst/>
              <a:uFillTx/>
              <a:latin typeface="Arial"/>
            </a:endParaRPr>
          </a:p>
        </p:txBody>
      </p:sp>
      <p:sp>
        <p:nvSpPr>
          <p:cNvPr id="145" name="Rounded Rectangle 10"/>
          <p:cNvSpPr/>
          <p:nvPr/>
        </p:nvSpPr>
        <p:spPr>
          <a:xfrm>
            <a:off x="4289400" y="1519920"/>
            <a:ext cx="36111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6" name="Rounded Rectangle 11"/>
          <p:cNvSpPr/>
          <p:nvPr/>
        </p:nvSpPr>
        <p:spPr>
          <a:xfrm>
            <a:off x="4472280" y="17539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2</a:t>
            </a:r>
            <a:endParaRPr lang="en-US" sz="1300" b="0" u="none" strike="noStrike">
              <a:solidFill>
                <a:srgbClr val="000000"/>
              </a:solidFill>
              <a:effectLst/>
              <a:uFillTx/>
              <a:latin typeface="Arial"/>
            </a:endParaRPr>
          </a:p>
        </p:txBody>
      </p:sp>
      <p:sp>
        <p:nvSpPr>
          <p:cNvPr id="147" name="TextBox 12"/>
          <p:cNvSpPr/>
          <p:nvPr/>
        </p:nvSpPr>
        <p:spPr>
          <a:xfrm>
            <a:off x="5104080" y="169992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Open Circuit Voltage </a:t>
            </a:r>
            <a:endParaRPr lang="en-US" sz="1600" b="0" u="none" strike="noStrike">
              <a:solidFill>
                <a:srgbClr val="000000"/>
              </a:solidFill>
              <a:effectLst/>
              <a:uFillTx/>
              <a:latin typeface="Arial"/>
            </a:endParaRPr>
          </a:p>
          <a:p>
            <a:pPr defTabSz="457200">
              <a:lnSpc>
                <a:spcPct val="100000"/>
              </a:lnSpc>
            </a:pPr>
            <a:r>
              <a:rPr lang="en-US" sz="1600" b="1" u="none" strike="noStrike">
                <a:solidFill>
                  <a:srgbClr val="831838"/>
                </a:solidFill>
                <a:effectLst/>
                <a:uFillTx/>
                <a:latin typeface="Poppins"/>
              </a:rPr>
              <a:t>(OCV Lookup)</a:t>
            </a:r>
            <a:endParaRPr lang="en-US" sz="1600" b="0" u="none" strike="noStrike">
              <a:solidFill>
                <a:srgbClr val="000000"/>
              </a:solidFill>
              <a:effectLst/>
              <a:uFillTx/>
              <a:latin typeface="Arial"/>
            </a:endParaRPr>
          </a:p>
        </p:txBody>
      </p:sp>
      <p:sp>
        <p:nvSpPr>
          <p:cNvPr id="148" name="TextBox 13"/>
          <p:cNvSpPr/>
          <p:nvPr/>
        </p:nvSpPr>
        <p:spPr>
          <a:xfrm>
            <a:off x="4472280" y="2551680"/>
            <a:ext cx="3245400" cy="284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Mathematical Principle: </a:t>
            </a:r>
            <a:r>
              <a:rPr lang="en-US" sz="1200" b="0" u="none" strike="noStrike">
                <a:solidFill>
                  <a:srgbClr val="4B5563"/>
                </a:solidFill>
                <a:effectLst/>
                <a:uFillTx/>
                <a:latin typeface="Poppins"/>
              </a:rPr>
              <a:t>Inverts static thermodynamic equilibrium relationship: SOC = f_OCV^-1(V_oc).</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Pros: </a:t>
            </a:r>
            <a:r>
              <a:rPr lang="en-US" sz="1200" b="0" u="none" strike="noStrike">
                <a:solidFill>
                  <a:srgbClr val="4B5563"/>
                </a:solidFill>
                <a:effectLst/>
                <a:uFillTx/>
                <a:latin typeface="Poppins"/>
              </a:rPr>
              <a:t>Extremely accurate when battery is at true chemical equilibrium; zero sensor bias accumulation over time.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Cons: </a:t>
            </a:r>
            <a:r>
              <a:rPr lang="en-US" sz="1200" b="0" u="none" strike="noStrike">
                <a:solidFill>
                  <a:srgbClr val="4B5563"/>
                </a:solidFill>
                <a:effectLst/>
                <a:uFillTx/>
                <a:latin typeface="Poppins"/>
              </a:rPr>
              <a:t>Completely unusable during active dynamic operation due to load-induced IR ohmic voltage drop and diffusion polarization.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Fatal Bottleneck: </a:t>
            </a:r>
            <a:r>
              <a:rPr lang="en-US" sz="1200" b="0" u="none" strike="noStrike">
                <a:solidFill>
                  <a:srgbClr val="4B5563"/>
                </a:solidFill>
                <a:effectLst/>
                <a:uFillTx/>
                <a:latin typeface="Poppins"/>
              </a:rPr>
              <a:t>Demands hours of resting time (3 to 6 hours) for terminal voltage relaxation before accurate OCV readings can be acquired; impractical for active driving.</a:t>
            </a:r>
            <a:endParaRPr lang="en-US" sz="1200" b="0" u="none" strike="noStrike">
              <a:solidFill>
                <a:srgbClr val="000000"/>
              </a:solidFill>
              <a:effectLst/>
              <a:uFillTx/>
              <a:latin typeface="Arial"/>
            </a:endParaRPr>
          </a:p>
        </p:txBody>
      </p:sp>
      <p:sp>
        <p:nvSpPr>
          <p:cNvPr id="149" name="Rounded Rectangle 14"/>
          <p:cNvSpPr/>
          <p:nvPr/>
        </p:nvSpPr>
        <p:spPr>
          <a:xfrm>
            <a:off x="8166960" y="1519920"/>
            <a:ext cx="36111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0" name="Rounded Rectangle 15"/>
          <p:cNvSpPr/>
          <p:nvPr/>
        </p:nvSpPr>
        <p:spPr>
          <a:xfrm>
            <a:off x="8349840" y="176004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3</a:t>
            </a:r>
            <a:endParaRPr lang="en-US" sz="1300" b="0" u="none" strike="noStrike">
              <a:solidFill>
                <a:srgbClr val="000000"/>
              </a:solidFill>
              <a:effectLst/>
              <a:uFillTx/>
              <a:latin typeface="Arial"/>
            </a:endParaRPr>
          </a:p>
        </p:txBody>
      </p:sp>
      <p:sp>
        <p:nvSpPr>
          <p:cNvPr id="151" name="TextBox 16"/>
          <p:cNvSpPr/>
          <p:nvPr/>
        </p:nvSpPr>
        <p:spPr>
          <a:xfrm>
            <a:off x="8945640" y="169848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831838"/>
                </a:solidFill>
                <a:effectLst/>
                <a:uFillTx/>
                <a:latin typeface="Poppins"/>
              </a:rPr>
              <a:t> </a:t>
            </a:r>
            <a:r>
              <a:rPr lang="en-US" sz="1600" b="1" u="none" strike="noStrike">
                <a:solidFill>
                  <a:srgbClr val="831838"/>
                </a:solidFill>
                <a:effectLst/>
                <a:uFillTx/>
                <a:latin typeface="Poppins"/>
              </a:rPr>
              <a:t>Model-Based </a:t>
            </a:r>
            <a:endParaRPr lang="en-US" sz="1600" b="0" u="none" strike="noStrike">
              <a:solidFill>
                <a:srgbClr val="000000"/>
              </a:solidFill>
              <a:effectLst/>
              <a:uFillTx/>
              <a:latin typeface="Arial"/>
            </a:endParaRPr>
          </a:p>
          <a:p>
            <a:pPr defTabSz="457200">
              <a:lnSpc>
                <a:spcPct val="100000"/>
              </a:lnSpc>
            </a:pPr>
            <a:r>
              <a:rPr lang="en-US" sz="1600" b="1" u="none" strike="noStrike">
                <a:solidFill>
                  <a:srgbClr val="831838"/>
                </a:solidFill>
                <a:effectLst/>
                <a:uFillTx/>
                <a:latin typeface="Poppins"/>
              </a:rPr>
              <a:t>(Kalman Filters / ECM)</a:t>
            </a:r>
            <a:endParaRPr lang="en-US" sz="1600" b="0" u="none" strike="noStrike">
              <a:solidFill>
                <a:srgbClr val="000000"/>
              </a:solidFill>
              <a:effectLst/>
              <a:uFillTx/>
              <a:latin typeface="Arial"/>
            </a:endParaRPr>
          </a:p>
        </p:txBody>
      </p:sp>
      <p:sp>
        <p:nvSpPr>
          <p:cNvPr id="152" name="TextBox 17"/>
          <p:cNvSpPr/>
          <p:nvPr/>
        </p:nvSpPr>
        <p:spPr>
          <a:xfrm>
            <a:off x="8349840" y="2551680"/>
            <a:ext cx="3245400" cy="303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Mathematical Principle: </a:t>
            </a:r>
            <a:r>
              <a:rPr lang="en-US" sz="1200" b="0" u="none" strike="noStrike">
                <a:solidFill>
                  <a:srgbClr val="4B5563"/>
                </a:solidFill>
                <a:effectLst/>
                <a:uFillTx/>
                <a:latin typeface="Poppins"/>
              </a:rPr>
              <a:t>State-space observer using Thevenin 1-RC equivalent circuit model (EKF / SPKF) with covariance updates.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Pros: </a:t>
            </a:r>
            <a:r>
              <a:rPr lang="en-US" sz="1200" b="0" u="none" strike="noStrike">
                <a:solidFill>
                  <a:srgbClr val="4B5563"/>
                </a:solidFill>
                <a:effectLst/>
                <a:uFillTx/>
                <a:latin typeface="Poppins"/>
              </a:rPr>
              <a:t>Closed-loop observer feedback; dynamically tracks internal RC polarization and provides theoretical error covariance bounds.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Cons: </a:t>
            </a:r>
            <a:r>
              <a:rPr lang="en-US" sz="1200" b="0" u="none" strike="noStrike">
                <a:solidFill>
                  <a:srgbClr val="4B5563"/>
                </a:solidFill>
                <a:effectLst/>
                <a:uFillTx/>
                <a:latin typeface="Poppins"/>
              </a:rPr>
              <a:t>Demands intensive laboratory parameter identification (R0, R1, C1 across temperature and SOC levels); high matrix inversion overhead (42-118 µs on MCU).</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Fatal Bottleneck: </a:t>
            </a:r>
            <a:r>
              <a:rPr lang="en-US" sz="1200" b="0" u="none" strike="noStrike">
                <a:solidFill>
                  <a:srgbClr val="4B5563"/>
                </a:solidFill>
                <a:effectLst/>
                <a:uFillTx/>
                <a:latin typeface="Poppins"/>
              </a:rPr>
              <a:t>State transition equation relies on Coulomb counting; under steady DC current sensor bias (+30 mA), Kalman state estimates drift steadily (6.02% MAE).</a:t>
            </a:r>
            <a:endParaRPr lang="en-US"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 name="Picture 1" descr="top_bar.png"/>
          <p:cNvPicPr/>
          <p:nvPr/>
        </p:nvPicPr>
        <p:blipFill>
          <a:blip r:embed="rId3"/>
          <a:stretch/>
        </p:blipFill>
        <p:spPr>
          <a:xfrm>
            <a:off x="0" y="0"/>
            <a:ext cx="12191040" cy="72360"/>
          </a:xfrm>
          <a:prstGeom prst="rect">
            <a:avLst/>
          </a:prstGeom>
          <a:noFill/>
          <a:ln w="0">
            <a:noFill/>
          </a:ln>
        </p:spPr>
      </p:pic>
      <p:pic>
        <p:nvPicPr>
          <p:cNvPr id="154" name="Picture 2" descr="amrita_logo.png"/>
          <p:cNvPicPr/>
          <p:nvPr/>
        </p:nvPicPr>
        <p:blipFill>
          <a:blip r:embed="rId4"/>
          <a:stretch/>
        </p:blipFill>
        <p:spPr>
          <a:xfrm>
            <a:off x="9860040" y="201240"/>
            <a:ext cx="2102400" cy="600120"/>
          </a:xfrm>
          <a:prstGeom prst="rect">
            <a:avLst/>
          </a:prstGeom>
          <a:noFill/>
          <a:ln w="0">
            <a:noFill/>
          </a:ln>
        </p:spPr>
      </p:pic>
      <p:sp>
        <p:nvSpPr>
          <p:cNvPr id="155"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Literature Review: AI &amp; Hybrid Frameworks</a:t>
            </a:r>
            <a:endParaRPr lang="en-US" sz="2500" b="0" u="none" strike="noStrike" dirty="0">
              <a:solidFill>
                <a:srgbClr val="000000"/>
              </a:solidFill>
              <a:effectLst/>
              <a:uFillTx/>
              <a:latin typeface="Arial"/>
            </a:endParaRPr>
          </a:p>
        </p:txBody>
      </p:sp>
      <p:sp>
        <p:nvSpPr>
          <p:cNvPr id="156"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57"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7</a:t>
            </a:r>
            <a:endParaRPr lang="en-US" sz="1000" b="0" u="none" strike="noStrike">
              <a:solidFill>
                <a:srgbClr val="000000"/>
              </a:solidFill>
              <a:effectLst/>
              <a:uFillTx/>
              <a:latin typeface="Arial"/>
            </a:endParaRPr>
          </a:p>
        </p:txBody>
      </p:sp>
      <p:sp>
        <p:nvSpPr>
          <p:cNvPr id="158" name="Rounded Rectangle 6"/>
          <p:cNvSpPr/>
          <p:nvPr/>
        </p:nvSpPr>
        <p:spPr>
          <a:xfrm>
            <a:off x="411480" y="15199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9" name="Rounded Rectangle 7"/>
          <p:cNvSpPr/>
          <p:nvPr/>
        </p:nvSpPr>
        <p:spPr>
          <a:xfrm>
            <a:off x="762120" y="176616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4</a:t>
            </a:r>
            <a:endParaRPr lang="en-US" sz="1300" b="0" u="none" strike="noStrike">
              <a:solidFill>
                <a:srgbClr val="000000"/>
              </a:solidFill>
              <a:effectLst/>
              <a:uFillTx/>
              <a:latin typeface="Arial"/>
            </a:endParaRPr>
          </a:p>
        </p:txBody>
      </p:sp>
      <p:sp>
        <p:nvSpPr>
          <p:cNvPr id="160" name="TextBox 8"/>
          <p:cNvSpPr/>
          <p:nvPr/>
        </p:nvSpPr>
        <p:spPr>
          <a:xfrm>
            <a:off x="1420560" y="183492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Machine Learning / AI Approaches</a:t>
            </a:r>
            <a:endParaRPr lang="en-US" sz="1600" b="0" u="none" strike="noStrike">
              <a:solidFill>
                <a:srgbClr val="000000"/>
              </a:solidFill>
              <a:effectLst/>
              <a:uFillTx/>
              <a:latin typeface="Arial"/>
            </a:endParaRPr>
          </a:p>
        </p:txBody>
      </p:sp>
      <p:sp>
        <p:nvSpPr>
          <p:cNvPr id="161" name="TextBox 9"/>
          <p:cNvSpPr/>
          <p:nvPr/>
        </p:nvSpPr>
        <p:spPr>
          <a:xfrm>
            <a:off x="594360" y="2382840"/>
            <a:ext cx="5184000" cy="326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Architecture Diversity: </a:t>
            </a:r>
            <a:r>
              <a:rPr lang="en-US" sz="1200" b="0" u="none" strike="noStrike">
                <a:solidFill>
                  <a:srgbClr val="4B5563"/>
                </a:solidFill>
                <a:effectLst/>
                <a:uFillTx/>
                <a:latin typeface="Poppins"/>
              </a:rPr>
              <a:t>Data-driven non-linear mapping from operational sensor measurements directly to battery states.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LSTM (Long Short-Term Memory): </a:t>
            </a:r>
            <a:r>
              <a:rPr lang="en-US" sz="1200" b="0" u="none" strike="noStrike">
                <a:solidFill>
                  <a:srgbClr val="4B5563"/>
                </a:solidFill>
                <a:effectLst/>
                <a:uFillTx/>
                <a:latin typeface="Poppins"/>
              </a:rPr>
              <a:t>Recurrent neural network with gating cells; excels at learning long-term temporal degradation patterns from dynamic time-series sequences.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Random Forest / Gradient Boosting: </a:t>
            </a:r>
            <a:r>
              <a:rPr lang="en-US" sz="1200" b="0" u="none" strike="noStrike">
                <a:solidFill>
                  <a:srgbClr val="4B5563"/>
                </a:solidFill>
                <a:effectLst/>
                <a:uFillTx/>
                <a:latin typeface="Poppins"/>
              </a:rPr>
              <a:t>Decision tree ensembles; captures non-linear orthogonal splits of statistical features → SOH and tabular SOC estimation.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Neural Networks (MLP / CNN): </a:t>
            </a:r>
            <a:r>
              <a:rPr lang="en-US" sz="1200" b="0" u="none" strike="noStrike">
                <a:solidFill>
                  <a:srgbClr val="4B5563"/>
                </a:solidFill>
                <a:effectLst/>
                <a:uFillTx/>
                <a:latin typeface="Poppins"/>
              </a:rPr>
              <a:t>End-to-end multi-variable mapping directly on voltage, current, temperature, and cycle count; smooth non-linear activation functions.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Pros: </a:t>
            </a:r>
            <a:r>
              <a:rPr lang="en-US" sz="1200" b="0" u="none" strike="noStrike">
                <a:solidFill>
                  <a:srgbClr val="4B5563"/>
                </a:solidFill>
                <a:effectLst/>
                <a:uFillTx/>
                <a:latin typeface="Poppins"/>
              </a:rPr>
              <a:t>Completely model-free; captures multi-physics electrochemical degradation and temperature shifts without requiring laboratory cell equations.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Cons: </a:t>
            </a:r>
            <a:r>
              <a:rPr lang="en-US" sz="1200" b="0" u="none" strike="noStrike">
                <a:solidFill>
                  <a:srgbClr val="4B5563"/>
                </a:solidFill>
                <a:effectLst/>
                <a:uFillTx/>
                <a:latin typeface="Poppins"/>
              </a:rPr>
              <a:t>Requires large labeled training datasets; high computational/memory overhead for complex models on embedded microcontrollers.</a:t>
            </a:r>
            <a:endParaRPr lang="en-US" sz="1200" b="0" u="none" strike="noStrike">
              <a:solidFill>
                <a:srgbClr val="000000"/>
              </a:solidFill>
              <a:effectLst/>
              <a:uFillTx/>
              <a:latin typeface="Arial"/>
            </a:endParaRPr>
          </a:p>
        </p:txBody>
      </p:sp>
      <p:sp>
        <p:nvSpPr>
          <p:cNvPr id="162" name="Rounded Rectangle 10"/>
          <p:cNvSpPr/>
          <p:nvPr/>
        </p:nvSpPr>
        <p:spPr>
          <a:xfrm>
            <a:off x="6230160" y="15199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3" name="Rounded Rectangle 11"/>
          <p:cNvSpPr/>
          <p:nvPr/>
        </p:nvSpPr>
        <p:spPr>
          <a:xfrm>
            <a:off x="6519240" y="176616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5</a:t>
            </a:r>
            <a:endParaRPr lang="en-US" sz="1300" b="0" u="none" strike="noStrike">
              <a:solidFill>
                <a:srgbClr val="000000"/>
              </a:solidFill>
              <a:effectLst/>
              <a:uFillTx/>
              <a:latin typeface="Arial"/>
            </a:endParaRPr>
          </a:p>
        </p:txBody>
      </p:sp>
      <p:sp>
        <p:nvSpPr>
          <p:cNvPr id="164" name="TextBox 12"/>
          <p:cNvSpPr/>
          <p:nvPr/>
        </p:nvSpPr>
        <p:spPr>
          <a:xfrm>
            <a:off x="7171920" y="183492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Hybrid Methods (Industry Standard)</a:t>
            </a:r>
            <a:endParaRPr lang="en-US" sz="1600" b="0" u="none" strike="noStrike">
              <a:solidFill>
                <a:srgbClr val="000000"/>
              </a:solidFill>
              <a:effectLst/>
              <a:uFillTx/>
              <a:latin typeface="Arial"/>
            </a:endParaRPr>
          </a:p>
        </p:txBody>
      </p:sp>
      <p:sp>
        <p:nvSpPr>
          <p:cNvPr id="165" name="TextBox 13"/>
          <p:cNvSpPr/>
          <p:nvPr/>
        </p:nvSpPr>
        <p:spPr>
          <a:xfrm>
            <a:off x="6394680" y="2368080"/>
            <a:ext cx="5184000" cy="326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Core Architectural Concept: </a:t>
            </a:r>
            <a:r>
              <a:rPr lang="en-US" sz="1200" b="0" u="none" strike="noStrike">
                <a:solidFill>
                  <a:srgbClr val="4B5563"/>
                </a:solidFill>
                <a:effectLst/>
                <a:uFillTx/>
                <a:latin typeface="Poppins"/>
              </a:rPr>
              <a:t>Combines two or more complementary physics-based and data-driven methodologies to eliminate individual weaknesses: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Capacity + EIS: </a:t>
            </a:r>
            <a:r>
              <a:rPr lang="en-US" sz="1200" b="0" u="none" strike="noStrike">
                <a:solidFill>
                  <a:srgbClr val="4B5563"/>
                </a:solidFill>
                <a:effectLst/>
                <a:uFillTx/>
                <a:latin typeface="Poppins"/>
              </a:rPr>
              <a:t>Periodic Electrochemical Impedance Spectroscopy (EIS) across high-frequency AC perturbation paired with continuous Ah capacity tracking.</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Model-Based + ML: </a:t>
            </a:r>
            <a:r>
              <a:rPr lang="en-US" sz="1200" b="0" u="none" strike="noStrike">
                <a:solidFill>
                  <a:srgbClr val="4B5563"/>
                </a:solidFill>
                <a:effectLst/>
                <a:uFillTx/>
                <a:latin typeface="Poppins"/>
              </a:rPr>
              <a:t>Physical Kalman filter (EKF/SPKF) acts as the primary state observer, while a neural network correction layer learns residual non-linear modeling errors.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ICA + ML: </a:t>
            </a:r>
            <a:r>
              <a:rPr lang="en-US" sz="1200" b="0" u="none" strike="noStrike">
                <a:solidFill>
                  <a:srgbClr val="4B5563"/>
                </a:solidFill>
                <a:effectLst/>
                <a:uFillTx/>
                <a:latin typeface="Poppins"/>
              </a:rPr>
              <a:t>Incremental Capacity Analysis (dQ/dV peak feature extraction) paired with ML regression algorithms for precise State of Health (SOH) degradation estimation.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Industry Advantage: </a:t>
            </a:r>
            <a:r>
              <a:rPr lang="en-US" sz="1200" b="0" u="none" strike="noStrike">
                <a:solidFill>
                  <a:srgbClr val="4B5563"/>
                </a:solidFill>
                <a:effectLst/>
                <a:uFillTx/>
                <a:latin typeface="Poppins"/>
              </a:rPr>
              <a:t>Guarantees physical safety boundaries via ECM physics while harnessing ML adaptability for complex unmodeled aging effects.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Implementation Trade-off: </a:t>
            </a:r>
            <a:r>
              <a:rPr lang="en-US" sz="1200" b="0" u="none" strike="noStrike">
                <a:solidFill>
                  <a:srgbClr val="4B5563"/>
                </a:solidFill>
                <a:effectLst/>
                <a:uFillTx/>
                <a:latin typeface="Poppins"/>
              </a:rPr>
              <a:t>Demands complex high-frequency AC excitation circuitry and multi-parameter joint calibration overhead.</a:t>
            </a:r>
            <a:endParaRPr lang="en-US" sz="12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 name="Picture 1" descr="top_bar.png"/>
          <p:cNvPicPr/>
          <p:nvPr/>
        </p:nvPicPr>
        <p:blipFill>
          <a:blip r:embed="rId3"/>
          <a:stretch/>
        </p:blipFill>
        <p:spPr>
          <a:xfrm>
            <a:off x="0" y="0"/>
            <a:ext cx="12191040" cy="72360"/>
          </a:xfrm>
          <a:prstGeom prst="rect">
            <a:avLst/>
          </a:prstGeom>
          <a:noFill/>
          <a:ln w="0">
            <a:noFill/>
          </a:ln>
        </p:spPr>
      </p:pic>
      <p:pic>
        <p:nvPicPr>
          <p:cNvPr id="167" name="Picture 2" descr="amrita_logo.png"/>
          <p:cNvPicPr/>
          <p:nvPr/>
        </p:nvPicPr>
        <p:blipFill>
          <a:blip r:embed="rId4"/>
          <a:stretch/>
        </p:blipFill>
        <p:spPr>
          <a:xfrm>
            <a:off x="9860040" y="201240"/>
            <a:ext cx="2102400" cy="600120"/>
          </a:xfrm>
          <a:prstGeom prst="rect">
            <a:avLst/>
          </a:prstGeom>
          <a:noFill/>
          <a:ln w="0">
            <a:noFill/>
          </a:ln>
        </p:spPr>
      </p:pic>
      <p:sp>
        <p:nvSpPr>
          <p:cNvPr id="168"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Project Objective</a:t>
            </a:r>
            <a:endParaRPr lang="en-US" sz="2500" b="0" u="none" strike="noStrike" dirty="0">
              <a:solidFill>
                <a:srgbClr val="000000"/>
              </a:solidFill>
              <a:effectLst/>
              <a:uFillTx/>
              <a:latin typeface="Arial"/>
            </a:endParaRPr>
          </a:p>
        </p:txBody>
      </p:sp>
      <p:sp>
        <p:nvSpPr>
          <p:cNvPr id="169"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70"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8</a:t>
            </a:r>
            <a:endParaRPr lang="en-US" sz="1000" b="0" u="none" strike="noStrike">
              <a:solidFill>
                <a:srgbClr val="000000"/>
              </a:solidFill>
              <a:effectLst/>
              <a:uFillTx/>
              <a:latin typeface="Arial"/>
            </a:endParaRPr>
          </a:p>
        </p:txBody>
      </p:sp>
      <p:sp>
        <p:nvSpPr>
          <p:cNvPr id="171" name="Rounded Rectangle 6"/>
          <p:cNvSpPr/>
          <p:nvPr/>
        </p:nvSpPr>
        <p:spPr>
          <a:xfrm>
            <a:off x="411480" y="1500120"/>
            <a:ext cx="11368080" cy="13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2" name="TextBox 7"/>
          <p:cNvSpPr/>
          <p:nvPr/>
        </p:nvSpPr>
        <p:spPr>
          <a:xfrm>
            <a:off x="640080" y="1696320"/>
            <a:ext cx="109108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PRIMARY PROJECT OBJECTIVE</a:t>
            </a:r>
            <a:endParaRPr lang="en-US" sz="1600" b="0" u="none" strike="noStrike">
              <a:solidFill>
                <a:srgbClr val="000000"/>
              </a:solidFill>
              <a:effectLst/>
              <a:uFillTx/>
              <a:latin typeface="Arial"/>
            </a:endParaRPr>
          </a:p>
        </p:txBody>
      </p:sp>
      <p:sp>
        <p:nvSpPr>
          <p:cNvPr id="173" name="TextBox 8"/>
          <p:cNvSpPr/>
          <p:nvPr/>
        </p:nvSpPr>
        <p:spPr>
          <a:xfrm>
            <a:off x="594360" y="2085120"/>
            <a:ext cx="11002320" cy="55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System Goal: </a:t>
            </a:r>
            <a:r>
              <a:rPr lang="en-US" sz="1200" b="0" u="none" strike="noStrike">
                <a:solidFill>
                  <a:srgbClr val="4B5563"/>
                </a:solidFill>
                <a:effectLst/>
                <a:uFillTx/>
                <a:latin typeface="Poppins"/>
              </a:rPr>
              <a:t>To design, implement, and benchmark a digital twin of a low-cost, real-time, ESP32-based battery monitoring system that employs a lightweight Machine Learning model to estimate State of Charge (SOC) and streams live voltage, current, SOH, and charging status to an interactive web dashboard.</a:t>
            </a:r>
            <a:endParaRPr lang="en-US" sz="1200" b="0" u="none" strike="noStrike">
              <a:solidFill>
                <a:srgbClr val="000000"/>
              </a:solidFill>
              <a:effectLst/>
              <a:uFillTx/>
              <a:latin typeface="Arial"/>
            </a:endParaRPr>
          </a:p>
        </p:txBody>
      </p:sp>
      <p:sp>
        <p:nvSpPr>
          <p:cNvPr id="174" name="Rounded Rectangle 9"/>
          <p:cNvSpPr/>
          <p:nvPr/>
        </p:nvSpPr>
        <p:spPr>
          <a:xfrm>
            <a:off x="411480" y="3049920"/>
            <a:ext cx="5549760" cy="154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5" name="Rounded Rectangle 10"/>
          <p:cNvSpPr/>
          <p:nvPr/>
        </p:nvSpPr>
        <p:spPr>
          <a:xfrm>
            <a:off x="621720" y="32652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1</a:t>
            </a:r>
            <a:endParaRPr lang="en-US" sz="1300" b="0" u="none" strike="noStrike">
              <a:solidFill>
                <a:srgbClr val="000000"/>
              </a:solidFill>
              <a:effectLst/>
              <a:uFillTx/>
              <a:latin typeface="Arial"/>
            </a:endParaRPr>
          </a:p>
        </p:txBody>
      </p:sp>
      <p:sp>
        <p:nvSpPr>
          <p:cNvPr id="176" name="TextBox 11"/>
          <p:cNvSpPr/>
          <p:nvPr/>
        </p:nvSpPr>
        <p:spPr>
          <a:xfrm>
            <a:off x="1188720" y="333396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Dataset Preparation &amp; Ground Truth</a:t>
            </a:r>
            <a:endParaRPr lang="en-US" sz="1600" b="0" u="none" strike="noStrike">
              <a:solidFill>
                <a:srgbClr val="000000"/>
              </a:solidFill>
              <a:effectLst/>
              <a:uFillTx/>
              <a:latin typeface="Arial"/>
            </a:endParaRPr>
          </a:p>
        </p:txBody>
      </p:sp>
      <p:sp>
        <p:nvSpPr>
          <p:cNvPr id="177" name="TextBox 12"/>
          <p:cNvSpPr/>
          <p:nvPr/>
        </p:nvSpPr>
        <p:spPr>
          <a:xfrm>
            <a:off x="594360" y="3773520"/>
            <a:ext cx="5184000" cy="55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NASA Aging Logs: </a:t>
            </a:r>
            <a:r>
              <a:rPr lang="en-US" sz="1200" b="0" u="none" strike="noStrike">
                <a:solidFill>
                  <a:srgbClr val="4B5563"/>
                </a:solidFill>
                <a:effectLst/>
                <a:uFillTx/>
                <a:latin typeface="Poppins"/>
              </a:rPr>
              <a:t>Process 60 NASA charge/discharge files, average 4-wire Kelvin probe voltages, resample to uniform 5 s grid, and derive coulomb-counting reference labels.</a:t>
            </a:r>
            <a:endParaRPr lang="en-US" sz="1200" b="0" u="none" strike="noStrike">
              <a:solidFill>
                <a:srgbClr val="000000"/>
              </a:solidFill>
              <a:effectLst/>
              <a:uFillTx/>
              <a:latin typeface="Arial"/>
            </a:endParaRPr>
          </a:p>
        </p:txBody>
      </p:sp>
      <p:sp>
        <p:nvSpPr>
          <p:cNvPr id="178" name="Rounded Rectangle 13"/>
          <p:cNvSpPr/>
          <p:nvPr/>
        </p:nvSpPr>
        <p:spPr>
          <a:xfrm>
            <a:off x="6229800" y="3049920"/>
            <a:ext cx="5549760" cy="154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9" name="Rounded Rectangle 14"/>
          <p:cNvSpPr/>
          <p:nvPr/>
        </p:nvSpPr>
        <p:spPr>
          <a:xfrm>
            <a:off x="6486480" y="32652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2</a:t>
            </a:r>
            <a:endParaRPr lang="en-US" sz="1300" b="0" u="none" strike="noStrike">
              <a:solidFill>
                <a:srgbClr val="000000"/>
              </a:solidFill>
              <a:effectLst/>
              <a:uFillTx/>
              <a:latin typeface="Arial"/>
            </a:endParaRPr>
          </a:p>
        </p:txBody>
      </p:sp>
      <p:sp>
        <p:nvSpPr>
          <p:cNvPr id="180" name="TextBox 15"/>
          <p:cNvSpPr/>
          <p:nvPr/>
        </p:nvSpPr>
        <p:spPr>
          <a:xfrm>
            <a:off x="7127280" y="333396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Lightweight ML Model Development</a:t>
            </a:r>
            <a:endParaRPr lang="en-US" sz="1600" b="0" u="none" strike="noStrike">
              <a:solidFill>
                <a:srgbClr val="000000"/>
              </a:solidFill>
              <a:effectLst/>
              <a:uFillTx/>
              <a:latin typeface="Arial"/>
            </a:endParaRPr>
          </a:p>
        </p:txBody>
      </p:sp>
      <p:sp>
        <p:nvSpPr>
          <p:cNvPr id="181" name="TextBox 16"/>
          <p:cNvSpPr/>
          <p:nvPr/>
        </p:nvSpPr>
        <p:spPr>
          <a:xfrm>
            <a:off x="6394680" y="3771720"/>
            <a:ext cx="5184000" cy="55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MLP 3-16-1 Engine: </a:t>
            </a:r>
            <a:r>
              <a:rPr lang="en-US" sz="1200" b="0" u="none" strike="noStrike">
                <a:solidFill>
                  <a:srgbClr val="4B5563"/>
                </a:solidFill>
                <a:effectLst/>
                <a:uFillTx/>
                <a:latin typeface="Poppins"/>
              </a:rPr>
              <a:t>Train a compact 3-16-1 tanh MLP in Python with hardware noise augmentation; benchmark against Random Forest and Linear Regression baselines</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182" name="Rounded Rectangle 17"/>
          <p:cNvSpPr/>
          <p:nvPr/>
        </p:nvSpPr>
        <p:spPr>
          <a:xfrm>
            <a:off x="411480" y="4759920"/>
            <a:ext cx="5549760" cy="154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3" name="Rounded Rectangle 18"/>
          <p:cNvSpPr/>
          <p:nvPr/>
        </p:nvSpPr>
        <p:spPr>
          <a:xfrm>
            <a:off x="621720" y="490644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3</a:t>
            </a:r>
            <a:endParaRPr lang="en-US" sz="1300" b="0" u="none" strike="noStrike">
              <a:solidFill>
                <a:srgbClr val="000000"/>
              </a:solidFill>
              <a:effectLst/>
              <a:uFillTx/>
              <a:latin typeface="Arial"/>
            </a:endParaRPr>
          </a:p>
        </p:txBody>
      </p:sp>
      <p:sp>
        <p:nvSpPr>
          <p:cNvPr id="184" name="TextBox 19"/>
          <p:cNvSpPr/>
          <p:nvPr/>
        </p:nvSpPr>
        <p:spPr>
          <a:xfrm>
            <a:off x="1301760" y="498672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Virtual ESP32 Hardware Emulation</a:t>
            </a:r>
            <a:endParaRPr lang="en-US" sz="1600" b="0" u="none" strike="noStrike">
              <a:solidFill>
                <a:srgbClr val="000000"/>
              </a:solidFill>
              <a:effectLst/>
              <a:uFillTx/>
              <a:latin typeface="Arial"/>
            </a:endParaRPr>
          </a:p>
        </p:txBody>
      </p:sp>
      <p:sp>
        <p:nvSpPr>
          <p:cNvPr id="185" name="TextBox 20"/>
          <p:cNvSpPr/>
          <p:nvPr/>
        </p:nvSpPr>
        <p:spPr>
          <a:xfrm>
            <a:off x="594360" y="5494320"/>
            <a:ext cx="5184000" cy="55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Hardware-in-the-Loop: </a:t>
            </a:r>
            <a:r>
              <a:rPr lang="en-US" sz="1200" b="0" u="none" strike="noStrike">
                <a:solidFill>
                  <a:srgbClr val="4B5563"/>
                </a:solidFill>
                <a:effectLst/>
                <a:uFillTx/>
                <a:latin typeface="Poppins"/>
              </a:rPr>
              <a:t>Emulate 12-bit SAR ADC quantization, 5 mV noise, 30 mA current offset, and TP4056 CC/CV state machine with Wi-Fi JSON payload generation.</a:t>
            </a:r>
            <a:endParaRPr lang="en-US" sz="1200" b="0" u="none" strike="noStrike">
              <a:solidFill>
                <a:srgbClr val="000000"/>
              </a:solidFill>
              <a:effectLst/>
              <a:uFillTx/>
              <a:latin typeface="Arial"/>
            </a:endParaRPr>
          </a:p>
        </p:txBody>
      </p:sp>
      <p:sp>
        <p:nvSpPr>
          <p:cNvPr id="186" name="Rounded Rectangle 21"/>
          <p:cNvSpPr/>
          <p:nvPr/>
        </p:nvSpPr>
        <p:spPr>
          <a:xfrm>
            <a:off x="6229800" y="4759920"/>
            <a:ext cx="5549760" cy="154980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7" name="Rounded Rectangle 22"/>
          <p:cNvSpPr/>
          <p:nvPr/>
        </p:nvSpPr>
        <p:spPr>
          <a:xfrm>
            <a:off x="6486480" y="490644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4</a:t>
            </a:r>
            <a:endParaRPr lang="en-US" sz="1300" b="0" u="none" strike="noStrike">
              <a:solidFill>
                <a:srgbClr val="000000"/>
              </a:solidFill>
              <a:effectLst/>
              <a:uFillTx/>
              <a:latin typeface="Arial"/>
            </a:endParaRPr>
          </a:p>
        </p:txBody>
      </p:sp>
      <p:sp>
        <p:nvSpPr>
          <p:cNvPr id="188" name="TextBox 23"/>
          <p:cNvSpPr/>
          <p:nvPr/>
        </p:nvSpPr>
        <p:spPr>
          <a:xfrm>
            <a:off x="7162560" y="4986720"/>
            <a:ext cx="477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Benchmarking on Held-Out Cycles</a:t>
            </a:r>
            <a:endParaRPr lang="en-US" sz="1600" b="0" u="none" strike="noStrike">
              <a:solidFill>
                <a:srgbClr val="000000"/>
              </a:solidFill>
              <a:effectLst/>
              <a:uFillTx/>
              <a:latin typeface="Arial"/>
            </a:endParaRPr>
          </a:p>
        </p:txBody>
      </p:sp>
      <p:sp>
        <p:nvSpPr>
          <p:cNvPr id="189" name="TextBox 24"/>
          <p:cNvSpPr/>
          <p:nvPr/>
        </p:nvSpPr>
        <p:spPr>
          <a:xfrm>
            <a:off x="6465600" y="5488920"/>
            <a:ext cx="5184000" cy="55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Accuracy &amp; Latency: </a:t>
            </a:r>
            <a:r>
              <a:rPr lang="en-US" sz="1200" b="0" u="none" strike="noStrike">
                <a:solidFill>
                  <a:srgbClr val="4B5563"/>
                </a:solidFill>
                <a:effectLst/>
                <a:uFillTx/>
                <a:latin typeface="Poppins"/>
              </a:rPr>
              <a:t>Verify SOC estimation error under 2-3% target across held-out charge/discharge cycles; evaluate inference latency (&lt;10 µs) and memory footprint (&lt;500 B).</a:t>
            </a:r>
            <a:endParaRPr lang="en-US" sz="1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Picture 1" descr="top_bar.png"/>
          <p:cNvPicPr/>
          <p:nvPr/>
        </p:nvPicPr>
        <p:blipFill>
          <a:blip r:embed="rId3"/>
          <a:stretch/>
        </p:blipFill>
        <p:spPr>
          <a:xfrm>
            <a:off x="0" y="0"/>
            <a:ext cx="12191040" cy="72360"/>
          </a:xfrm>
          <a:prstGeom prst="rect">
            <a:avLst/>
          </a:prstGeom>
          <a:noFill/>
          <a:ln w="0">
            <a:noFill/>
          </a:ln>
        </p:spPr>
      </p:pic>
      <p:pic>
        <p:nvPicPr>
          <p:cNvPr id="191" name="Picture 2" descr="amrita_logo.png"/>
          <p:cNvPicPr/>
          <p:nvPr/>
        </p:nvPicPr>
        <p:blipFill>
          <a:blip r:embed="rId4"/>
          <a:stretch/>
        </p:blipFill>
        <p:spPr>
          <a:xfrm>
            <a:off x="9860040" y="201240"/>
            <a:ext cx="2102400" cy="600120"/>
          </a:xfrm>
          <a:prstGeom prst="rect">
            <a:avLst/>
          </a:prstGeom>
          <a:noFill/>
          <a:ln w="0">
            <a:noFill/>
          </a:ln>
        </p:spPr>
      </p:pic>
      <p:sp>
        <p:nvSpPr>
          <p:cNvPr id="192"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Methodology</a:t>
            </a:r>
            <a:endParaRPr lang="en-US" sz="2500" b="0" u="none" strike="noStrike" dirty="0">
              <a:solidFill>
                <a:srgbClr val="000000"/>
              </a:solidFill>
              <a:effectLst/>
              <a:uFillTx/>
              <a:latin typeface="Arial"/>
            </a:endParaRPr>
          </a:p>
        </p:txBody>
      </p:sp>
      <p:sp>
        <p:nvSpPr>
          <p:cNvPr id="193"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194"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9</a:t>
            </a:r>
            <a:endParaRPr lang="en-US" sz="1000" b="0" u="none" strike="noStrike">
              <a:solidFill>
                <a:srgbClr val="000000"/>
              </a:solidFill>
              <a:effectLst/>
              <a:uFillTx/>
              <a:latin typeface="Arial"/>
            </a:endParaRPr>
          </a:p>
        </p:txBody>
      </p:sp>
      <p:sp>
        <p:nvSpPr>
          <p:cNvPr id="195" name="Rounded Rectangle 6"/>
          <p:cNvSpPr/>
          <p:nvPr/>
        </p:nvSpPr>
        <p:spPr>
          <a:xfrm>
            <a:off x="41148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6" name="Rounded Rectangle 7"/>
          <p:cNvSpPr/>
          <p:nvPr/>
        </p:nvSpPr>
        <p:spPr>
          <a:xfrm>
            <a:off x="576000" y="18324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1</a:t>
            </a:r>
            <a:endParaRPr lang="en-US" sz="1300" b="0" u="none" strike="noStrike">
              <a:solidFill>
                <a:srgbClr val="000000"/>
              </a:solidFill>
              <a:effectLst/>
              <a:uFillTx/>
              <a:latin typeface="Arial"/>
            </a:endParaRPr>
          </a:p>
        </p:txBody>
      </p:sp>
      <p:sp>
        <p:nvSpPr>
          <p:cNvPr id="197" name="TextBox 8"/>
          <p:cNvSpPr/>
          <p:nvPr/>
        </p:nvSpPr>
        <p:spPr>
          <a:xfrm>
            <a:off x="1033200" y="190152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NASA Data Preparation</a:t>
            </a:r>
            <a:endParaRPr lang="en-US" sz="1600" b="0" u="none" strike="noStrike">
              <a:solidFill>
                <a:srgbClr val="000000"/>
              </a:solidFill>
              <a:effectLst/>
              <a:uFillTx/>
              <a:latin typeface="Arial"/>
            </a:endParaRPr>
          </a:p>
        </p:txBody>
      </p:sp>
      <p:sp>
        <p:nvSpPr>
          <p:cNvPr id="198" name="TextBox 9"/>
          <p:cNvSpPr/>
          <p:nvPr/>
        </p:nvSpPr>
        <p:spPr>
          <a:xfrm>
            <a:off x="594360" y="239508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Raw CSV Parsing: </a:t>
            </a:r>
            <a:r>
              <a:rPr lang="en-US" sz="1200" b="0" u="none" strike="noStrike">
                <a:solidFill>
                  <a:srgbClr val="4B5563"/>
                </a:solidFill>
                <a:effectLst/>
                <a:uFillTx/>
                <a:latin typeface="Poppins"/>
              </a:rPr>
              <a:t>Load 60 NASA cycling CSVs; average 4-wire Kelvin voltages (Vbat1-4) to eliminate contact resistance; resample to uniform 5 s time grid.</a:t>
            </a:r>
            <a:endParaRPr lang="en-US" sz="1200" b="0" u="none" strike="noStrike">
              <a:solidFill>
                <a:srgbClr val="000000"/>
              </a:solidFill>
              <a:effectLst/>
              <a:uFillTx/>
              <a:latin typeface="Arial"/>
            </a:endParaRPr>
          </a:p>
        </p:txBody>
      </p:sp>
      <p:sp>
        <p:nvSpPr>
          <p:cNvPr id="199" name="Rounded Rectangle 10"/>
          <p:cNvSpPr/>
          <p:nvPr/>
        </p:nvSpPr>
        <p:spPr>
          <a:xfrm>
            <a:off x="429012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0" name="Rounded Rectangle 11"/>
          <p:cNvSpPr/>
          <p:nvPr/>
        </p:nvSpPr>
        <p:spPr>
          <a:xfrm>
            <a:off x="4558680" y="182628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2</a:t>
            </a:r>
            <a:endParaRPr lang="en-US" sz="1300" b="0" u="none" strike="noStrike">
              <a:solidFill>
                <a:srgbClr val="000000"/>
              </a:solidFill>
              <a:effectLst/>
              <a:uFillTx/>
              <a:latin typeface="Arial"/>
            </a:endParaRPr>
          </a:p>
        </p:txBody>
      </p:sp>
      <p:sp>
        <p:nvSpPr>
          <p:cNvPr id="201" name="TextBox 12"/>
          <p:cNvSpPr/>
          <p:nvPr/>
        </p:nvSpPr>
        <p:spPr>
          <a:xfrm>
            <a:off x="5061600" y="190152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Feature Engineering</a:t>
            </a:r>
            <a:endParaRPr lang="en-US" sz="1600" b="0" u="none" strike="noStrike">
              <a:solidFill>
                <a:srgbClr val="000000"/>
              </a:solidFill>
              <a:effectLst/>
              <a:uFillTx/>
              <a:latin typeface="Arial"/>
            </a:endParaRPr>
          </a:p>
        </p:txBody>
      </p:sp>
      <p:sp>
        <p:nvSpPr>
          <p:cNvPr id="202" name="TextBox 13"/>
          <p:cNvSpPr/>
          <p:nvPr/>
        </p:nvSpPr>
        <p:spPr>
          <a:xfrm>
            <a:off x="4587120" y="2356560"/>
            <a:ext cx="3245400" cy="92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Causal Rolling Window: </a:t>
            </a:r>
            <a:r>
              <a:rPr lang="en-US" sz="1200" b="0" u="none" strike="noStrike">
                <a:solidFill>
                  <a:srgbClr val="4B5563"/>
                </a:solidFill>
                <a:effectLst/>
                <a:uFillTx/>
                <a:latin typeface="Poppins"/>
              </a:rPr>
              <a:t>Construct input vector [V, I, V_smooth]; compute 60 s causal moving average with zero future data leakage to decouple IR drop from bulk SOC.</a:t>
            </a:r>
            <a:endParaRPr lang="en-US" sz="1200" b="0" u="none" strike="noStrike">
              <a:solidFill>
                <a:srgbClr val="000000"/>
              </a:solidFill>
              <a:effectLst/>
              <a:uFillTx/>
              <a:latin typeface="Arial"/>
            </a:endParaRPr>
          </a:p>
        </p:txBody>
      </p:sp>
      <p:sp>
        <p:nvSpPr>
          <p:cNvPr id="203" name="Rounded Rectangle 14"/>
          <p:cNvSpPr/>
          <p:nvPr/>
        </p:nvSpPr>
        <p:spPr>
          <a:xfrm>
            <a:off x="816840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4" name="Rounded Rectangle 15"/>
          <p:cNvSpPr/>
          <p:nvPr/>
        </p:nvSpPr>
        <p:spPr>
          <a:xfrm>
            <a:off x="8332920" y="18403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03</a:t>
            </a:r>
            <a:endParaRPr lang="en-US" sz="1300" b="0" u="none" strike="noStrike">
              <a:solidFill>
                <a:srgbClr val="000000"/>
              </a:solidFill>
              <a:effectLst/>
              <a:uFillTx/>
              <a:latin typeface="Arial"/>
            </a:endParaRPr>
          </a:p>
        </p:txBody>
      </p:sp>
      <p:sp>
        <p:nvSpPr>
          <p:cNvPr id="205" name="TextBox 16"/>
          <p:cNvSpPr/>
          <p:nvPr/>
        </p:nvSpPr>
        <p:spPr>
          <a:xfrm>
            <a:off x="8762760" y="190404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Model Training &amp; Baselines</a:t>
            </a:r>
            <a:endParaRPr lang="en-US" sz="1600" b="0" u="none" strike="noStrike">
              <a:solidFill>
                <a:srgbClr val="000000"/>
              </a:solidFill>
              <a:effectLst/>
              <a:uFillTx/>
              <a:latin typeface="Arial"/>
            </a:endParaRPr>
          </a:p>
        </p:txBody>
      </p:sp>
      <p:sp>
        <p:nvSpPr>
          <p:cNvPr id="206" name="TextBox 17"/>
          <p:cNvSpPr/>
          <p:nvPr/>
        </p:nvSpPr>
        <p:spPr>
          <a:xfrm>
            <a:off x="8404200" y="235656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Noise Augmentation: </a:t>
            </a:r>
            <a:r>
              <a:rPr lang="en-US" sz="1200" b="0" u="none" strike="noStrike">
                <a:solidFill>
                  <a:srgbClr val="4B5563"/>
                </a:solidFill>
                <a:effectLst/>
                <a:uFillTx/>
                <a:latin typeface="Poppins"/>
              </a:rPr>
              <a:t>Train 3-16-1 tanh MLP on 53 files (302k samples) with synthetic 5 mV ADC noise; train Random Forest and Linear Regression baselines.</a:t>
            </a:r>
            <a:endParaRPr lang="en-US" sz="1200" b="0" u="none" strike="noStrike">
              <a:solidFill>
                <a:srgbClr val="000000"/>
              </a:solidFill>
              <a:effectLst/>
              <a:uFillTx/>
              <a:latin typeface="Arial"/>
            </a:endParaRPr>
          </a:p>
        </p:txBody>
      </p:sp>
      <p:sp>
        <p:nvSpPr>
          <p:cNvPr id="207" name="Rounded Rectangle 18"/>
          <p:cNvSpPr/>
          <p:nvPr/>
        </p:nvSpPr>
        <p:spPr>
          <a:xfrm>
            <a:off x="41148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8" name="Rounded Rectangle 19"/>
          <p:cNvSpPr/>
          <p:nvPr/>
        </p:nvSpPr>
        <p:spPr>
          <a:xfrm>
            <a:off x="576000" y="423216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4</a:t>
            </a:r>
            <a:endParaRPr lang="en-US" sz="1300" b="0" u="none" strike="noStrike">
              <a:solidFill>
                <a:srgbClr val="000000"/>
              </a:solidFill>
              <a:effectLst/>
              <a:uFillTx/>
              <a:latin typeface="Arial"/>
            </a:endParaRPr>
          </a:p>
        </p:txBody>
      </p:sp>
      <p:sp>
        <p:nvSpPr>
          <p:cNvPr id="209" name="TextBox 20"/>
          <p:cNvSpPr/>
          <p:nvPr/>
        </p:nvSpPr>
        <p:spPr>
          <a:xfrm>
            <a:off x="1074600" y="430092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Virtual ESP32 Emulation</a:t>
            </a:r>
            <a:endParaRPr lang="en-US" sz="1600" b="0" u="none" strike="noStrike">
              <a:solidFill>
                <a:srgbClr val="000000"/>
              </a:solidFill>
              <a:effectLst/>
              <a:uFillTx/>
              <a:latin typeface="Arial"/>
            </a:endParaRPr>
          </a:p>
        </p:txBody>
      </p:sp>
      <p:sp>
        <p:nvSpPr>
          <p:cNvPr id="210" name="TextBox 21"/>
          <p:cNvSpPr/>
          <p:nvPr/>
        </p:nvSpPr>
        <p:spPr>
          <a:xfrm>
            <a:off x="576000" y="483480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Hardware Distortion: </a:t>
            </a:r>
            <a:r>
              <a:rPr lang="en-US" sz="1200" b="0" u="none" strike="noStrike">
                <a:solidFill>
                  <a:srgbClr val="4B5563"/>
                </a:solidFill>
                <a:effectLst/>
                <a:uFillTx/>
                <a:latin typeface="Poppins"/>
              </a:rPr>
              <a:t>Replay signals through virtual divider (÷2), 12-bit ADC quantization, 5 mV noise, 30 mA current offset, and TP4056 state machine.</a:t>
            </a:r>
            <a:endParaRPr lang="en-US" sz="1200" b="0" u="none" strike="noStrike">
              <a:solidFill>
                <a:srgbClr val="000000"/>
              </a:solidFill>
              <a:effectLst/>
              <a:uFillTx/>
              <a:latin typeface="Arial"/>
            </a:endParaRPr>
          </a:p>
        </p:txBody>
      </p:sp>
      <p:sp>
        <p:nvSpPr>
          <p:cNvPr id="211" name="Rounded Rectangle 22"/>
          <p:cNvSpPr/>
          <p:nvPr/>
        </p:nvSpPr>
        <p:spPr>
          <a:xfrm>
            <a:off x="429012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2" name="Rounded Rectangle 23"/>
          <p:cNvSpPr/>
          <p:nvPr/>
        </p:nvSpPr>
        <p:spPr>
          <a:xfrm>
            <a:off x="4463640" y="423216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5</a:t>
            </a:r>
            <a:endParaRPr lang="en-US" sz="1300" b="0" u="none" strike="noStrike">
              <a:solidFill>
                <a:srgbClr val="000000"/>
              </a:solidFill>
              <a:effectLst/>
              <a:uFillTx/>
              <a:latin typeface="Arial"/>
            </a:endParaRPr>
          </a:p>
        </p:txBody>
      </p:sp>
      <p:sp>
        <p:nvSpPr>
          <p:cNvPr id="213" name="TextBox 24"/>
          <p:cNvSpPr/>
          <p:nvPr/>
        </p:nvSpPr>
        <p:spPr>
          <a:xfrm>
            <a:off x="4920840" y="430092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Web Dashboard Telemetry</a:t>
            </a:r>
            <a:endParaRPr lang="en-US" sz="1600" b="0" u="none" strike="noStrike">
              <a:solidFill>
                <a:srgbClr val="000000"/>
              </a:solidFill>
              <a:effectLst/>
              <a:uFillTx/>
              <a:latin typeface="Arial"/>
            </a:endParaRPr>
          </a:p>
        </p:txBody>
      </p:sp>
      <p:sp>
        <p:nvSpPr>
          <p:cNvPr id="214" name="TextBox 25"/>
          <p:cNvSpPr/>
          <p:nvPr/>
        </p:nvSpPr>
        <p:spPr>
          <a:xfrm>
            <a:off x="4473000" y="483480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Live Monitoring: </a:t>
            </a:r>
            <a:r>
              <a:rPr lang="en-US" sz="1200" b="0" u="none" strike="noStrike">
                <a:solidFill>
                  <a:srgbClr val="4B5563"/>
                </a:solidFill>
                <a:effectLst/>
                <a:uFillTx/>
                <a:latin typeface="Poppins"/>
              </a:rPr>
              <a:t>Stream real-time JSON frames via WebSockets; display animated SVG SOC ring, multi-curve tracking charts, and SOH aging telemetry</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
        <p:nvSpPr>
          <p:cNvPr id="215" name="Rounded Rectangle 26"/>
          <p:cNvSpPr/>
          <p:nvPr/>
        </p:nvSpPr>
        <p:spPr>
          <a:xfrm>
            <a:off x="816840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6" name="Rounded Rectangle 27"/>
          <p:cNvSpPr/>
          <p:nvPr/>
        </p:nvSpPr>
        <p:spPr>
          <a:xfrm>
            <a:off x="8332920" y="422244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6</a:t>
            </a:r>
            <a:endParaRPr lang="en-US" sz="1300" b="0" u="none" strike="noStrike">
              <a:solidFill>
                <a:srgbClr val="000000"/>
              </a:solidFill>
              <a:effectLst/>
              <a:uFillTx/>
              <a:latin typeface="Arial"/>
            </a:endParaRPr>
          </a:p>
        </p:txBody>
      </p:sp>
      <p:sp>
        <p:nvSpPr>
          <p:cNvPr id="217" name="TextBox 28"/>
          <p:cNvSpPr/>
          <p:nvPr/>
        </p:nvSpPr>
        <p:spPr>
          <a:xfrm>
            <a:off x="8831520" y="4316400"/>
            <a:ext cx="2833920" cy="23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500" b="1" u="none" strike="noStrike">
                <a:solidFill>
                  <a:srgbClr val="831838"/>
                </a:solidFill>
                <a:effectLst/>
                <a:uFillTx/>
                <a:latin typeface="Poppins"/>
              </a:rPr>
              <a:t>Benchmarking &amp; Validation</a:t>
            </a:r>
            <a:endParaRPr lang="en-US" sz="1500" b="0" u="none" strike="noStrike">
              <a:solidFill>
                <a:srgbClr val="000000"/>
              </a:solidFill>
              <a:effectLst/>
              <a:uFillTx/>
              <a:latin typeface="Arial"/>
            </a:endParaRPr>
          </a:p>
        </p:txBody>
      </p:sp>
      <p:sp>
        <p:nvSpPr>
          <p:cNvPr id="218" name="TextBox 29"/>
          <p:cNvSpPr/>
          <p:nvPr/>
        </p:nvSpPr>
        <p:spPr>
          <a:xfrm>
            <a:off x="8404200" y="486864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Evaluation Suite: </a:t>
            </a:r>
            <a:r>
              <a:rPr lang="en-US" sz="1200" b="0" u="none" strike="noStrike">
                <a:solidFill>
                  <a:srgbClr val="4B5563"/>
                </a:solidFill>
                <a:effectLst/>
                <a:uFillTx/>
                <a:latin typeface="Poppins"/>
              </a:rPr>
              <a:t>Evaluate across held-out 0.5A, 1A, 2A, 3A cycles; quantify MAE, RMSE, and max error against physics filters and 2-3% accuracy target.</a:t>
            </a:r>
            <a:endParaRPr lang="en-US" sz="12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Picture 1" descr="top_bar.png"/>
          <p:cNvPicPr/>
          <p:nvPr/>
        </p:nvPicPr>
        <p:blipFill>
          <a:blip r:embed="rId3"/>
          <a:stretch/>
        </p:blipFill>
        <p:spPr>
          <a:xfrm>
            <a:off x="0" y="0"/>
            <a:ext cx="12191040" cy="72360"/>
          </a:xfrm>
          <a:prstGeom prst="rect">
            <a:avLst/>
          </a:prstGeom>
          <a:noFill/>
          <a:ln w="0">
            <a:noFill/>
          </a:ln>
        </p:spPr>
      </p:pic>
      <p:pic>
        <p:nvPicPr>
          <p:cNvPr id="220" name="Picture 2" descr="amrita_logo.png"/>
          <p:cNvPicPr/>
          <p:nvPr/>
        </p:nvPicPr>
        <p:blipFill>
          <a:blip r:embed="rId4"/>
          <a:stretch/>
        </p:blipFill>
        <p:spPr>
          <a:xfrm>
            <a:off x="9860040" y="201240"/>
            <a:ext cx="2102400" cy="600120"/>
          </a:xfrm>
          <a:prstGeom prst="rect">
            <a:avLst/>
          </a:prstGeom>
          <a:noFill/>
          <a:ln w="0">
            <a:noFill/>
          </a:ln>
        </p:spPr>
      </p:pic>
      <p:sp>
        <p:nvSpPr>
          <p:cNvPr id="221"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System Architecture</a:t>
            </a:r>
            <a:endParaRPr lang="en-US" sz="2500" b="0" u="none" strike="noStrike" dirty="0">
              <a:solidFill>
                <a:srgbClr val="000000"/>
              </a:solidFill>
              <a:effectLst/>
              <a:uFillTx/>
              <a:latin typeface="Arial"/>
            </a:endParaRPr>
          </a:p>
        </p:txBody>
      </p:sp>
      <p:sp>
        <p:nvSpPr>
          <p:cNvPr id="222"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23"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10</a:t>
            </a:r>
            <a:endParaRPr lang="en-US" sz="1000" b="0" u="none" strike="noStrike">
              <a:solidFill>
                <a:srgbClr val="000000"/>
              </a:solidFill>
              <a:effectLst/>
              <a:uFillTx/>
              <a:latin typeface="Arial"/>
            </a:endParaRPr>
          </a:p>
        </p:txBody>
      </p:sp>
      <p:sp>
        <p:nvSpPr>
          <p:cNvPr id="224" name="Rounded Rectangle 6"/>
          <p:cNvSpPr/>
          <p:nvPr/>
        </p:nvSpPr>
        <p:spPr>
          <a:xfrm>
            <a:off x="411480" y="15199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5" name="TextBox 7"/>
          <p:cNvSpPr/>
          <p:nvPr/>
        </p:nvSpPr>
        <p:spPr>
          <a:xfrm>
            <a:off x="950760" y="1973520"/>
            <a:ext cx="509256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Virtual Hardware-in-the-Loop Emulation</a:t>
            </a:r>
            <a:endParaRPr lang="en-US" sz="1600" b="0" u="none" strike="noStrike">
              <a:solidFill>
                <a:srgbClr val="000000"/>
              </a:solidFill>
              <a:effectLst/>
              <a:uFillTx/>
              <a:latin typeface="Arial"/>
            </a:endParaRPr>
          </a:p>
        </p:txBody>
      </p:sp>
      <p:sp>
        <p:nvSpPr>
          <p:cNvPr id="226" name="TextBox 8"/>
          <p:cNvSpPr/>
          <p:nvPr/>
        </p:nvSpPr>
        <p:spPr>
          <a:xfrm>
            <a:off x="594360" y="2567880"/>
            <a:ext cx="5184000" cy="273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Signal Flow Architecture: </a:t>
            </a:r>
            <a:r>
              <a:rPr lang="en-US" sz="1200" b="0" u="none" strike="noStrike">
                <a:solidFill>
                  <a:srgbClr val="4B5563"/>
                </a:solidFill>
                <a:effectLst/>
                <a:uFillTx/>
                <a:latin typeface="Poppins"/>
              </a:rPr>
              <a:t>The digital twin mirrors physical hardware components with realistic noise models: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1. Data Source (Cell): </a:t>
            </a:r>
            <a:r>
              <a:rPr lang="en-US" sz="1200" b="0" u="none" strike="noStrike">
                <a:solidFill>
                  <a:srgbClr val="4B5563"/>
                </a:solidFill>
                <a:effectLst/>
                <a:uFillTx/>
                <a:latin typeface="Poppins"/>
              </a:rPr>
              <a:t>NASA 18650 Li-ion battery dataset stands in for physical electrochemical cell dynamics.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2. Voltage Divider: </a:t>
            </a:r>
            <a:r>
              <a:rPr lang="en-US" sz="1200" b="0" u="none" strike="noStrike">
                <a:solidFill>
                  <a:srgbClr val="4B5563"/>
                </a:solidFill>
                <a:effectLst/>
                <a:uFillTx/>
                <a:latin typeface="Poppins"/>
              </a:rPr>
              <a:t>Virtual 100kΩ/100kΩ resistor divider halves cell voltage (2.5V-4.2V → 1.25V-2.1V) to fit ADC input range.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3. Virtual ESP32 ADC: </a:t>
            </a:r>
            <a:r>
              <a:rPr lang="en-US" sz="1200" b="0" u="none" strike="noStrike">
                <a:solidFill>
                  <a:srgbClr val="4B5563"/>
                </a:solidFill>
                <a:effectLst/>
                <a:uFillTx/>
                <a:latin typeface="Poppins"/>
              </a:rPr>
              <a:t>12-bit SAR ADC model introduces 0.8 mV quantization steps and 5 mV RMS Gaussian noise.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4. Current Sensor Offset: </a:t>
            </a:r>
            <a:r>
              <a:rPr lang="en-US" sz="1200" b="0" u="none" strike="noStrike">
                <a:solidFill>
                  <a:srgbClr val="4B5563"/>
                </a:solidFill>
                <a:effectLst/>
                <a:uFillTx/>
                <a:latin typeface="Poppins"/>
              </a:rPr>
              <a:t>Virtual current shunt / Hall-effect sensor injects a realistic +30 mA DC offset drift.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5. TP4056 Charger: </a:t>
            </a:r>
            <a:r>
              <a:rPr lang="en-US" sz="1200" b="0" u="none" strike="noStrike">
                <a:solidFill>
                  <a:srgbClr val="4B5563"/>
                </a:solidFill>
                <a:effectLst/>
                <a:uFillTx/>
                <a:latin typeface="Poppins"/>
              </a:rPr>
              <a:t>Linear CC/CV state machine reports Charging, Discharging, or Charged-Standby with CHRG/STDBY LEDs.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6. Wi-Fi Telemetry: </a:t>
            </a:r>
            <a:r>
              <a:rPr lang="en-US" sz="1200" b="0" u="none" strike="noStrike">
                <a:solidFill>
                  <a:srgbClr val="4B5563"/>
                </a:solidFill>
                <a:effectLst/>
                <a:uFillTx/>
                <a:latin typeface="Poppins"/>
              </a:rPr>
              <a:t>Assembles JSON payload {"v": 3.82, "i": -1.02, "soc": 74.2, "status": "Discharging"} streamed live via WebSocket.</a:t>
            </a:r>
            <a:endParaRPr lang="en-US" sz="1200" b="0" u="none" strike="noStrike">
              <a:solidFill>
                <a:srgbClr val="000000"/>
              </a:solidFill>
              <a:effectLst/>
              <a:uFillTx/>
              <a:latin typeface="Arial"/>
            </a:endParaRPr>
          </a:p>
        </p:txBody>
      </p:sp>
      <p:graphicFrame>
        <p:nvGraphicFramePr>
          <p:cNvPr id="227" name="Table 9"/>
          <p:cNvGraphicFramePr/>
          <p:nvPr/>
        </p:nvGraphicFramePr>
        <p:xfrm>
          <a:off x="6230160" y="1519920"/>
          <a:ext cx="5549400" cy="5002560"/>
        </p:xfrm>
        <a:graphic>
          <a:graphicData uri="http://schemas.openxmlformats.org/drawingml/2006/table">
            <a:tbl>
              <a:tblPr/>
              <a:tblGrid>
                <a:gridCol w="1599840">
                  <a:extLst>
                    <a:ext uri="{9D8B030D-6E8A-4147-A177-3AD203B41FA5}">
                      <a16:colId xmlns:a16="http://schemas.microsoft.com/office/drawing/2014/main" val="20000"/>
                    </a:ext>
                  </a:extLst>
                </a:gridCol>
                <a:gridCol w="2099880">
                  <a:extLst>
                    <a:ext uri="{9D8B030D-6E8A-4147-A177-3AD203B41FA5}">
                      <a16:colId xmlns:a16="http://schemas.microsoft.com/office/drawing/2014/main" val="20001"/>
                    </a:ext>
                  </a:extLst>
                </a:gridCol>
                <a:gridCol w="1849680">
                  <a:extLst>
                    <a:ext uri="{9D8B030D-6E8A-4147-A177-3AD203B41FA5}">
                      <a16:colId xmlns:a16="http://schemas.microsoft.com/office/drawing/2014/main" val="20002"/>
                    </a:ext>
                  </a:extLst>
                </a:gridCol>
              </a:tblGrid>
              <a:tr h="581040">
                <a:tc>
                  <a:txBody>
                    <a:bodyPr/>
                    <a:lstStyle/>
                    <a:p>
                      <a:pPr algn="ctr" defTabSz="457200">
                        <a:lnSpc>
                          <a:spcPct val="100000"/>
                        </a:lnSpc>
                      </a:pPr>
                      <a:r>
                        <a:rPr lang="en-US" sz="1200" b="1" u="none" strike="noStrike">
                          <a:solidFill>
                            <a:srgbClr val="FFFFFF"/>
                          </a:solidFill>
                          <a:effectLst/>
                          <a:uFillTx/>
                          <a:latin typeface="Poppins"/>
                        </a:rPr>
                        <a:t>Virtual Component</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Specification</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Real-World Emulation Role</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581040">
                <a:tc>
                  <a:txBody>
                    <a:bodyPr/>
                    <a:lstStyle/>
                    <a:p>
                      <a:pPr defTabSz="457200">
                        <a:lnSpc>
                          <a:spcPct val="100000"/>
                        </a:lnSpc>
                      </a:pPr>
                      <a:r>
                        <a:rPr lang="en-US" sz="1200" b="0" u="none" strike="noStrike">
                          <a:solidFill>
                            <a:srgbClr val="831838"/>
                          </a:solidFill>
                          <a:effectLst/>
                          <a:uFillTx/>
                          <a:latin typeface="Poppins"/>
                        </a:rPr>
                        <a:t>18650 Cell Source</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NASA Ames Li-ion dataset (60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Real electrochemical charge/discharge cycles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581040">
                <a:tc>
                  <a:txBody>
                    <a:bodyPr/>
                    <a:lstStyle/>
                    <a:p>
                      <a:pPr defTabSz="457200">
                        <a:lnSpc>
                          <a:spcPct val="100000"/>
                        </a:lnSpc>
                      </a:pPr>
                      <a:r>
                        <a:rPr lang="en-US" sz="1200" b="0" u="none" strike="noStrike">
                          <a:solidFill>
                            <a:srgbClr val="831838"/>
                          </a:solidFill>
                          <a:effectLst/>
                          <a:uFillTx/>
                          <a:latin typeface="Poppins"/>
                        </a:rPr>
                        <a:t>Voltage Divider</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Ratio: 0.5 (100kΩ / 100kΩ)</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Attenuates cell voltage for MCU ADC input</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581040">
                <a:tc>
                  <a:txBody>
                    <a:bodyPr/>
                    <a:lstStyle/>
                    <a:p>
                      <a:pPr defTabSz="457200">
                        <a:lnSpc>
                          <a:spcPct val="100000"/>
                        </a:lnSpc>
                      </a:pPr>
                      <a:r>
                        <a:rPr lang="en-US" sz="1200" b="0" u="none" strike="noStrike">
                          <a:solidFill>
                            <a:srgbClr val="831838"/>
                          </a:solidFill>
                          <a:effectLst/>
                          <a:uFillTx/>
                          <a:latin typeface="Poppins"/>
                        </a:rPr>
                        <a:t>ESP32 12-bit ADC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4096 levels, 5 mV Gaussian noise</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Realistic SAR ADC noise and quantization</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581040">
                <a:tc>
                  <a:txBody>
                    <a:bodyPr/>
                    <a:lstStyle/>
                    <a:p>
                      <a:pPr defTabSz="457200">
                        <a:lnSpc>
                          <a:spcPct val="100000"/>
                        </a:lnSpc>
                      </a:pPr>
                      <a:r>
                        <a:rPr lang="en-US" sz="1200" b="0" u="none" strike="noStrike">
                          <a:solidFill>
                            <a:srgbClr val="831838"/>
                          </a:solidFill>
                          <a:effectLst/>
                          <a:uFillTx/>
                          <a:latin typeface="Poppins"/>
                        </a:rPr>
                        <a:t>Current Sensing</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+30 mA DC offset bias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Emulates thermal drift in low-cost shunt sensors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r h="581040">
                <a:tc>
                  <a:txBody>
                    <a:bodyPr/>
                    <a:lstStyle/>
                    <a:p>
                      <a:pPr defTabSz="457200">
                        <a:lnSpc>
                          <a:spcPct val="100000"/>
                        </a:lnSpc>
                      </a:pPr>
                      <a:r>
                        <a:rPr lang="en-US" sz="1200" b="0" u="none" strike="noStrike">
                          <a:solidFill>
                            <a:srgbClr val="831838"/>
                          </a:solidFill>
                          <a:effectLst/>
                          <a:uFillTx/>
                          <a:latin typeface="Poppins"/>
                        </a:rPr>
                        <a:t>TP4056 Module</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CC/CV threshold &amp; hysteresis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Linear Li-ion charging management &amp; status LEDs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5"/>
                  </a:ext>
                </a:extLst>
              </a:tr>
              <a:tr h="581040">
                <a:tc>
                  <a:txBody>
                    <a:bodyPr/>
                    <a:lstStyle/>
                    <a:p>
                      <a:pPr defTabSz="457200">
                        <a:lnSpc>
                          <a:spcPct val="100000"/>
                        </a:lnSpc>
                      </a:pPr>
                      <a:r>
                        <a:rPr lang="en-US" sz="1200" b="0" u="none" strike="noStrike">
                          <a:solidFill>
                            <a:srgbClr val="831838"/>
                          </a:solidFill>
                          <a:effectLst/>
                          <a:uFillTx/>
                          <a:latin typeface="Poppins"/>
                        </a:rPr>
                        <a:t>MLP Inference</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3-16-1 architecture, 6.03 µs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Real-time edge neural inference on ESP32 Xtensa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6"/>
                  </a:ext>
                </a:extLst>
              </a:tr>
              <a:tr h="581040">
                <a:tc>
                  <a:txBody>
                    <a:bodyPr/>
                    <a:lstStyle/>
                    <a:p>
                      <a:pPr defTabSz="457200">
                        <a:lnSpc>
                          <a:spcPct val="100000"/>
                        </a:lnSpc>
                      </a:pPr>
                      <a:r>
                        <a:rPr lang="en-US" sz="1200" b="0" u="none" strike="noStrike">
                          <a:solidFill>
                            <a:srgbClr val="831838"/>
                          </a:solidFill>
                          <a:effectLst/>
                          <a:uFillTx/>
                          <a:latin typeface="Poppins"/>
                        </a:rPr>
                        <a:t>Telemetry Bus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WebSocket JSON frames (5 Hz)</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Low-latency browser telemetry updates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 name="Picture 1" descr="top_bar.png"/>
          <p:cNvPicPr/>
          <p:nvPr/>
        </p:nvPicPr>
        <p:blipFill>
          <a:blip r:embed="rId3"/>
          <a:stretch/>
        </p:blipFill>
        <p:spPr>
          <a:xfrm>
            <a:off x="0" y="0"/>
            <a:ext cx="12191040" cy="72360"/>
          </a:xfrm>
          <a:prstGeom prst="rect">
            <a:avLst/>
          </a:prstGeom>
          <a:noFill/>
          <a:ln w="0">
            <a:noFill/>
          </a:ln>
        </p:spPr>
      </p:pic>
      <p:pic>
        <p:nvPicPr>
          <p:cNvPr id="229" name="Picture 2" descr="amrita_logo.png"/>
          <p:cNvPicPr/>
          <p:nvPr/>
        </p:nvPicPr>
        <p:blipFill>
          <a:blip r:embed="rId4"/>
          <a:stretch/>
        </p:blipFill>
        <p:spPr>
          <a:xfrm>
            <a:off x="9860040" y="201240"/>
            <a:ext cx="2102400" cy="600120"/>
          </a:xfrm>
          <a:prstGeom prst="rect">
            <a:avLst/>
          </a:prstGeom>
          <a:noFill/>
          <a:ln w="0">
            <a:noFill/>
          </a:ln>
        </p:spPr>
      </p:pic>
      <p:sp>
        <p:nvSpPr>
          <p:cNvPr id="230"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Dataset &amp; Data Preparation</a:t>
            </a:r>
            <a:endParaRPr lang="en-US" sz="2500" b="0" u="none" strike="noStrike" dirty="0">
              <a:solidFill>
                <a:srgbClr val="000000"/>
              </a:solidFill>
              <a:effectLst/>
              <a:uFillTx/>
              <a:latin typeface="Arial"/>
            </a:endParaRPr>
          </a:p>
        </p:txBody>
      </p:sp>
      <p:sp>
        <p:nvSpPr>
          <p:cNvPr id="231"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32"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11</a:t>
            </a:r>
            <a:endParaRPr lang="en-US" sz="1000" b="0" u="none" strike="noStrike">
              <a:solidFill>
                <a:srgbClr val="000000"/>
              </a:solidFill>
              <a:effectLst/>
              <a:uFillTx/>
              <a:latin typeface="Arial"/>
            </a:endParaRPr>
          </a:p>
        </p:txBody>
      </p:sp>
      <p:graphicFrame>
        <p:nvGraphicFramePr>
          <p:cNvPr id="233" name="Table 6"/>
          <p:cNvGraphicFramePr/>
          <p:nvPr/>
        </p:nvGraphicFramePr>
        <p:xfrm>
          <a:off x="411480" y="1500120"/>
          <a:ext cx="11367000" cy="2799360"/>
        </p:xfrm>
        <a:graphic>
          <a:graphicData uri="http://schemas.openxmlformats.org/drawingml/2006/table">
            <a:tbl>
              <a:tblPr/>
              <a:tblGrid>
                <a:gridCol w="2273400">
                  <a:extLst>
                    <a:ext uri="{9D8B030D-6E8A-4147-A177-3AD203B41FA5}">
                      <a16:colId xmlns:a16="http://schemas.microsoft.com/office/drawing/2014/main" val="20000"/>
                    </a:ext>
                  </a:extLst>
                </a:gridCol>
                <a:gridCol w="2273400">
                  <a:extLst>
                    <a:ext uri="{9D8B030D-6E8A-4147-A177-3AD203B41FA5}">
                      <a16:colId xmlns:a16="http://schemas.microsoft.com/office/drawing/2014/main" val="20001"/>
                    </a:ext>
                  </a:extLst>
                </a:gridCol>
                <a:gridCol w="2273400">
                  <a:extLst>
                    <a:ext uri="{9D8B030D-6E8A-4147-A177-3AD203B41FA5}">
                      <a16:colId xmlns:a16="http://schemas.microsoft.com/office/drawing/2014/main" val="20002"/>
                    </a:ext>
                  </a:extLst>
                </a:gridCol>
                <a:gridCol w="2273400">
                  <a:extLst>
                    <a:ext uri="{9D8B030D-6E8A-4147-A177-3AD203B41FA5}">
                      <a16:colId xmlns:a16="http://schemas.microsoft.com/office/drawing/2014/main" val="20003"/>
                    </a:ext>
                  </a:extLst>
                </a:gridCol>
                <a:gridCol w="2273400">
                  <a:extLst>
                    <a:ext uri="{9D8B030D-6E8A-4147-A177-3AD203B41FA5}">
                      <a16:colId xmlns:a16="http://schemas.microsoft.com/office/drawing/2014/main" val="20004"/>
                    </a:ext>
                  </a:extLst>
                </a:gridCol>
              </a:tblGrid>
              <a:tr h="349920">
                <a:tc>
                  <a:txBody>
                    <a:bodyPr/>
                    <a:lstStyle/>
                    <a:p>
                      <a:pPr algn="ctr" defTabSz="457200">
                        <a:lnSpc>
                          <a:spcPct val="100000"/>
                        </a:lnSpc>
                      </a:pPr>
                      <a:r>
                        <a:rPr lang="en-US" sz="1200" b="1" u="none" strike="noStrike">
                          <a:solidFill>
                            <a:srgbClr val="FFFFFF"/>
                          </a:solidFill>
                          <a:effectLst/>
                          <a:uFillTx/>
                          <a:latin typeface="Poppins"/>
                        </a:rPr>
                        <a:t>Cycle Type</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Files Count</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Nominal Rate (A)</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Duration Range (s)</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Measured Capacity (Ah)</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349920">
                <a:tc>
                  <a:txBody>
                    <a:bodyPr/>
                    <a:lstStyle/>
                    <a:p>
                      <a:pPr defTabSz="457200">
                        <a:lnSpc>
                          <a:spcPct val="100000"/>
                        </a:lnSpc>
                      </a:pPr>
                      <a:r>
                        <a:rPr lang="en-US" sz="1200" b="0" u="none" strike="noStrike">
                          <a:solidFill>
                            <a:srgbClr val="831838"/>
                          </a:solidFill>
                          <a:effectLst/>
                          <a:uFillTx/>
                          <a:latin typeface="Poppins"/>
                        </a:rPr>
                        <a:t>Discharge CC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01-02 (2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0.5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20,622 - 21,138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2.59 - 2.65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349920">
                <a:tc>
                  <a:txBody>
                    <a:bodyPr/>
                    <a:lstStyle/>
                    <a:p>
                      <a:pPr defTabSz="457200">
                        <a:lnSpc>
                          <a:spcPct val="100000"/>
                        </a:lnSpc>
                      </a:pPr>
                      <a:r>
                        <a:rPr lang="en-US" sz="1200" b="0" u="none" strike="noStrike">
                          <a:solidFill>
                            <a:srgbClr val="831838"/>
                          </a:solidFill>
                          <a:effectLst/>
                          <a:uFillTx/>
                          <a:latin typeface="Poppins"/>
                        </a:rPr>
                        <a:t>Discharge CC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03-11 (9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1.0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9,572 - 10,503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2.52 - 2.77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349920">
                <a:tc>
                  <a:txBody>
                    <a:bodyPr/>
                    <a:lstStyle/>
                    <a:p>
                      <a:pPr defTabSz="457200">
                        <a:lnSpc>
                          <a:spcPct val="100000"/>
                        </a:lnSpc>
                      </a:pPr>
                      <a:r>
                        <a:rPr lang="en-US" sz="1200" b="0" u="none" strike="noStrike">
                          <a:solidFill>
                            <a:srgbClr val="831838"/>
                          </a:solidFill>
                          <a:effectLst/>
                          <a:uFillTx/>
                          <a:latin typeface="Poppins"/>
                        </a:rPr>
                        <a:t>Discharge CC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12-21 (10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4,486 - 4,964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2.34 - 2.62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349920">
                <a:tc>
                  <a:txBody>
                    <a:bodyPr/>
                    <a:lstStyle/>
                    <a:p>
                      <a:pPr defTabSz="457200">
                        <a:lnSpc>
                          <a:spcPct val="100000"/>
                        </a:lnSpc>
                      </a:pPr>
                      <a:r>
                        <a:rPr lang="en-US" sz="1200" b="0" u="none" strike="noStrike">
                          <a:solidFill>
                            <a:srgbClr val="831838"/>
                          </a:solidFill>
                          <a:effectLst/>
                          <a:uFillTx/>
                          <a:latin typeface="Poppins"/>
                        </a:rPr>
                        <a:t>Discharge CC</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22-30 (9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3.0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3,072 - 3,378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2.29 - 2.56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r h="349920">
                <a:tc>
                  <a:txBody>
                    <a:bodyPr/>
                    <a:lstStyle/>
                    <a:p>
                      <a:pPr defTabSz="457200">
                        <a:lnSpc>
                          <a:spcPct val="100000"/>
                        </a:lnSpc>
                      </a:pPr>
                      <a:r>
                        <a:rPr lang="en-US" sz="1200" b="0" u="none" strike="noStrike">
                          <a:solidFill>
                            <a:srgbClr val="831838"/>
                          </a:solidFill>
                          <a:effectLst/>
                          <a:uFillTx/>
                          <a:latin typeface="Poppins"/>
                        </a:rPr>
                        <a:t>Charge CC/CV</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01-10 (10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1.0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10,614 - 13,530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2.74 - 3.02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5"/>
                  </a:ext>
                </a:extLst>
              </a:tr>
              <a:tr h="349920">
                <a:tc>
                  <a:txBody>
                    <a:bodyPr/>
                    <a:lstStyle/>
                    <a:p>
                      <a:pPr defTabSz="457200">
                        <a:lnSpc>
                          <a:spcPct val="100000"/>
                        </a:lnSpc>
                      </a:pPr>
                      <a:r>
                        <a:rPr lang="en-US" sz="1200" b="0" u="none" strike="noStrike">
                          <a:solidFill>
                            <a:srgbClr val="831838"/>
                          </a:solidFill>
                          <a:effectLst/>
                          <a:uFillTx/>
                          <a:latin typeface="Poppins"/>
                        </a:rPr>
                        <a:t>Charge CC/CV</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11-21 (11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2.0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6,125 - 7,600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2.64 - 2.86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6"/>
                  </a:ext>
                </a:extLst>
              </a:tr>
              <a:tr h="349920">
                <a:tc>
                  <a:txBody>
                    <a:bodyPr/>
                    <a:lstStyle/>
                    <a:p>
                      <a:pPr defTabSz="457200">
                        <a:lnSpc>
                          <a:spcPct val="100000"/>
                        </a:lnSpc>
                      </a:pPr>
                      <a:r>
                        <a:rPr lang="en-US" sz="1200" b="0" u="none" strike="noStrike">
                          <a:solidFill>
                            <a:srgbClr val="831838"/>
                          </a:solidFill>
                          <a:effectLst/>
                          <a:uFillTx/>
                          <a:latin typeface="Poppins"/>
                        </a:rPr>
                        <a:t>Charge CC/CV</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22-30 (9 files)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3.0 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4,374 - 5,252 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2.45 - 2.72 Ah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7"/>
                  </a:ext>
                </a:extLst>
              </a:tr>
            </a:tbl>
          </a:graphicData>
        </a:graphic>
      </p:graphicFrame>
      <p:sp>
        <p:nvSpPr>
          <p:cNvPr id="234" name="Rounded Rectangle 7"/>
          <p:cNvSpPr/>
          <p:nvPr/>
        </p:nvSpPr>
        <p:spPr>
          <a:xfrm>
            <a:off x="411480" y="4449960"/>
            <a:ext cx="5549760" cy="179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5" name="TextBox 8"/>
          <p:cNvSpPr/>
          <p:nvPr/>
        </p:nvSpPr>
        <p:spPr>
          <a:xfrm>
            <a:off x="1320120" y="4545720"/>
            <a:ext cx="509256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Data Cleaning &amp; Harmonization</a:t>
            </a:r>
            <a:endParaRPr lang="en-US" sz="1600" b="0" u="none" strike="noStrike">
              <a:solidFill>
                <a:srgbClr val="000000"/>
              </a:solidFill>
              <a:effectLst/>
              <a:uFillTx/>
              <a:latin typeface="Arial"/>
            </a:endParaRPr>
          </a:p>
        </p:txBody>
      </p:sp>
      <p:sp>
        <p:nvSpPr>
          <p:cNvPr id="236" name="TextBox 9"/>
          <p:cNvSpPr/>
          <p:nvPr/>
        </p:nvSpPr>
        <p:spPr>
          <a:xfrm>
            <a:off x="676800" y="4852800"/>
            <a:ext cx="5184000" cy="134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4-Wire Kelvin Averaging: </a:t>
            </a:r>
            <a:r>
              <a:rPr lang="en-US" sz="1200" b="0" u="none" strike="noStrike">
                <a:solidFill>
                  <a:srgbClr val="4B5563"/>
                </a:solidFill>
                <a:effectLst/>
                <a:uFillTx/>
                <a:latin typeface="Poppins"/>
              </a:rPr>
              <a:t>NASA logs contain 4 probe channels (Vbat1-4); computing mean voltage eliminates contact impedance noise.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Uniform 5 s Resampling: </a:t>
            </a:r>
            <a:r>
              <a:rPr lang="en-US" sz="1200" b="0" u="none" strike="noStrike">
                <a:solidFill>
                  <a:srgbClr val="4B5563"/>
                </a:solidFill>
                <a:effectLst/>
                <a:uFillTx/>
                <a:latin typeface="Poppins"/>
              </a:rPr>
              <a:t>Interpolates non-uniform timestamp intervals onto an exact 5.0 s grid for stable digital integration.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Ground Truth Reference: </a:t>
            </a:r>
            <a:r>
              <a:rPr lang="en-US" sz="1200" b="0" u="none" strike="noStrike">
                <a:solidFill>
                  <a:srgbClr val="4B5563"/>
                </a:solidFill>
                <a:effectLst/>
                <a:uFillTx/>
                <a:latin typeface="Poppins"/>
              </a:rPr>
              <a:t>Normalizes Coulomb-counting integral to each cycle's exact measured capacity (0% to 100%).</a:t>
            </a:r>
            <a:endParaRPr lang="en-US" sz="1200" b="0" u="none" strike="noStrike">
              <a:solidFill>
                <a:srgbClr val="000000"/>
              </a:solidFill>
              <a:effectLst/>
              <a:uFillTx/>
              <a:latin typeface="Arial"/>
            </a:endParaRPr>
          </a:p>
        </p:txBody>
      </p:sp>
      <p:sp>
        <p:nvSpPr>
          <p:cNvPr id="237" name="Rounded Rectangle 10"/>
          <p:cNvSpPr/>
          <p:nvPr/>
        </p:nvSpPr>
        <p:spPr>
          <a:xfrm>
            <a:off x="6230160" y="4449960"/>
            <a:ext cx="5549760" cy="179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8" name="TextBox 11"/>
          <p:cNvSpPr/>
          <p:nvPr/>
        </p:nvSpPr>
        <p:spPr>
          <a:xfrm>
            <a:off x="7313760" y="4520160"/>
            <a:ext cx="42724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Train / Test Split &amp; Augmentation</a:t>
            </a:r>
            <a:endParaRPr lang="en-US" sz="1600" b="0" u="none" strike="noStrike">
              <a:solidFill>
                <a:srgbClr val="000000"/>
              </a:solidFill>
              <a:effectLst/>
              <a:uFillTx/>
              <a:latin typeface="Arial"/>
            </a:endParaRPr>
          </a:p>
        </p:txBody>
      </p:sp>
      <p:sp>
        <p:nvSpPr>
          <p:cNvPr id="239" name="TextBox 12"/>
          <p:cNvSpPr/>
          <p:nvPr/>
        </p:nvSpPr>
        <p:spPr>
          <a:xfrm>
            <a:off x="6512400" y="4852800"/>
            <a:ext cx="5184000" cy="134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Training Set (53 files): </a:t>
            </a:r>
            <a:r>
              <a:rPr lang="en-US" sz="1200" b="0" u="none" strike="noStrike">
                <a:solidFill>
                  <a:srgbClr val="4B5563"/>
                </a:solidFill>
                <a:effectLst/>
                <a:uFillTx/>
                <a:latin typeface="Poppins"/>
              </a:rPr>
              <a:t>26 discharge + 27 charge files; expanded to 302,692 samples using synthetic ADC noise and offset augmentation.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Held-Out Test Set (7 files): </a:t>
            </a:r>
            <a:r>
              <a:rPr lang="en-US" sz="1200" b="0" u="none" strike="noStrike">
                <a:solidFill>
                  <a:srgbClr val="4B5563"/>
                </a:solidFill>
                <a:effectLst/>
                <a:uFillTx/>
                <a:latin typeface="Poppins"/>
              </a:rPr>
              <a:t>Discharge 02 (0.5A) and full charge/discharge pairs 10 (1A), 20 (2A), 30 (3A) strictly held out.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Dataset Source: </a:t>
            </a:r>
            <a:r>
              <a:rPr lang="en-US" sz="1200" b="0" u="none" strike="noStrike">
                <a:solidFill>
                  <a:srgbClr val="4B5563"/>
                </a:solidFill>
                <a:effectLst/>
                <a:uFillTx/>
                <a:latin typeface="Poppins"/>
              </a:rPr>
              <a:t>NASA Ames Prognostics Center of Excellence (PCoE) Li-ion Aging Dataset (Dashlink Resource 133).</a:t>
            </a:r>
            <a:endParaRPr lang="en-US"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 name="Picture 1" descr="top_bar.png"/>
          <p:cNvPicPr/>
          <p:nvPr/>
        </p:nvPicPr>
        <p:blipFill>
          <a:blip r:embed="rId3"/>
          <a:stretch/>
        </p:blipFill>
        <p:spPr>
          <a:xfrm>
            <a:off x="0" y="0"/>
            <a:ext cx="12191040" cy="72360"/>
          </a:xfrm>
          <a:prstGeom prst="rect">
            <a:avLst/>
          </a:prstGeom>
          <a:noFill/>
          <a:ln w="0">
            <a:noFill/>
          </a:ln>
        </p:spPr>
      </p:pic>
      <p:pic>
        <p:nvPicPr>
          <p:cNvPr id="241" name="Picture 2" descr="amrita_logo.png"/>
          <p:cNvPicPr/>
          <p:nvPr/>
        </p:nvPicPr>
        <p:blipFill>
          <a:blip r:embed="rId4"/>
          <a:stretch/>
        </p:blipFill>
        <p:spPr>
          <a:xfrm>
            <a:off x="9860040" y="201240"/>
            <a:ext cx="2102400" cy="600120"/>
          </a:xfrm>
          <a:prstGeom prst="rect">
            <a:avLst/>
          </a:prstGeom>
          <a:noFill/>
          <a:ln w="0">
            <a:noFill/>
          </a:ln>
        </p:spPr>
      </p:pic>
      <p:sp>
        <p:nvSpPr>
          <p:cNvPr id="242"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Feature Engineering</a:t>
            </a:r>
            <a:endParaRPr lang="en-US" sz="2500" b="0" u="none" strike="noStrike" dirty="0">
              <a:solidFill>
                <a:srgbClr val="000000"/>
              </a:solidFill>
              <a:effectLst/>
              <a:uFillTx/>
              <a:latin typeface="Arial"/>
            </a:endParaRPr>
          </a:p>
        </p:txBody>
      </p:sp>
      <p:sp>
        <p:nvSpPr>
          <p:cNvPr id="243"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44"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12</a:t>
            </a:r>
            <a:endParaRPr lang="en-US" sz="1000" b="0" u="none" strike="noStrike">
              <a:solidFill>
                <a:srgbClr val="000000"/>
              </a:solidFill>
              <a:effectLst/>
              <a:uFillTx/>
              <a:latin typeface="Arial"/>
            </a:endParaRPr>
          </a:p>
        </p:txBody>
      </p:sp>
      <p:sp>
        <p:nvSpPr>
          <p:cNvPr id="245" name="Rounded Rectangle 6"/>
          <p:cNvSpPr/>
          <p:nvPr/>
        </p:nvSpPr>
        <p:spPr>
          <a:xfrm>
            <a:off x="411480" y="1500120"/>
            <a:ext cx="679968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6" name="TextBox 7"/>
          <p:cNvSpPr/>
          <p:nvPr/>
        </p:nvSpPr>
        <p:spPr>
          <a:xfrm>
            <a:off x="1554480" y="1932480"/>
            <a:ext cx="63424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Causal Input Vector &amp; Physical Rationale</a:t>
            </a:r>
            <a:endParaRPr lang="en-US" sz="1600" b="0" u="none" strike="noStrike">
              <a:solidFill>
                <a:srgbClr val="000000"/>
              </a:solidFill>
              <a:effectLst/>
              <a:uFillTx/>
              <a:latin typeface="Arial"/>
            </a:endParaRPr>
          </a:p>
        </p:txBody>
      </p:sp>
      <p:sp>
        <p:nvSpPr>
          <p:cNvPr id="247" name="TextBox 8"/>
          <p:cNvSpPr/>
          <p:nvPr/>
        </p:nvSpPr>
        <p:spPr>
          <a:xfrm>
            <a:off x="595080" y="2649600"/>
            <a:ext cx="6433920" cy="271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Model Feature Vector: </a:t>
            </a:r>
            <a:r>
              <a:rPr lang="en-US" sz="1200" b="0" u="none" strike="noStrike">
                <a:solidFill>
                  <a:srgbClr val="4B5563"/>
                </a:solidFill>
                <a:effectLst/>
                <a:uFillTx/>
                <a:latin typeface="Poppins"/>
              </a:rPr>
              <a:t>The MLP receives a compact 3-dimensional causal input vector: X = [V_noisy, I_noisy, V_smooth].</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Why Instantaneous V is Insufficient: </a:t>
            </a:r>
            <a:r>
              <a:rPr lang="en-US" sz="1200" b="0" u="none" strike="noStrike">
                <a:solidFill>
                  <a:srgbClr val="4B5563"/>
                </a:solidFill>
                <a:effectLst/>
                <a:uFillTx/>
                <a:latin typeface="Poppins"/>
              </a:rPr>
              <a:t>Under load, terminal voltage shifts instantly by ΔV = I·R0 due to ohmic resistance. Without load context, a sudden 1A discharge looks like a 15% SOC drop.</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Why Current I is Required: </a:t>
            </a:r>
            <a:r>
              <a:rPr lang="en-US" sz="1200" b="0" u="none" strike="noStrike">
                <a:solidFill>
                  <a:srgbClr val="4B5563"/>
                </a:solidFill>
                <a:effectLst/>
                <a:uFillTx/>
                <a:latin typeface="Poppins"/>
              </a:rPr>
              <a:t>Provides sign and magnitude of charge flux; distinguishes discharge current (positive) from CC/CV charging current (negative).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Physical Rationale for V_smooth: </a:t>
            </a:r>
            <a:r>
              <a:rPr lang="en-US" sz="1200" b="0" u="none" strike="noStrike">
                <a:solidFill>
                  <a:srgbClr val="4B5563"/>
                </a:solidFill>
                <a:effectLst/>
                <a:uFillTx/>
                <a:latin typeface="Poppins"/>
              </a:rPr>
              <a:t>A 60-second causal moving average: V_smooth(t) = (1/N) ∑_{k=0}^{N-1} V(t - k·dt). Filters out high-frequency load switching spikes while preserving slow electrochemical equilibrium diffusion.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Zero Future Leakage Gate: </a:t>
            </a:r>
            <a:r>
              <a:rPr lang="en-US" sz="1200" b="0" u="none" strike="noStrike">
                <a:solidFill>
                  <a:srgbClr val="4B5563"/>
                </a:solidFill>
                <a:effectLst/>
                <a:uFillTx/>
                <a:latin typeface="Poppins"/>
              </a:rPr>
              <a:t>Warmup uses dynamic ring buffer averaging only over past samples; strictly zero lookahead into future time steps.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Standardization Scaler: </a:t>
            </a:r>
            <a:r>
              <a:rPr lang="en-US" sz="1200" b="0" u="none" strike="noStrike">
                <a:solidFill>
                  <a:srgbClr val="4B5563"/>
                </a:solidFill>
                <a:effectLst/>
                <a:uFillTx/>
                <a:latin typeface="Poppins"/>
              </a:rPr>
              <a:t>Z-score normalization fit strictly on training set: μ = [3.811V, 0.453A, 3.812V], σ = [0.264V, 1.264A, 0.258V].</a:t>
            </a:r>
            <a:endParaRPr lang="en-US" sz="1200" b="0" u="none" strike="noStrike">
              <a:solidFill>
                <a:srgbClr val="000000"/>
              </a:solidFill>
              <a:effectLst/>
              <a:uFillTx/>
              <a:latin typeface="Arial"/>
            </a:endParaRPr>
          </a:p>
        </p:txBody>
      </p:sp>
      <p:graphicFrame>
        <p:nvGraphicFramePr>
          <p:cNvPr id="248" name="Table 9"/>
          <p:cNvGraphicFramePr/>
          <p:nvPr/>
        </p:nvGraphicFramePr>
        <p:xfrm>
          <a:off x="7400160" y="1500120"/>
          <a:ext cx="4610880" cy="2905320"/>
        </p:xfrm>
        <a:graphic>
          <a:graphicData uri="http://schemas.openxmlformats.org/drawingml/2006/table">
            <a:tbl>
              <a:tblPr/>
              <a:tblGrid>
                <a:gridCol w="1152720">
                  <a:extLst>
                    <a:ext uri="{9D8B030D-6E8A-4147-A177-3AD203B41FA5}">
                      <a16:colId xmlns:a16="http://schemas.microsoft.com/office/drawing/2014/main" val="20000"/>
                    </a:ext>
                  </a:extLst>
                </a:gridCol>
                <a:gridCol w="1152720">
                  <a:extLst>
                    <a:ext uri="{9D8B030D-6E8A-4147-A177-3AD203B41FA5}">
                      <a16:colId xmlns:a16="http://schemas.microsoft.com/office/drawing/2014/main" val="20001"/>
                    </a:ext>
                  </a:extLst>
                </a:gridCol>
                <a:gridCol w="1152720">
                  <a:extLst>
                    <a:ext uri="{9D8B030D-6E8A-4147-A177-3AD203B41FA5}">
                      <a16:colId xmlns:a16="http://schemas.microsoft.com/office/drawing/2014/main" val="20002"/>
                    </a:ext>
                  </a:extLst>
                </a:gridCol>
                <a:gridCol w="1152720">
                  <a:extLst>
                    <a:ext uri="{9D8B030D-6E8A-4147-A177-3AD203B41FA5}">
                      <a16:colId xmlns:a16="http://schemas.microsoft.com/office/drawing/2014/main" val="20003"/>
                    </a:ext>
                  </a:extLst>
                </a:gridCol>
              </a:tblGrid>
              <a:tr h="649800">
                <a:tc>
                  <a:txBody>
                    <a:bodyPr/>
                    <a:lstStyle/>
                    <a:p>
                      <a:pPr algn="ctr" defTabSz="457200">
                        <a:lnSpc>
                          <a:spcPct val="100000"/>
                        </a:lnSpc>
                      </a:pPr>
                      <a:r>
                        <a:rPr lang="en-US" sz="1200" b="1" u="none" strike="noStrike">
                          <a:solidFill>
                            <a:srgbClr val="FFFFFF"/>
                          </a:solidFill>
                          <a:effectLst/>
                          <a:uFillTx/>
                          <a:latin typeface="Poppins"/>
                        </a:rPr>
                        <a:t>Feature</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Importance Rank</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150" b="1" u="none" strike="noStrike">
                          <a:solidFill>
                            <a:srgbClr val="FFFFFF"/>
                          </a:solidFill>
                          <a:effectLst/>
                          <a:uFillTx/>
                          <a:latin typeface="Poppins"/>
                        </a:rPr>
                        <a:t>Permutation Drop</a:t>
                      </a:r>
                      <a:endParaRPr lang="en-US" sz="11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200" b="1" u="none" strike="noStrike">
                          <a:solidFill>
                            <a:srgbClr val="FFFFFF"/>
                          </a:solidFill>
                          <a:effectLst/>
                          <a:uFillTx/>
                          <a:latin typeface="Poppins"/>
                        </a:rPr>
                        <a:t>Physical Role</a:t>
                      </a:r>
                      <a:endParaRPr lang="en-US" sz="12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649800">
                <a:tc>
                  <a:txBody>
                    <a:bodyPr/>
                    <a:lstStyle/>
                    <a:p>
                      <a:pPr defTabSz="457200">
                        <a:lnSpc>
                          <a:spcPct val="100000"/>
                        </a:lnSpc>
                      </a:pPr>
                      <a:r>
                        <a:rPr lang="en-US" sz="1000" b="0" u="none" strike="noStrike">
                          <a:solidFill>
                            <a:srgbClr val="831838"/>
                          </a:solidFill>
                          <a:effectLst/>
                          <a:uFillTx/>
                          <a:latin typeface="Poppins"/>
                        </a:rPr>
                        <a:t>Terminal Voltage (V)</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Rank 1 (Primary)</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84.2 %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Anchors absolute thermodynamic equilibrium state</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649800">
                <a:tc>
                  <a:txBody>
                    <a:bodyPr/>
                    <a:lstStyle/>
                    <a:p>
                      <a:pPr defTabSz="457200">
                        <a:lnSpc>
                          <a:spcPct val="100000"/>
                        </a:lnSpc>
                      </a:pPr>
                      <a:r>
                        <a:rPr lang="en-US" sz="1000" b="0" u="none" strike="noStrike">
                          <a:solidFill>
                            <a:srgbClr val="831838"/>
                          </a:solidFill>
                          <a:effectLst/>
                          <a:uFillTx/>
                          <a:latin typeface="Poppins"/>
                        </a:rPr>
                        <a:t>Smoothed Voltage (V_s)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Rank 2 (Filter)</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12.6 %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Decouples fast IR drop from bulk SOC depletion</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649800">
                <a:tc>
                  <a:txBody>
                    <a:bodyPr/>
                    <a:lstStyle/>
                    <a:p>
                      <a:pPr defTabSz="457200">
                        <a:lnSpc>
                          <a:spcPct val="100000"/>
                        </a:lnSpc>
                      </a:pPr>
                      <a:r>
                        <a:rPr lang="en-US" sz="1000" b="0" u="none" strike="noStrike">
                          <a:solidFill>
                            <a:srgbClr val="831838"/>
                          </a:solidFill>
                          <a:effectLst/>
                          <a:uFillTx/>
                          <a:latin typeface="Poppins"/>
                        </a:rPr>
                        <a:t>Load Current (I)</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Rank 3 (Flux)</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3.2 %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Determines instantaneous ohmic offset direction</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bl>
          </a:graphicData>
        </a:graphic>
      </p:graphicFrame>
      <p:sp>
        <p:nvSpPr>
          <p:cNvPr id="249" name="Rounded Rectangle 10"/>
          <p:cNvSpPr/>
          <p:nvPr/>
        </p:nvSpPr>
        <p:spPr>
          <a:xfrm>
            <a:off x="7400160" y="4683600"/>
            <a:ext cx="4610880" cy="14659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0" name="TextBox 11"/>
          <p:cNvSpPr/>
          <p:nvPr/>
        </p:nvSpPr>
        <p:spPr>
          <a:xfrm>
            <a:off x="8649360" y="4813920"/>
            <a:ext cx="313020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Robustness Principle</a:t>
            </a:r>
            <a:endParaRPr lang="en-US" sz="1600" b="0" u="none" strike="noStrike">
              <a:solidFill>
                <a:srgbClr val="000000"/>
              </a:solidFill>
              <a:effectLst/>
              <a:uFillTx/>
              <a:latin typeface="Arial"/>
            </a:endParaRPr>
          </a:p>
        </p:txBody>
      </p:sp>
      <p:sp>
        <p:nvSpPr>
          <p:cNvPr id="251" name="TextBox 12"/>
          <p:cNvSpPr/>
          <p:nvPr/>
        </p:nvSpPr>
        <p:spPr>
          <a:xfrm>
            <a:off x="7765920" y="5190480"/>
            <a:ext cx="401364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Terminal Voltage Anchor: </a:t>
            </a:r>
            <a:r>
              <a:rPr lang="en-US" sz="1200" b="0" u="none" strike="noStrike">
                <a:solidFill>
                  <a:srgbClr val="4B5563"/>
                </a:solidFill>
                <a:effectLst/>
                <a:uFillTx/>
                <a:latin typeface="Poppins"/>
              </a:rPr>
              <a:t>Because the model relies on terminal voltage rather than continuous current integration, current sensor bias cannot cause unbounded drift.</a:t>
            </a:r>
            <a:endParaRPr lang="en-US" sz="12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Picture 1" descr="top_bar.png"/>
          <p:cNvPicPr/>
          <p:nvPr/>
        </p:nvPicPr>
        <p:blipFill>
          <a:blip r:embed="rId3"/>
          <a:stretch/>
        </p:blipFill>
        <p:spPr>
          <a:xfrm>
            <a:off x="0" y="0"/>
            <a:ext cx="12191040" cy="72360"/>
          </a:xfrm>
          <a:prstGeom prst="rect">
            <a:avLst/>
          </a:prstGeom>
          <a:noFill/>
          <a:ln w="0">
            <a:noFill/>
          </a:ln>
        </p:spPr>
      </p:pic>
      <p:pic>
        <p:nvPicPr>
          <p:cNvPr id="253" name="Picture 2" descr="amrita_logo.png"/>
          <p:cNvPicPr/>
          <p:nvPr/>
        </p:nvPicPr>
        <p:blipFill>
          <a:blip r:embed="rId4"/>
          <a:stretch/>
        </p:blipFill>
        <p:spPr>
          <a:xfrm>
            <a:off x="9860040" y="201240"/>
            <a:ext cx="2102400" cy="600120"/>
          </a:xfrm>
          <a:prstGeom prst="rect">
            <a:avLst/>
          </a:prstGeom>
          <a:noFill/>
          <a:ln w="0">
            <a:noFill/>
          </a:ln>
        </p:spPr>
      </p:pic>
      <p:sp>
        <p:nvSpPr>
          <p:cNvPr id="254"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Model Architecture &amp; Ablations</a:t>
            </a:r>
            <a:endParaRPr lang="en-US" sz="2500" b="0" u="none" strike="noStrike" dirty="0">
              <a:solidFill>
                <a:srgbClr val="000000"/>
              </a:solidFill>
              <a:effectLst/>
              <a:uFillTx/>
              <a:latin typeface="Arial"/>
            </a:endParaRPr>
          </a:p>
        </p:txBody>
      </p:sp>
      <p:sp>
        <p:nvSpPr>
          <p:cNvPr id="255"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56"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13</a:t>
            </a:r>
            <a:endParaRPr lang="en-US" sz="1000" b="0" u="none" strike="noStrike">
              <a:solidFill>
                <a:srgbClr val="000000"/>
              </a:solidFill>
              <a:effectLst/>
              <a:uFillTx/>
              <a:latin typeface="Arial"/>
            </a:endParaRPr>
          </a:p>
        </p:txBody>
      </p:sp>
      <p:sp>
        <p:nvSpPr>
          <p:cNvPr id="257" name="Rounded Rectangle 7"/>
          <p:cNvSpPr/>
          <p:nvPr/>
        </p:nvSpPr>
        <p:spPr>
          <a:xfrm>
            <a:off x="6999840" y="1500120"/>
            <a:ext cx="477972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8" name="TextBox 8"/>
          <p:cNvSpPr/>
          <p:nvPr/>
        </p:nvSpPr>
        <p:spPr>
          <a:xfrm>
            <a:off x="7228440" y="1747080"/>
            <a:ext cx="432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Architectural Decisions &amp; Pareto Frontier</a:t>
            </a:r>
            <a:endParaRPr lang="en-US" sz="1600" b="0" u="none" strike="noStrike">
              <a:solidFill>
                <a:srgbClr val="000000"/>
              </a:solidFill>
              <a:effectLst/>
              <a:uFillTx/>
              <a:latin typeface="Arial"/>
            </a:endParaRPr>
          </a:p>
        </p:txBody>
      </p:sp>
      <p:sp>
        <p:nvSpPr>
          <p:cNvPr id="259" name="TextBox 9"/>
          <p:cNvSpPr/>
          <p:nvPr/>
        </p:nvSpPr>
        <p:spPr>
          <a:xfrm>
            <a:off x="7294320" y="2246040"/>
            <a:ext cx="4413960" cy="3687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MLP 3-16-1 Topology: </a:t>
            </a:r>
            <a:r>
              <a:rPr lang="en-US" sz="1200" b="0" u="none" strike="noStrike">
                <a:solidFill>
                  <a:srgbClr val="4B5563"/>
                </a:solidFill>
                <a:effectLst/>
                <a:uFillTx/>
                <a:latin typeface="Poppins"/>
              </a:rPr>
              <a:t>3 inputs → 16 hidden neurons with tanh activation → 1 linear output neuron (81 trainable parameters).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Why tanh over ReLU?: </a:t>
            </a:r>
            <a:r>
              <a:rPr lang="en-US" sz="1200" b="0" u="none" strike="noStrike">
                <a:solidFill>
                  <a:srgbClr val="4B5563"/>
                </a:solidFill>
                <a:effectLst/>
                <a:uFillTx/>
                <a:latin typeface="Poppins"/>
              </a:rPr>
              <a:t>ReLU creates piecewise-linear planes with discontinuous derivatives; tanh produces smooth, continuous S-curves perfectly matching the continuous chemical potential of Li-ion intercalation.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Pareto Frontier Efficiency: </a:t>
            </a:r>
            <a:r>
              <a:rPr lang="en-US" sz="1200" b="0" u="none" strike="noStrike">
                <a:solidFill>
                  <a:srgbClr val="4B5563"/>
                </a:solidFill>
                <a:effectLst/>
                <a:uFillTx/>
                <a:latin typeface="Poppins"/>
              </a:rPr>
              <a:t>Ablation results across depth and width:</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Linear Baseline: </a:t>
            </a:r>
            <a:r>
              <a:rPr lang="en-US" sz="1200" b="0" u="none" strike="noStrike">
                <a:solidFill>
                  <a:srgbClr val="4B5563"/>
                </a:solidFill>
                <a:effectLst/>
                <a:uFillTx/>
                <a:latin typeface="Poppins"/>
              </a:rPr>
              <a:t>MAE: 3.02% — Underfits non-linear OCV knees.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3-8-1 MLP: </a:t>
            </a:r>
            <a:r>
              <a:rPr lang="en-US" sz="1200" b="0" u="none" strike="noStrike">
                <a:solidFill>
                  <a:srgbClr val="4B5563"/>
                </a:solidFill>
                <a:effectLst/>
                <a:uFillTx/>
                <a:latin typeface="Poppins"/>
              </a:rPr>
              <a:t>MAE: 1.62% — Fast (38 params), but higher knee error.</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3-16-1 MLP (Proposed): </a:t>
            </a:r>
            <a:r>
              <a:rPr lang="en-US" sz="1200" b="0" u="none" strike="noStrike">
                <a:solidFill>
                  <a:srgbClr val="4B5563"/>
                </a:solidFill>
                <a:effectLst/>
                <a:uFillTx/>
                <a:latin typeface="Poppins"/>
              </a:rPr>
              <a:t>MAE: 1.25% — Optimal balance of accuracy (1.25%) and tiny footprint (348 bytes).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3-32-1 MLP: </a:t>
            </a:r>
            <a:r>
              <a:rPr lang="en-US" sz="1200" b="0" u="none" strike="noStrike">
                <a:solidFill>
                  <a:srgbClr val="4B5563"/>
                </a:solidFill>
                <a:effectLst/>
                <a:uFillTx/>
                <a:latin typeface="Poppins"/>
              </a:rPr>
              <a:t>MAE: 1.21% — Marginal 0.04% gain, but doubles parameter count to 161 (diminishing returns).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Deep MLP (3-16-16-1): </a:t>
            </a:r>
            <a:r>
              <a:rPr lang="en-US" sz="1200" b="0" u="none" strike="noStrike">
                <a:solidFill>
                  <a:srgbClr val="4B5563"/>
                </a:solidFill>
                <a:effectLst/>
                <a:uFillTx/>
                <a:latin typeface="Poppins"/>
              </a:rPr>
              <a:t>MAE: 1.18% — Higher latency (14.2 µs) and risk of edge overfitting with zero real benefit.</a:t>
            </a:r>
            <a:endParaRPr lang="en-US" sz="1200" b="0" u="none" strike="noStrike">
              <a:solidFill>
                <a:srgbClr val="000000"/>
              </a:solidFill>
              <a:effectLst/>
              <a:uFillTx/>
              <a:latin typeface="Arial"/>
            </a:endParaRPr>
          </a:p>
        </p:txBody>
      </p:sp>
      <p:pic>
        <p:nvPicPr>
          <p:cNvPr id="260" name="Picture 259"/>
          <p:cNvPicPr/>
          <p:nvPr/>
        </p:nvPicPr>
        <p:blipFill>
          <a:blip r:embed="rId5"/>
          <a:srcRect r="40066"/>
          <a:stretch/>
        </p:blipFill>
        <p:spPr>
          <a:xfrm>
            <a:off x="8640" y="1600200"/>
            <a:ext cx="6849360" cy="463104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 name="Picture 1" descr="top_bar.png"/>
          <p:cNvPicPr/>
          <p:nvPr/>
        </p:nvPicPr>
        <p:blipFill>
          <a:blip r:embed="rId3"/>
          <a:stretch/>
        </p:blipFill>
        <p:spPr>
          <a:xfrm>
            <a:off x="0" y="0"/>
            <a:ext cx="12191040" cy="72360"/>
          </a:xfrm>
          <a:prstGeom prst="rect">
            <a:avLst/>
          </a:prstGeom>
          <a:noFill/>
          <a:ln w="0">
            <a:noFill/>
          </a:ln>
        </p:spPr>
      </p:pic>
      <p:pic>
        <p:nvPicPr>
          <p:cNvPr id="262" name="Picture 2" descr="amrita_logo.png"/>
          <p:cNvPicPr/>
          <p:nvPr/>
        </p:nvPicPr>
        <p:blipFill>
          <a:blip r:embed="rId4"/>
          <a:stretch/>
        </p:blipFill>
        <p:spPr>
          <a:xfrm>
            <a:off x="9860040" y="201240"/>
            <a:ext cx="2102400" cy="600120"/>
          </a:xfrm>
          <a:prstGeom prst="rect">
            <a:avLst/>
          </a:prstGeom>
          <a:noFill/>
          <a:ln w="0">
            <a:noFill/>
          </a:ln>
        </p:spPr>
      </p:pic>
      <p:sp>
        <p:nvSpPr>
          <p:cNvPr id="263"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Multi-Algorithm Benchmark</a:t>
            </a:r>
            <a:endParaRPr lang="en-US" sz="2500" b="0" u="none" strike="noStrike" dirty="0">
              <a:solidFill>
                <a:srgbClr val="000000"/>
              </a:solidFill>
              <a:effectLst/>
              <a:uFillTx/>
              <a:latin typeface="Arial"/>
            </a:endParaRPr>
          </a:p>
        </p:txBody>
      </p:sp>
      <p:sp>
        <p:nvSpPr>
          <p:cNvPr id="264"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65"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14</a:t>
            </a:r>
            <a:endParaRPr lang="en-US" sz="1000" b="0" u="none" strike="noStrike">
              <a:solidFill>
                <a:srgbClr val="000000"/>
              </a:solidFill>
              <a:effectLst/>
              <a:uFillTx/>
              <a:latin typeface="Arial"/>
            </a:endParaRPr>
          </a:p>
        </p:txBody>
      </p:sp>
      <p:pic>
        <p:nvPicPr>
          <p:cNvPr id="266" name="Picture 6" descr="baselines_comparison.png"/>
          <p:cNvPicPr/>
          <p:nvPr/>
        </p:nvPicPr>
        <p:blipFill>
          <a:blip r:embed="rId5"/>
          <a:stretch/>
        </p:blipFill>
        <p:spPr>
          <a:xfrm>
            <a:off x="411480" y="1500120"/>
            <a:ext cx="6358320" cy="4649760"/>
          </a:xfrm>
          <a:prstGeom prst="rect">
            <a:avLst/>
          </a:prstGeom>
          <a:noFill/>
          <a:ln w="0">
            <a:noFill/>
          </a:ln>
        </p:spPr>
      </p:pic>
      <p:graphicFrame>
        <p:nvGraphicFramePr>
          <p:cNvPr id="267" name="Table 7"/>
          <p:cNvGraphicFramePr/>
          <p:nvPr/>
        </p:nvGraphicFramePr>
        <p:xfrm>
          <a:off x="6887160" y="1500120"/>
          <a:ext cx="5122080" cy="4648320"/>
        </p:xfrm>
        <a:graphic>
          <a:graphicData uri="http://schemas.openxmlformats.org/drawingml/2006/table">
            <a:tbl>
              <a:tblPr/>
              <a:tblGrid>
                <a:gridCol w="1137240">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647280">
                  <a:extLst>
                    <a:ext uri="{9D8B030D-6E8A-4147-A177-3AD203B41FA5}">
                      <a16:colId xmlns:a16="http://schemas.microsoft.com/office/drawing/2014/main" val="20002"/>
                    </a:ext>
                  </a:extLst>
                </a:gridCol>
                <a:gridCol w="759240">
                  <a:extLst>
                    <a:ext uri="{9D8B030D-6E8A-4147-A177-3AD203B41FA5}">
                      <a16:colId xmlns:a16="http://schemas.microsoft.com/office/drawing/2014/main" val="20003"/>
                    </a:ext>
                  </a:extLst>
                </a:gridCol>
                <a:gridCol w="595080">
                  <a:extLst>
                    <a:ext uri="{9D8B030D-6E8A-4147-A177-3AD203B41FA5}">
                      <a16:colId xmlns:a16="http://schemas.microsoft.com/office/drawing/2014/main" val="20004"/>
                    </a:ext>
                  </a:extLst>
                </a:gridCol>
                <a:gridCol w="1108440">
                  <a:extLst>
                    <a:ext uri="{9D8B030D-6E8A-4147-A177-3AD203B41FA5}">
                      <a16:colId xmlns:a16="http://schemas.microsoft.com/office/drawing/2014/main" val="20005"/>
                    </a:ext>
                  </a:extLst>
                </a:gridCol>
              </a:tblGrid>
              <a:tr h="581040">
                <a:tc>
                  <a:txBody>
                    <a:bodyPr/>
                    <a:lstStyle/>
                    <a:p>
                      <a:pPr algn="ctr" defTabSz="457200">
                        <a:lnSpc>
                          <a:spcPct val="100000"/>
                        </a:lnSpc>
                      </a:pPr>
                      <a:r>
                        <a:rPr lang="en-US" sz="950" b="1" u="none" strike="noStrike">
                          <a:solidFill>
                            <a:srgbClr val="FFFFFF"/>
                          </a:solidFill>
                          <a:effectLst/>
                          <a:uFillTx/>
                          <a:latin typeface="Poppins"/>
                        </a:rPr>
                        <a:t>Algorithm</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Category</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Avg MAE</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050" b="1" u="none" strike="noStrike">
                          <a:solidFill>
                            <a:srgbClr val="FFFFFF"/>
                          </a:solidFill>
                          <a:effectLst/>
                          <a:uFillTx/>
                          <a:latin typeface="Poppins"/>
                        </a:rPr>
                        <a:t>MCU</a:t>
                      </a:r>
                      <a:r>
                        <a:rPr lang="en-US" sz="800" b="1" u="none" strike="noStrike">
                          <a:solidFill>
                            <a:srgbClr val="FFFFFF"/>
                          </a:solidFill>
                          <a:effectLst/>
                          <a:uFillTx/>
                          <a:latin typeface="Poppins"/>
                        </a:rPr>
                        <a:t> </a:t>
                      </a:r>
                      <a:r>
                        <a:rPr lang="en-US" sz="1000" b="1" u="none" strike="noStrike">
                          <a:solidFill>
                            <a:srgbClr val="FFFFFF"/>
                          </a:solidFill>
                          <a:effectLst/>
                          <a:uFillTx/>
                          <a:latin typeface="Poppins"/>
                        </a:rPr>
                        <a:t>Latency</a:t>
                      </a:r>
                      <a:endParaRPr lang="en-US" sz="10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Flash/RAM</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Status</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581040">
                <a:tc>
                  <a:txBody>
                    <a:bodyPr/>
                    <a:lstStyle/>
                    <a:p>
                      <a:pPr defTabSz="457200">
                        <a:lnSpc>
                          <a:spcPct val="100000"/>
                        </a:lnSpc>
                      </a:pPr>
                      <a:r>
                        <a:rPr lang="en-US" sz="1000" b="0" u="none" strike="noStrike">
                          <a:solidFill>
                            <a:srgbClr val="831838"/>
                          </a:solidFill>
                          <a:effectLst/>
                          <a:uFillTx/>
                          <a:latin typeface="Poppins"/>
                        </a:rPr>
                        <a:t>MLP 3-16-1</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Neural Net</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1.25 %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6.03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348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50" b="0" u="none" strike="noStrike">
                          <a:solidFill>
                            <a:srgbClr val="1F2937"/>
                          </a:solidFill>
                          <a:effectLst/>
                          <a:uFillTx/>
                          <a:latin typeface="Poppins"/>
                        </a:rPr>
                        <a:t>RECOMMENDED</a:t>
                      </a:r>
                      <a:endParaRPr lang="en-US" sz="95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581040">
                <a:tc>
                  <a:txBody>
                    <a:bodyPr/>
                    <a:lstStyle/>
                    <a:p>
                      <a:pPr defTabSz="457200">
                        <a:lnSpc>
                          <a:spcPct val="100000"/>
                        </a:lnSpc>
                      </a:pPr>
                      <a:r>
                        <a:rPr lang="en-US" sz="1000" b="0" u="none" strike="noStrike">
                          <a:solidFill>
                            <a:srgbClr val="831838"/>
                          </a:solidFill>
                          <a:effectLst/>
                          <a:uFillTx/>
                          <a:latin typeface="Poppins"/>
                        </a:rPr>
                        <a:t>Random Forest</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Tree Ensemble</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2.04 %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24.8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&gt;120 KB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Heavy ROM Overhead</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581040">
                <a:tc>
                  <a:txBody>
                    <a:bodyPr/>
                    <a:lstStyle/>
                    <a:p>
                      <a:pPr defTabSz="457200">
                        <a:lnSpc>
                          <a:spcPct val="100000"/>
                        </a:lnSpc>
                      </a:pPr>
                      <a:r>
                        <a:rPr lang="en-US" sz="1000" b="0" u="none" strike="noStrike">
                          <a:solidFill>
                            <a:srgbClr val="831838"/>
                          </a:solidFill>
                          <a:effectLst/>
                          <a:uFillTx/>
                          <a:latin typeface="Poppins"/>
                        </a:rPr>
                        <a:t>Linear Reg</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Linear Model</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3.02 %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2.40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32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Underfits Knees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581040">
                <a:tc>
                  <a:txBody>
                    <a:bodyPr/>
                    <a:lstStyle/>
                    <a:p>
                      <a:pPr defTabSz="457200">
                        <a:lnSpc>
                          <a:spcPct val="100000"/>
                        </a:lnSpc>
                      </a:pPr>
                      <a:r>
                        <a:rPr lang="en-US" sz="1000" b="0" u="none" strike="noStrike">
                          <a:solidFill>
                            <a:srgbClr val="831838"/>
                          </a:solidFill>
                          <a:effectLst/>
                          <a:uFillTx/>
                          <a:latin typeface="Poppins"/>
                        </a:rPr>
                        <a:t>SPKF (UKF)</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Nonlinear Filter</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6.02 %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118.5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3,400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Best Physics Filter</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r h="581040">
                <a:tc>
                  <a:txBody>
                    <a:bodyPr/>
                    <a:lstStyle/>
                    <a:p>
                      <a:pPr defTabSz="457200">
                        <a:lnSpc>
                          <a:spcPct val="100000"/>
                        </a:lnSpc>
                      </a:pPr>
                      <a:r>
                        <a:rPr lang="en-US" sz="1000" b="0" u="none" strike="noStrike">
                          <a:solidFill>
                            <a:srgbClr val="831838"/>
                          </a:solidFill>
                          <a:effectLst/>
                          <a:uFillTx/>
                          <a:latin typeface="Poppins"/>
                        </a:rPr>
                        <a:t>EKF</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Linearized Filter</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6.02 %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42.1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1,850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Classical Baseline</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5"/>
                  </a:ext>
                </a:extLst>
              </a:tr>
              <a:tr h="581040">
                <a:tc>
                  <a:txBody>
                    <a:bodyPr/>
                    <a:lstStyle/>
                    <a:p>
                      <a:pPr defTabSz="457200">
                        <a:lnSpc>
                          <a:spcPct val="100000"/>
                        </a:lnSpc>
                      </a:pPr>
                      <a:r>
                        <a:rPr lang="en-US" sz="1000" b="0" u="none" strike="noStrike">
                          <a:solidFill>
                            <a:srgbClr val="831838"/>
                          </a:solidFill>
                          <a:effectLst/>
                          <a:uFillTx/>
                          <a:latin typeface="Poppins"/>
                        </a:rPr>
                        <a:t>Coulomb Count</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Integration</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2.24 %*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1.10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16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000" b="0" u="none" strike="noStrike">
                          <a:solidFill>
                            <a:srgbClr val="1F2937"/>
                          </a:solidFill>
                          <a:effectLst/>
                          <a:uFillTx/>
                          <a:latin typeface="Poppins"/>
                        </a:rPr>
                        <a:t>Drifts with DC Bias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6"/>
                  </a:ext>
                </a:extLst>
              </a:tr>
              <a:tr h="581040">
                <a:tc>
                  <a:txBody>
                    <a:bodyPr/>
                    <a:lstStyle/>
                    <a:p>
                      <a:pPr defTabSz="457200">
                        <a:lnSpc>
                          <a:spcPct val="100000"/>
                        </a:lnSpc>
                      </a:pPr>
                      <a:r>
                        <a:rPr lang="en-US" sz="1000" b="0" u="none" strike="noStrike">
                          <a:solidFill>
                            <a:srgbClr val="831838"/>
                          </a:solidFill>
                          <a:effectLst/>
                          <a:uFillTx/>
                          <a:latin typeface="Poppins"/>
                        </a:rPr>
                        <a:t>OCV Lookup</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Static Table</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9.75 %</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4.50 µs</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120 B</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000" b="0" u="none" strike="noStrike">
                          <a:solidFill>
                            <a:srgbClr val="1F2937"/>
                          </a:solidFill>
                          <a:effectLst/>
                          <a:uFillTx/>
                          <a:latin typeface="Poppins"/>
                        </a:rPr>
                        <a:t>Fails Under Load</a:t>
                      </a:r>
                      <a:endParaRPr lang="en-US" sz="10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 name="Picture 1" descr="top_bar.png"/>
          <p:cNvPicPr/>
          <p:nvPr/>
        </p:nvPicPr>
        <p:blipFill>
          <a:blip r:embed="rId3"/>
          <a:stretch/>
        </p:blipFill>
        <p:spPr>
          <a:xfrm>
            <a:off x="0" y="0"/>
            <a:ext cx="12191040" cy="72360"/>
          </a:xfrm>
          <a:prstGeom prst="rect">
            <a:avLst/>
          </a:prstGeom>
          <a:noFill/>
          <a:ln w="0">
            <a:noFill/>
          </a:ln>
        </p:spPr>
      </p:pic>
      <p:pic>
        <p:nvPicPr>
          <p:cNvPr id="269" name="Picture 2" descr="amrita_logo.png"/>
          <p:cNvPicPr/>
          <p:nvPr/>
        </p:nvPicPr>
        <p:blipFill>
          <a:blip r:embed="rId4"/>
          <a:stretch/>
        </p:blipFill>
        <p:spPr>
          <a:xfrm>
            <a:off x="9860040" y="201240"/>
            <a:ext cx="2102400" cy="600120"/>
          </a:xfrm>
          <a:prstGeom prst="rect">
            <a:avLst/>
          </a:prstGeom>
          <a:noFill/>
          <a:ln w="0">
            <a:noFill/>
          </a:ln>
        </p:spPr>
      </p:pic>
      <p:sp>
        <p:nvSpPr>
          <p:cNvPr id="270"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Results on Held-Out Cycles</a:t>
            </a:r>
            <a:endParaRPr lang="en-US" sz="2500" b="0" u="none" strike="noStrike" dirty="0">
              <a:solidFill>
                <a:srgbClr val="000000"/>
              </a:solidFill>
              <a:effectLst/>
              <a:uFillTx/>
              <a:latin typeface="Arial"/>
            </a:endParaRPr>
          </a:p>
        </p:txBody>
      </p:sp>
      <p:sp>
        <p:nvSpPr>
          <p:cNvPr id="271"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72"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15</a:t>
            </a:r>
            <a:endParaRPr lang="en-US" sz="1000" b="0" u="none" strike="noStrike">
              <a:solidFill>
                <a:srgbClr val="000000"/>
              </a:solidFill>
              <a:effectLst/>
              <a:uFillTx/>
              <a:latin typeface="Arial"/>
            </a:endParaRPr>
          </a:p>
        </p:txBody>
      </p:sp>
      <p:graphicFrame>
        <p:nvGraphicFramePr>
          <p:cNvPr id="273" name="Table 6"/>
          <p:cNvGraphicFramePr/>
          <p:nvPr/>
        </p:nvGraphicFramePr>
        <p:xfrm>
          <a:off x="411480" y="1500120"/>
          <a:ext cx="11367000" cy="1699920"/>
        </p:xfrm>
        <a:graphic>
          <a:graphicData uri="http://schemas.openxmlformats.org/drawingml/2006/table">
            <a:tbl>
              <a:tblPr/>
              <a:tblGrid>
                <a:gridCol w="2273400">
                  <a:extLst>
                    <a:ext uri="{9D8B030D-6E8A-4147-A177-3AD203B41FA5}">
                      <a16:colId xmlns:a16="http://schemas.microsoft.com/office/drawing/2014/main" val="20000"/>
                    </a:ext>
                  </a:extLst>
                </a:gridCol>
                <a:gridCol w="2273400">
                  <a:extLst>
                    <a:ext uri="{9D8B030D-6E8A-4147-A177-3AD203B41FA5}">
                      <a16:colId xmlns:a16="http://schemas.microsoft.com/office/drawing/2014/main" val="20001"/>
                    </a:ext>
                  </a:extLst>
                </a:gridCol>
                <a:gridCol w="2273400">
                  <a:extLst>
                    <a:ext uri="{9D8B030D-6E8A-4147-A177-3AD203B41FA5}">
                      <a16:colId xmlns:a16="http://schemas.microsoft.com/office/drawing/2014/main" val="20002"/>
                    </a:ext>
                  </a:extLst>
                </a:gridCol>
                <a:gridCol w="2273400">
                  <a:extLst>
                    <a:ext uri="{9D8B030D-6E8A-4147-A177-3AD203B41FA5}">
                      <a16:colId xmlns:a16="http://schemas.microsoft.com/office/drawing/2014/main" val="20003"/>
                    </a:ext>
                  </a:extLst>
                </a:gridCol>
                <a:gridCol w="2273400">
                  <a:extLst>
                    <a:ext uri="{9D8B030D-6E8A-4147-A177-3AD203B41FA5}">
                      <a16:colId xmlns:a16="http://schemas.microsoft.com/office/drawing/2014/main" val="20004"/>
                    </a:ext>
                  </a:extLst>
                </a:gridCol>
              </a:tblGrid>
              <a:tr h="283320">
                <a:tc>
                  <a:txBody>
                    <a:bodyPr/>
                    <a:lstStyle/>
                    <a:p>
                      <a:pPr defTabSz="457200">
                        <a:lnSpc>
                          <a:spcPct val="100000"/>
                        </a:lnSpc>
                      </a:pPr>
                      <a:r>
                        <a:rPr lang="en-US" sz="950" b="1" u="none" strike="noStrike">
                          <a:solidFill>
                            <a:srgbClr val="FFFFFF"/>
                          </a:solidFill>
                          <a:effectLst/>
                          <a:uFillTx/>
                          <a:latin typeface="Poppins"/>
                        </a:rPr>
                        <a:t>Held-Out Cycle</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Proposed MLP (%)</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Random Forest (%)</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Linear Reg (%)</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950" b="1" u="none" strike="noStrike">
                          <a:solidFill>
                            <a:srgbClr val="FFFFFF"/>
                          </a:solidFill>
                          <a:effectLst/>
                          <a:uFillTx/>
                          <a:latin typeface="Poppins"/>
                        </a:rPr>
                        <a:t>Coulomb Counting (%)</a:t>
                      </a:r>
                      <a:endParaRPr lang="en-US" sz="95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283320">
                <a:tc>
                  <a:txBody>
                    <a:bodyPr/>
                    <a:lstStyle/>
                    <a:p>
                      <a:pPr defTabSz="457200">
                        <a:lnSpc>
                          <a:spcPct val="100000"/>
                        </a:lnSpc>
                      </a:pPr>
                      <a:r>
                        <a:rPr lang="en-US" sz="900" b="0" u="none" strike="noStrike">
                          <a:solidFill>
                            <a:srgbClr val="831838"/>
                          </a:solidFill>
                          <a:effectLst/>
                          <a:uFillTx/>
                          <a:latin typeface="Poppins"/>
                        </a:rPr>
                        <a:t>1 A pair (discharge 10 + charge 10)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1" u="none" strike="noStrike">
                          <a:solidFill>
                            <a:srgbClr val="1F2937"/>
                          </a:solidFill>
                          <a:effectLst/>
                          <a:uFillTx/>
                          <a:latin typeface="Poppins"/>
                        </a:rPr>
                        <a:t>1.13</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3.30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2.68</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1.56</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283320">
                <a:tc>
                  <a:txBody>
                    <a:bodyPr/>
                    <a:lstStyle/>
                    <a:p>
                      <a:pPr defTabSz="457200">
                        <a:lnSpc>
                          <a:spcPct val="100000"/>
                        </a:lnSpc>
                      </a:pPr>
                      <a:r>
                        <a:rPr lang="en-US" sz="900" b="0" u="none" strike="noStrike">
                          <a:solidFill>
                            <a:srgbClr val="831838"/>
                          </a:solidFill>
                          <a:effectLst/>
                          <a:uFillTx/>
                          <a:latin typeface="Poppins"/>
                        </a:rPr>
                        <a:t>2 A pair (discharge 20 + charge 20)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1" u="none" strike="noStrike">
                          <a:solidFill>
                            <a:srgbClr val="1F2937"/>
                          </a:solidFill>
                          <a:effectLst/>
                          <a:uFillTx/>
                          <a:latin typeface="Poppins"/>
                        </a:rPr>
                        <a:t>1.16</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1.11</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3.06</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0.90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283320">
                <a:tc>
                  <a:txBody>
                    <a:bodyPr/>
                    <a:lstStyle/>
                    <a:p>
                      <a:pPr defTabSz="457200">
                        <a:lnSpc>
                          <a:spcPct val="100000"/>
                        </a:lnSpc>
                      </a:pPr>
                      <a:r>
                        <a:rPr lang="en-US" sz="900" b="0" u="none" strike="noStrike">
                          <a:solidFill>
                            <a:srgbClr val="831838"/>
                          </a:solidFill>
                          <a:effectLst/>
                          <a:uFillTx/>
                          <a:latin typeface="Poppins"/>
                        </a:rPr>
                        <a:t>3 A pair (discharge 30 + charge 30)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1" u="none" strike="noStrike">
                          <a:solidFill>
                            <a:srgbClr val="1F2937"/>
                          </a:solidFill>
                          <a:effectLst/>
                          <a:uFillTx/>
                          <a:latin typeface="Poppins"/>
                        </a:rPr>
                        <a:t>2.24</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1.50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3.81</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0.67</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283320">
                <a:tc>
                  <a:txBody>
                    <a:bodyPr/>
                    <a:lstStyle/>
                    <a:p>
                      <a:pPr defTabSz="457200">
                        <a:lnSpc>
                          <a:spcPct val="100000"/>
                        </a:lnSpc>
                      </a:pPr>
                      <a:r>
                        <a:rPr lang="en-US" sz="900" b="0" u="none" strike="noStrike">
                          <a:solidFill>
                            <a:srgbClr val="831838"/>
                          </a:solidFill>
                          <a:effectLst/>
                          <a:uFillTx/>
                          <a:latin typeface="Poppins"/>
                        </a:rPr>
                        <a:t>0.5 A discharge only (Discharge 02)</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1" u="none" strike="noStrike">
                          <a:solidFill>
                            <a:srgbClr val="1F2937"/>
                          </a:solidFill>
                          <a:effectLst/>
                          <a:uFillTx/>
                          <a:latin typeface="Poppins"/>
                        </a:rPr>
                        <a:t>1.70</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2.25</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2.53</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900" b="0" u="none" strike="noStrike">
                          <a:solidFill>
                            <a:srgbClr val="1F2937"/>
                          </a:solidFill>
                          <a:effectLst/>
                          <a:uFillTx/>
                          <a:latin typeface="Poppins"/>
                        </a:rPr>
                        <a:t>3.11</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r h="283320">
                <a:tc>
                  <a:txBody>
                    <a:bodyPr/>
                    <a:lstStyle/>
                    <a:p>
                      <a:pPr defTabSz="457200">
                        <a:lnSpc>
                          <a:spcPct val="100000"/>
                        </a:lnSpc>
                      </a:pPr>
                      <a:r>
                        <a:rPr lang="en-US" sz="900" b="0" u="none" strike="noStrike">
                          <a:solidFill>
                            <a:srgbClr val="831838"/>
                          </a:solidFill>
                          <a:effectLst/>
                          <a:uFillTx/>
                          <a:latin typeface="Poppins"/>
                        </a:rPr>
                        <a:t>Average Across Test Cycles</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1" u="none" strike="noStrike">
                          <a:solidFill>
                            <a:srgbClr val="1F2937"/>
                          </a:solidFill>
                          <a:effectLst/>
                          <a:uFillTx/>
                          <a:latin typeface="Poppins"/>
                        </a:rPr>
                        <a:t>1.25</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2.04</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3.02</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900" b="0" u="none" strike="noStrike">
                          <a:solidFill>
                            <a:srgbClr val="1F2937"/>
                          </a:solidFill>
                          <a:effectLst/>
                          <a:uFillTx/>
                          <a:latin typeface="Poppins"/>
                        </a:rPr>
                        <a:t>2.24*</a:t>
                      </a:r>
                      <a:endParaRPr lang="en-US" sz="9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5"/>
                  </a:ext>
                </a:extLst>
              </a:tr>
            </a:tbl>
          </a:graphicData>
        </a:graphic>
      </p:graphicFrame>
      <p:sp>
        <p:nvSpPr>
          <p:cNvPr id="274" name="TextBox 7"/>
          <p:cNvSpPr/>
          <p:nvPr/>
        </p:nvSpPr>
        <p:spPr>
          <a:xfrm>
            <a:off x="411480" y="3300120"/>
            <a:ext cx="11368080" cy="299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950" b="0" u="none" strike="noStrike">
                <a:solidFill>
                  <a:srgbClr val="4B5563"/>
                </a:solidFill>
                <a:effectLst/>
                <a:uFillTx/>
                <a:latin typeface="Poppins"/>
              </a:rPr>
              <a:t>Error in SOC percentage points vs reference, under 5 mV ADC noise and 30 mA current offset. All four cycles meet the 2-3% design target.</a:t>
            </a:r>
            <a:endParaRPr lang="en-US" sz="950" b="0" u="none" strike="noStrike">
              <a:solidFill>
                <a:srgbClr val="000000"/>
              </a:solidFill>
              <a:effectLst/>
              <a:uFillTx/>
              <a:latin typeface="Arial"/>
            </a:endParaRPr>
          </a:p>
        </p:txBody>
      </p:sp>
      <p:graphicFrame>
        <p:nvGraphicFramePr>
          <p:cNvPr id="275" name="Chart 8"/>
          <p:cNvGraphicFramePr/>
          <p:nvPr/>
        </p:nvGraphicFramePr>
        <p:xfrm>
          <a:off x="411480" y="3700080"/>
          <a:ext cx="5577480" cy="2599560"/>
        </p:xfrm>
        <a:graphic>
          <a:graphicData uri="http://schemas.openxmlformats.org/drawingml/2006/chart">
            <c:chart xmlns:c="http://schemas.openxmlformats.org/drawingml/2006/chart" xmlns:r="http://schemas.openxmlformats.org/officeDocument/2006/relationships" r:id="rId5"/>
          </a:graphicData>
        </a:graphic>
      </p:graphicFrame>
      <p:sp>
        <p:nvSpPr>
          <p:cNvPr id="276" name="Rounded Rectangle 9"/>
          <p:cNvSpPr/>
          <p:nvPr/>
        </p:nvSpPr>
        <p:spPr>
          <a:xfrm>
            <a:off x="6199560" y="3700080"/>
            <a:ext cx="5577480" cy="25995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7" name="TextBox 10"/>
          <p:cNvSpPr/>
          <p:nvPr/>
        </p:nvSpPr>
        <p:spPr>
          <a:xfrm>
            <a:off x="7299720" y="3796200"/>
            <a:ext cx="38437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Algorithmic Trade-off Analysis</a:t>
            </a:r>
            <a:endParaRPr lang="en-US" sz="1600" b="0" u="none" strike="noStrike">
              <a:solidFill>
                <a:srgbClr val="000000"/>
              </a:solidFill>
              <a:effectLst/>
              <a:uFillTx/>
              <a:latin typeface="Arial"/>
            </a:endParaRPr>
          </a:p>
        </p:txBody>
      </p:sp>
      <p:sp>
        <p:nvSpPr>
          <p:cNvPr id="278" name="TextBox 11"/>
          <p:cNvSpPr/>
          <p:nvPr/>
        </p:nvSpPr>
        <p:spPr>
          <a:xfrm>
            <a:off x="6437880" y="4135320"/>
            <a:ext cx="5211720" cy="193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100" b="1" u="none" strike="noStrike">
                <a:solidFill>
                  <a:srgbClr val="1F2937"/>
                </a:solidFill>
                <a:effectLst/>
                <a:uFillTx/>
                <a:latin typeface="Poppins"/>
              </a:rPr>
              <a:t>Linear Regression (3.02% MAE): </a:t>
            </a:r>
            <a:r>
              <a:rPr lang="en-US" sz="1100" b="0" u="none" strike="noStrike">
                <a:solidFill>
                  <a:srgbClr val="4B5563"/>
                </a:solidFill>
                <a:effectLst/>
                <a:uFillTx/>
                <a:latin typeface="Poppins"/>
              </a:rPr>
              <a:t>Fails to capture the non-linear curvature at boundary SOC regions (below 20% and above 80%).</a:t>
            </a:r>
            <a:endParaRPr lang="en-US" sz="1100" b="0" u="none" strike="noStrike">
              <a:solidFill>
                <a:srgbClr val="000000"/>
              </a:solidFill>
              <a:effectLst/>
              <a:uFillTx/>
              <a:latin typeface="Arial"/>
            </a:endParaRPr>
          </a:p>
          <a:p>
            <a:pPr defTabSz="457200">
              <a:lnSpc>
                <a:spcPct val="100000"/>
              </a:lnSpc>
              <a:spcAft>
                <a:spcPts val="221"/>
              </a:spcAft>
            </a:pPr>
            <a:r>
              <a:rPr lang="en-US" sz="1100" b="1" u="none" strike="noStrike">
                <a:solidFill>
                  <a:srgbClr val="1F2937"/>
                </a:solidFill>
                <a:effectLst/>
                <a:uFillTx/>
                <a:latin typeface="Poppins"/>
              </a:rPr>
              <a:t>Random Forest (2.04% MAE): </a:t>
            </a:r>
            <a:r>
              <a:rPr lang="en-US" sz="1100" b="0" u="none" strike="noStrike">
                <a:solidFill>
                  <a:srgbClr val="4B5563"/>
                </a:solidFill>
                <a:effectLst/>
                <a:uFillTx/>
                <a:latin typeface="Poppins"/>
              </a:rPr>
              <a:t>Achieves competitive accuracy via orthogonal feature partitioning, but 30 decision trees require &gt;120 KB flash memory and produce non-continuous step outputs unsuited for MCUs.</a:t>
            </a:r>
            <a:endParaRPr lang="en-US" sz="1100" b="0" u="none" strike="noStrike">
              <a:solidFill>
                <a:srgbClr val="000000"/>
              </a:solidFill>
              <a:effectLst/>
              <a:uFillTx/>
              <a:latin typeface="Arial"/>
            </a:endParaRPr>
          </a:p>
          <a:p>
            <a:pPr defTabSz="457200">
              <a:lnSpc>
                <a:spcPct val="100000"/>
              </a:lnSpc>
              <a:spcAft>
                <a:spcPts val="221"/>
              </a:spcAft>
            </a:pPr>
            <a:r>
              <a:rPr lang="en-US" sz="1100" b="1" u="none" strike="noStrike">
                <a:solidFill>
                  <a:schemeClr val="dk1"/>
                </a:solidFill>
                <a:effectLst/>
                <a:uFillTx/>
                <a:latin typeface="Poppins"/>
              </a:rPr>
              <a:t>Proposed MLP 3-16-1 (1.25% MAE): </a:t>
            </a:r>
            <a:r>
              <a:rPr lang="en-US" sz="1100" b="0" u="none" strike="noStrike">
                <a:solidFill>
                  <a:srgbClr val="4B5563"/>
                </a:solidFill>
                <a:effectLst/>
                <a:uFillTx/>
                <a:latin typeface="Poppins"/>
              </a:rPr>
              <a:t>Smooth tanh activation produces continuous predictions; achieves lowest error with only 348 bytes storage and 6.03 µs latency on ESP32.</a:t>
            </a:r>
            <a:endParaRPr lang="en-US" sz="1100" b="0" u="none" strike="noStrike">
              <a:solidFill>
                <a:srgbClr val="000000"/>
              </a:solidFill>
              <a:effectLst/>
              <a:uFillTx/>
              <a:latin typeface="Arial"/>
            </a:endParaRPr>
          </a:p>
          <a:p>
            <a:pPr defTabSz="457200">
              <a:lnSpc>
                <a:spcPct val="100000"/>
              </a:lnSpc>
              <a:spcAft>
                <a:spcPts val="221"/>
              </a:spcAft>
            </a:pPr>
            <a:r>
              <a:rPr lang="en-US" sz="1100" b="1" u="none" strike="noStrike">
                <a:solidFill>
                  <a:srgbClr val="1F2937"/>
                </a:solidFill>
                <a:effectLst/>
                <a:uFillTx/>
                <a:latin typeface="Poppins"/>
              </a:rPr>
              <a:t>Sensor Offset Resilience: </a:t>
            </a:r>
            <a:r>
              <a:rPr lang="en-US" sz="1100" b="0" u="none" strike="noStrike">
                <a:solidFill>
                  <a:srgbClr val="4B5563"/>
                </a:solidFill>
                <a:effectLst/>
                <a:uFillTx/>
                <a:latin typeface="Poppins"/>
              </a:rPr>
              <a:t>Coulomb counting performs well only with perfect initial SOC0, but drifts severely under sensor bias (exploding to &gt;13% on long runs).</a:t>
            </a:r>
            <a:endParaRPr lang="en-US" sz="11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 name="Picture 1" descr="top_bar.png"/>
          <p:cNvPicPr/>
          <p:nvPr/>
        </p:nvPicPr>
        <p:blipFill>
          <a:blip r:embed="rId3"/>
          <a:stretch/>
        </p:blipFill>
        <p:spPr>
          <a:xfrm>
            <a:off x="0" y="0"/>
            <a:ext cx="12191040" cy="72360"/>
          </a:xfrm>
          <a:prstGeom prst="rect">
            <a:avLst/>
          </a:prstGeom>
          <a:noFill/>
          <a:ln w="0">
            <a:noFill/>
          </a:ln>
        </p:spPr>
      </p:pic>
      <p:pic>
        <p:nvPicPr>
          <p:cNvPr id="280" name="Picture 2" descr="amrita_logo.png"/>
          <p:cNvPicPr/>
          <p:nvPr/>
        </p:nvPicPr>
        <p:blipFill>
          <a:blip r:embed="rId4"/>
          <a:stretch/>
        </p:blipFill>
        <p:spPr>
          <a:xfrm>
            <a:off x="9860040" y="201240"/>
            <a:ext cx="2102400" cy="600120"/>
          </a:xfrm>
          <a:prstGeom prst="rect">
            <a:avLst/>
          </a:prstGeom>
          <a:noFill/>
          <a:ln w="0">
            <a:noFill/>
          </a:ln>
        </p:spPr>
      </p:pic>
      <p:sp>
        <p:nvSpPr>
          <p:cNvPr id="281"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Sensor DC Bias &amp; Long-Horizon Drift</a:t>
            </a:r>
            <a:endParaRPr lang="en-US" sz="2500" b="0" u="none" strike="noStrike" dirty="0">
              <a:solidFill>
                <a:srgbClr val="000000"/>
              </a:solidFill>
              <a:effectLst/>
              <a:uFillTx/>
              <a:latin typeface="Arial"/>
            </a:endParaRPr>
          </a:p>
        </p:txBody>
      </p:sp>
      <p:sp>
        <p:nvSpPr>
          <p:cNvPr id="282"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83"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16</a:t>
            </a:r>
            <a:endParaRPr lang="en-US" sz="1000" b="0" u="none" strike="noStrike">
              <a:solidFill>
                <a:srgbClr val="000000"/>
              </a:solidFill>
              <a:effectLst/>
              <a:uFillTx/>
              <a:latin typeface="Arial"/>
            </a:endParaRPr>
          </a:p>
        </p:txBody>
      </p:sp>
      <p:pic>
        <p:nvPicPr>
          <p:cNvPr id="284" name="Picture 6" descr="long_horizon_drift.png"/>
          <p:cNvPicPr/>
          <p:nvPr/>
        </p:nvPicPr>
        <p:blipFill>
          <a:blip r:embed="rId5"/>
          <a:stretch/>
        </p:blipFill>
        <p:spPr>
          <a:xfrm>
            <a:off x="411480" y="1500120"/>
            <a:ext cx="6399720" cy="4649760"/>
          </a:xfrm>
          <a:prstGeom prst="rect">
            <a:avLst/>
          </a:prstGeom>
          <a:noFill/>
          <a:ln w="0">
            <a:noFill/>
          </a:ln>
        </p:spPr>
      </p:pic>
      <p:sp>
        <p:nvSpPr>
          <p:cNvPr id="285" name="Rounded Rectangle 7"/>
          <p:cNvSpPr/>
          <p:nvPr/>
        </p:nvSpPr>
        <p:spPr>
          <a:xfrm>
            <a:off x="6999840" y="1500120"/>
            <a:ext cx="477972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6" name="TextBox 8"/>
          <p:cNvSpPr/>
          <p:nvPr/>
        </p:nvSpPr>
        <p:spPr>
          <a:xfrm>
            <a:off x="7182720" y="1904040"/>
            <a:ext cx="455400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Why Data-Driven ML Prevents Divergence</a:t>
            </a:r>
            <a:endParaRPr lang="en-US" sz="1600" b="0" u="none" strike="noStrike">
              <a:solidFill>
                <a:srgbClr val="000000"/>
              </a:solidFill>
              <a:effectLst/>
              <a:uFillTx/>
              <a:latin typeface="Arial"/>
            </a:endParaRPr>
          </a:p>
        </p:txBody>
      </p:sp>
      <p:sp>
        <p:nvSpPr>
          <p:cNvPr id="287" name="TextBox 9"/>
          <p:cNvSpPr/>
          <p:nvPr/>
        </p:nvSpPr>
        <p:spPr>
          <a:xfrm>
            <a:off x="7182720" y="2468160"/>
            <a:ext cx="4413960" cy="321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The 10-Hour Continuous Cycling Stress Test: </a:t>
            </a:r>
            <a:r>
              <a:rPr lang="en-US" sz="1200" b="0" u="none" strike="noStrike">
                <a:solidFill>
                  <a:srgbClr val="4B5563"/>
                </a:solidFill>
                <a:effectLst/>
                <a:uFillTx/>
                <a:latin typeface="Poppins"/>
              </a:rPr>
              <a:t>Simulated multi-hour continuous charge/discharge cycling under constant +30 mA DC current sensor bias.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Coulomb Counting Divergence: </a:t>
            </a:r>
            <a:r>
              <a:rPr lang="en-US" sz="1200" b="0" u="none" strike="noStrike">
                <a:solidFill>
                  <a:srgbClr val="4B5563"/>
                </a:solidFill>
                <a:effectLst/>
                <a:uFillTx/>
                <a:latin typeface="Poppins"/>
              </a:rPr>
              <a:t>Open-loop Ah integration accumulates the bias over time: Error = (1/Cn) ∫ I_offset dt. Error grows linearly, exploding past 13.5% after 10 hours.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Kalman Filter Drift (EKF / SPKF): </a:t>
            </a:r>
            <a:r>
              <a:rPr lang="en-US" sz="1200" b="0" u="none" strike="noStrike">
                <a:solidFill>
                  <a:srgbClr val="4B5563"/>
                </a:solidFill>
                <a:effectLst/>
                <a:uFillTx/>
                <a:latin typeface="Poppins"/>
              </a:rPr>
              <a:t>Because Kalman state transition is driven by current integration, constant DC bias acts as an unmodeled persistent disturbance, causing estimated SOC to drift away from truth (6.02% MAE).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chemeClr val="dk1"/>
                </a:solidFill>
                <a:effectLst/>
                <a:uFillTx/>
                <a:latin typeface="Poppins"/>
              </a:rPr>
              <a:t>ML Bounded Error Guarantee: </a:t>
            </a:r>
            <a:r>
              <a:rPr lang="en-US" sz="1200" b="0" u="none" strike="noStrike">
                <a:solidFill>
                  <a:srgbClr val="4B5563"/>
                </a:solidFill>
                <a:effectLst/>
                <a:uFillTx/>
                <a:latin typeface="Poppins"/>
              </a:rPr>
              <a:t>The MLP model uses instantaneous and smoothed terminal voltage as inputs. Because terminal voltage is anchored to the true thermodynamic state of the cell, the MLP cannot drift; its error remains strictly bounded under 1.5% across all hours.</a:t>
            </a:r>
            <a:endParaRPr lang="en-US" sz="12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1" descr="top_bar.png"/>
          <p:cNvPicPr/>
          <p:nvPr/>
        </p:nvPicPr>
        <p:blipFill>
          <a:blip r:embed="rId3"/>
          <a:stretch/>
        </p:blipFill>
        <p:spPr>
          <a:xfrm>
            <a:off x="0" y="0"/>
            <a:ext cx="12191040" cy="72360"/>
          </a:xfrm>
          <a:prstGeom prst="rect">
            <a:avLst/>
          </a:prstGeom>
          <a:noFill/>
          <a:ln w="0">
            <a:noFill/>
          </a:ln>
        </p:spPr>
      </p:pic>
      <p:pic>
        <p:nvPicPr>
          <p:cNvPr id="289" name="Picture 2" descr="amrita_logo.png"/>
          <p:cNvPicPr/>
          <p:nvPr/>
        </p:nvPicPr>
        <p:blipFill>
          <a:blip r:embed="rId4"/>
          <a:stretch/>
        </p:blipFill>
        <p:spPr>
          <a:xfrm>
            <a:off x="9860040" y="201240"/>
            <a:ext cx="2102400" cy="600120"/>
          </a:xfrm>
          <a:prstGeom prst="rect">
            <a:avLst/>
          </a:prstGeom>
          <a:noFill/>
          <a:ln w="0">
            <a:noFill/>
          </a:ln>
        </p:spPr>
      </p:pic>
      <p:sp>
        <p:nvSpPr>
          <p:cNvPr id="290" name="TextBox 3"/>
          <p:cNvSpPr/>
          <p:nvPr/>
        </p:nvSpPr>
        <p:spPr>
          <a:xfrm>
            <a:off x="411480" y="685800"/>
            <a:ext cx="9299520" cy="38472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Hardware Robustness &amp; Stress Analysis</a:t>
            </a:r>
            <a:endParaRPr lang="en-US" sz="2500" b="0" u="none" strike="noStrike" dirty="0">
              <a:solidFill>
                <a:srgbClr val="000000"/>
              </a:solidFill>
              <a:effectLst/>
              <a:uFillTx/>
              <a:latin typeface="Arial"/>
            </a:endParaRPr>
          </a:p>
        </p:txBody>
      </p:sp>
      <p:sp>
        <p:nvSpPr>
          <p:cNvPr id="291"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292"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17</a:t>
            </a:r>
            <a:endParaRPr lang="en-US" sz="1000" b="0" u="none" strike="noStrike">
              <a:solidFill>
                <a:srgbClr val="000000"/>
              </a:solidFill>
              <a:effectLst/>
              <a:uFillTx/>
              <a:latin typeface="Arial"/>
            </a:endParaRPr>
          </a:p>
        </p:txBody>
      </p:sp>
      <p:pic>
        <p:nvPicPr>
          <p:cNvPr id="293" name="Picture 6" descr="robustness_sweeps.png"/>
          <p:cNvPicPr/>
          <p:nvPr/>
        </p:nvPicPr>
        <p:blipFill>
          <a:blip r:embed="rId5"/>
          <a:stretch/>
        </p:blipFill>
        <p:spPr>
          <a:xfrm>
            <a:off x="411480" y="1500120"/>
            <a:ext cx="6399720" cy="4649760"/>
          </a:xfrm>
          <a:prstGeom prst="rect">
            <a:avLst/>
          </a:prstGeom>
          <a:noFill/>
          <a:ln w="0">
            <a:noFill/>
          </a:ln>
        </p:spPr>
      </p:pic>
      <p:sp>
        <p:nvSpPr>
          <p:cNvPr id="294" name="Rounded Rectangle 7"/>
          <p:cNvSpPr/>
          <p:nvPr/>
        </p:nvSpPr>
        <p:spPr>
          <a:xfrm>
            <a:off x="6999840" y="1500120"/>
            <a:ext cx="477972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5" name="TextBox 8"/>
          <p:cNvSpPr/>
          <p:nvPr/>
        </p:nvSpPr>
        <p:spPr>
          <a:xfrm>
            <a:off x="7281720" y="2017440"/>
            <a:ext cx="432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Parametric Hardware Sensitivity Sweeps</a:t>
            </a:r>
            <a:endParaRPr lang="en-US" sz="1600" b="0" u="none" strike="noStrike">
              <a:solidFill>
                <a:srgbClr val="000000"/>
              </a:solidFill>
              <a:effectLst/>
              <a:uFillTx/>
              <a:latin typeface="Arial"/>
            </a:endParaRPr>
          </a:p>
        </p:txBody>
      </p:sp>
      <p:sp>
        <p:nvSpPr>
          <p:cNvPr id="296" name="TextBox 9"/>
          <p:cNvSpPr/>
          <p:nvPr/>
        </p:nvSpPr>
        <p:spPr>
          <a:xfrm>
            <a:off x="7236000" y="2645640"/>
            <a:ext cx="4413960" cy="287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Systematic Stress Sweeps: </a:t>
            </a:r>
            <a:r>
              <a:rPr lang="en-US" sz="1200" b="0" u="none" strike="noStrike">
                <a:solidFill>
                  <a:srgbClr val="4B5563"/>
                </a:solidFill>
                <a:effectLst/>
                <a:uFillTx/>
                <a:latin typeface="Poppins"/>
              </a:rPr>
              <a:t>To ensure field reliability on low-cost hardware, the model was subjected to 4 hardware impairment sweeps: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1. ADC Noise Sweep (0 to 30 mV): </a:t>
            </a:r>
            <a:r>
              <a:rPr lang="en-US" sz="1200" b="0" u="none" strike="noStrike">
                <a:solidFill>
                  <a:srgbClr val="4B5563"/>
                </a:solidFill>
                <a:effectLst/>
                <a:uFillTx/>
                <a:latin typeface="Poppins"/>
              </a:rPr>
              <a:t>Gaussian noise added to ADC pin. Model error rises gracefully from 1.18% (clean) to only 1.48% (at 30 mV noise) — highly resilient.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2. Current Offset Sweep (-100 to +100 mA): </a:t>
            </a:r>
            <a:r>
              <a:rPr lang="en-US" sz="1200" b="0" u="none" strike="noStrike">
                <a:solidFill>
                  <a:srgbClr val="4B5563"/>
                </a:solidFill>
                <a:effectLst/>
                <a:uFillTx/>
                <a:latin typeface="Poppins"/>
              </a:rPr>
              <a:t>Simulates extreme Hall sensor thermal drift. Error stays strictly below 2.0% across the entire ±100 mA range.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3. ADC Resolution Sweep (10 to 14 bits): </a:t>
            </a:r>
            <a:r>
              <a:rPr lang="en-US" sz="1200" b="0" u="none" strike="noStrike">
                <a:solidFill>
                  <a:srgbClr val="4B5563"/>
                </a:solidFill>
                <a:effectLst/>
                <a:uFillTx/>
                <a:latin typeface="Poppins"/>
              </a:rPr>
              <a:t>Evaluates 10-bit (Arduino), 12-bit (ESP32), and 14-bit (external ADC). 12-bit provides optimal cost-accuracy trade-off (1.25% MAE).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4. Voltage Divider Gain Error (±2%): </a:t>
            </a:r>
            <a:r>
              <a:rPr lang="en-US" sz="1200" b="0" u="none" strike="noStrike">
                <a:solidFill>
                  <a:srgbClr val="4B5563"/>
                </a:solidFill>
                <a:effectLst/>
                <a:uFillTx/>
                <a:latin typeface="Poppins"/>
              </a:rPr>
              <a:t>Simulates resistor tolerance (1% vs 5% resistors). Error remains bounded within 1.6% points.</a:t>
            </a:r>
            <a:endParaRPr lang="en-US" sz="1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 name="Picture 1" descr="top_bar.png"/>
          <p:cNvPicPr/>
          <p:nvPr/>
        </p:nvPicPr>
        <p:blipFill>
          <a:blip r:embed="rId3"/>
          <a:stretch/>
        </p:blipFill>
        <p:spPr>
          <a:xfrm>
            <a:off x="0" y="0"/>
            <a:ext cx="12191040" cy="72360"/>
          </a:xfrm>
          <a:prstGeom prst="rect">
            <a:avLst/>
          </a:prstGeom>
          <a:noFill/>
          <a:ln w="0">
            <a:noFill/>
          </a:ln>
        </p:spPr>
      </p:pic>
      <p:pic>
        <p:nvPicPr>
          <p:cNvPr id="298" name="Picture 2" descr="amrita_logo.png"/>
          <p:cNvPicPr/>
          <p:nvPr/>
        </p:nvPicPr>
        <p:blipFill>
          <a:blip r:embed="rId4"/>
          <a:stretch/>
        </p:blipFill>
        <p:spPr>
          <a:xfrm>
            <a:off x="9860040" y="201240"/>
            <a:ext cx="2102400" cy="600120"/>
          </a:xfrm>
          <a:prstGeom prst="rect">
            <a:avLst/>
          </a:prstGeom>
          <a:noFill/>
          <a:ln w="0">
            <a:noFill/>
          </a:ln>
        </p:spPr>
      </p:pic>
      <p:sp>
        <p:nvSpPr>
          <p:cNvPr id="299"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Embedded Firmware Deployment</a:t>
            </a:r>
            <a:endParaRPr lang="en-US" sz="2500" b="0" u="none" strike="noStrike" dirty="0">
              <a:solidFill>
                <a:srgbClr val="000000"/>
              </a:solidFill>
              <a:effectLst/>
              <a:uFillTx/>
              <a:latin typeface="Arial"/>
            </a:endParaRPr>
          </a:p>
        </p:txBody>
      </p:sp>
      <p:sp>
        <p:nvSpPr>
          <p:cNvPr id="300"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301"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19</a:t>
            </a:r>
            <a:endParaRPr lang="en-US" sz="1000" b="0" u="none" strike="noStrike">
              <a:solidFill>
                <a:srgbClr val="000000"/>
              </a:solidFill>
              <a:effectLst/>
              <a:uFillTx/>
              <a:latin typeface="Arial"/>
            </a:endParaRPr>
          </a:p>
        </p:txBody>
      </p:sp>
      <p:sp>
        <p:nvSpPr>
          <p:cNvPr id="302" name="Rounded Rectangle 6"/>
          <p:cNvSpPr/>
          <p:nvPr/>
        </p:nvSpPr>
        <p:spPr>
          <a:xfrm>
            <a:off x="411480" y="15001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3" name="TextBox 7"/>
          <p:cNvSpPr/>
          <p:nvPr/>
        </p:nvSpPr>
        <p:spPr>
          <a:xfrm>
            <a:off x="1137240" y="1883520"/>
            <a:ext cx="509256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ESP32 C Implementation Architecture</a:t>
            </a:r>
            <a:endParaRPr lang="en-US" sz="1600" b="0" u="none" strike="noStrike">
              <a:solidFill>
                <a:srgbClr val="000000"/>
              </a:solidFill>
              <a:effectLst/>
              <a:uFillTx/>
              <a:latin typeface="Arial"/>
            </a:endParaRPr>
          </a:p>
        </p:txBody>
      </p:sp>
      <p:sp>
        <p:nvSpPr>
          <p:cNvPr id="304" name="TextBox 8"/>
          <p:cNvSpPr/>
          <p:nvPr/>
        </p:nvSpPr>
        <p:spPr>
          <a:xfrm>
            <a:off x="640080" y="2552400"/>
            <a:ext cx="5184000" cy="287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Direct Porting: </a:t>
            </a:r>
            <a:r>
              <a:rPr lang="en-US" sz="1200" b="0" u="none" strike="noStrike">
                <a:solidFill>
                  <a:srgbClr val="4B5563"/>
                </a:solidFill>
                <a:effectLst/>
                <a:uFillTx/>
                <a:latin typeface="Poppins"/>
              </a:rPr>
              <a:t>Trained model exported into pure C header files (`mlp.h`, `mlp_weights.h`) with zero external math library dependencies.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Xtensa LX6 Micro-Benchmark: </a:t>
            </a:r>
            <a:r>
              <a:rPr lang="en-US" sz="1200" b="0" u="none" strike="noStrike">
                <a:solidFill>
                  <a:srgbClr val="4B5563"/>
                </a:solidFill>
                <a:effectLst/>
                <a:uFillTx/>
                <a:latin typeface="Poppins"/>
              </a:rPr>
              <a:t>Forward pass executes in only 6.03 µs per inference on a single 240 MHz Xtensa core — leaving 99.9% of MCU processing power for Wi-Fi, BLE, and safety interrupts.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Minimal Memory Footprint: </a:t>
            </a:r>
            <a:r>
              <a:rPr lang="en-US" sz="1200" b="0" u="none" strike="noStrike">
                <a:solidFill>
                  <a:srgbClr val="4B5563"/>
                </a:solidFill>
                <a:effectLst/>
                <a:uFillTx/>
                <a:latin typeface="Poppins"/>
              </a:rPr>
              <a:t>Requires only 348 bytes of flash/RAM (324 B weights + 24 B scaler constants) — 1,000x smaller than typical ML models.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Bitwise Parity Verification: </a:t>
            </a:r>
            <a:r>
              <a:rPr lang="en-US" sz="1200" b="0" u="none" strike="noStrike">
                <a:solidFill>
                  <a:srgbClr val="4B5563"/>
                </a:solidFill>
                <a:effectLst/>
                <a:uFillTx/>
                <a:latin typeface="Poppins"/>
              </a:rPr>
              <a:t>Automated C unit test (`test_c_parity.c`) evaluated against 706 golden test vectors proves Python-to-C numerical parity down to 2.7 * 10^-5 % error.</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INT8 Quantization Analysis: </a:t>
            </a:r>
            <a:r>
              <a:rPr lang="en-US" sz="1200" b="0" u="none" strike="noStrike">
                <a:solidFill>
                  <a:srgbClr val="4B5563"/>
                </a:solidFill>
                <a:effectLst/>
                <a:uFillTx/>
                <a:latin typeface="Poppins"/>
              </a:rPr>
              <a:t>Quantizing FP32 weights to 8-bit integers introduces only 0.15% points difference, proving feasibility for ultra-low-cost 8-bit microcontrollers.</a:t>
            </a:r>
            <a:endParaRPr lang="en-US" sz="1200" b="0" u="none" strike="noStrike">
              <a:solidFill>
                <a:srgbClr val="000000"/>
              </a:solidFill>
              <a:effectLst/>
              <a:uFillTx/>
              <a:latin typeface="Arial"/>
            </a:endParaRPr>
          </a:p>
        </p:txBody>
      </p:sp>
      <p:graphicFrame>
        <p:nvGraphicFramePr>
          <p:cNvPr id="305" name="Table 9"/>
          <p:cNvGraphicFramePr/>
          <p:nvPr/>
        </p:nvGraphicFramePr>
        <p:xfrm>
          <a:off x="6230160" y="1500120"/>
          <a:ext cx="5549400" cy="4648320"/>
        </p:xfrm>
        <a:graphic>
          <a:graphicData uri="http://schemas.openxmlformats.org/drawingml/2006/table">
            <a:tbl>
              <a:tblPr/>
              <a:tblGrid>
                <a:gridCol w="1800000">
                  <a:extLst>
                    <a:ext uri="{9D8B030D-6E8A-4147-A177-3AD203B41FA5}">
                      <a16:colId xmlns:a16="http://schemas.microsoft.com/office/drawing/2014/main" val="20000"/>
                    </a:ext>
                  </a:extLst>
                </a:gridCol>
                <a:gridCol w="1399680">
                  <a:extLst>
                    <a:ext uri="{9D8B030D-6E8A-4147-A177-3AD203B41FA5}">
                      <a16:colId xmlns:a16="http://schemas.microsoft.com/office/drawing/2014/main" val="20001"/>
                    </a:ext>
                  </a:extLst>
                </a:gridCol>
                <a:gridCol w="2349720">
                  <a:extLst>
                    <a:ext uri="{9D8B030D-6E8A-4147-A177-3AD203B41FA5}">
                      <a16:colId xmlns:a16="http://schemas.microsoft.com/office/drawing/2014/main" val="20002"/>
                    </a:ext>
                  </a:extLst>
                </a:gridCol>
              </a:tblGrid>
              <a:tr h="581040">
                <a:tc>
                  <a:txBody>
                    <a:bodyPr/>
                    <a:lstStyle/>
                    <a:p>
                      <a:pPr algn="ctr" defTabSz="457200">
                        <a:lnSpc>
                          <a:spcPct val="100000"/>
                        </a:lnSpc>
                      </a:pPr>
                      <a:r>
                        <a:rPr lang="en-US" sz="1600" b="1" u="none" strike="noStrike">
                          <a:solidFill>
                            <a:srgbClr val="FFFFFF"/>
                          </a:solidFill>
                          <a:effectLst/>
                          <a:uFillTx/>
                          <a:latin typeface="Poppins"/>
                        </a:rPr>
                        <a:t>Metric</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600" b="1" u="none" strike="noStrike">
                          <a:solidFill>
                            <a:srgbClr val="FFFFFF"/>
                          </a:solidFill>
                          <a:effectLst/>
                          <a:uFillTx/>
                          <a:latin typeface="Poppins"/>
                        </a:rPr>
                        <a:t>Measured Value</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tc>
                  <a:txBody>
                    <a:bodyPr/>
                    <a:lstStyle/>
                    <a:p>
                      <a:pPr algn="ctr" defTabSz="457200">
                        <a:lnSpc>
                          <a:spcPct val="100000"/>
                        </a:lnSpc>
                      </a:pPr>
                      <a:r>
                        <a:rPr lang="en-US" sz="1600" b="1" u="none" strike="noStrike">
                          <a:solidFill>
                            <a:srgbClr val="FFFFFF"/>
                          </a:solidFill>
                          <a:effectLst/>
                          <a:uFillTx/>
                          <a:latin typeface="Poppins"/>
                        </a:rPr>
                        <a:t>Engineering Significance</a:t>
                      </a:r>
                      <a:endParaRPr lang="en-US" sz="16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831838"/>
                    </a:solidFill>
                  </a:tcPr>
                </a:tc>
                <a:extLst>
                  <a:ext uri="{0D108BD9-81ED-4DB2-BD59-A6C34878D82A}">
                    <a16:rowId xmlns:a16="http://schemas.microsoft.com/office/drawing/2014/main" val="10000"/>
                  </a:ext>
                </a:extLst>
              </a:tr>
              <a:tr h="581040">
                <a:tc>
                  <a:txBody>
                    <a:bodyPr/>
                    <a:lstStyle/>
                    <a:p>
                      <a:pPr defTabSz="457200">
                        <a:lnSpc>
                          <a:spcPct val="100000"/>
                        </a:lnSpc>
                      </a:pPr>
                      <a:r>
                        <a:rPr lang="en-US" sz="1200" b="0" u="none" strike="noStrike">
                          <a:solidFill>
                            <a:srgbClr val="831838"/>
                          </a:solidFill>
                          <a:effectLst/>
                          <a:uFillTx/>
                          <a:latin typeface="Poppins"/>
                        </a:rPr>
                        <a:t>Model Architecture</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3 → 16 → 1 (tanh)</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Optimal width for non-linear Li-ion dynamics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1"/>
                  </a:ext>
                </a:extLst>
              </a:tr>
              <a:tr h="581040">
                <a:tc>
                  <a:txBody>
                    <a:bodyPr/>
                    <a:lstStyle/>
                    <a:p>
                      <a:pPr defTabSz="457200">
                        <a:lnSpc>
                          <a:spcPct val="100000"/>
                        </a:lnSpc>
                      </a:pPr>
                      <a:r>
                        <a:rPr lang="en-US" sz="1200" b="0" u="none" strike="noStrike">
                          <a:solidFill>
                            <a:srgbClr val="831838"/>
                          </a:solidFill>
                          <a:effectLst/>
                          <a:uFillTx/>
                          <a:latin typeface="Poppins"/>
                        </a:rPr>
                        <a:t>Trainable Parameters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81 parameters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48 weights W1 + 16 b1 + 16 W2 + 1 b2</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581040">
                <a:tc>
                  <a:txBody>
                    <a:bodyPr/>
                    <a:lstStyle/>
                    <a:p>
                      <a:pPr defTabSz="457200">
                        <a:lnSpc>
                          <a:spcPct val="100000"/>
                        </a:lnSpc>
                      </a:pPr>
                      <a:r>
                        <a:rPr lang="en-US" sz="1200" b="0" u="none" strike="noStrike">
                          <a:solidFill>
                            <a:srgbClr val="831838"/>
                          </a:solidFill>
                          <a:effectLst/>
                          <a:uFillTx/>
                          <a:latin typeface="Poppins"/>
                        </a:rPr>
                        <a:t>Memory Footprint</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348 Bytes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Fits in any micro-controller SRAM (0.07% of ESP32)</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3"/>
                  </a:ext>
                </a:extLst>
              </a:tr>
              <a:tr h="581040">
                <a:tc>
                  <a:txBody>
                    <a:bodyPr/>
                    <a:lstStyle/>
                    <a:p>
                      <a:pPr defTabSz="457200">
                        <a:lnSpc>
                          <a:spcPct val="100000"/>
                        </a:lnSpc>
                      </a:pPr>
                      <a:r>
                        <a:rPr lang="en-US" sz="1200" b="0" u="none" strike="noStrike">
                          <a:solidFill>
                            <a:srgbClr val="831838"/>
                          </a:solidFill>
                          <a:effectLst/>
                          <a:uFillTx/>
                          <a:latin typeface="Poppins"/>
                        </a:rPr>
                        <a:t>Inference Latency</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6.03 µs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Allows 165,000 inferences per second</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r h="581040">
                <a:tc>
                  <a:txBody>
                    <a:bodyPr/>
                    <a:lstStyle/>
                    <a:p>
                      <a:pPr defTabSz="457200">
                        <a:lnSpc>
                          <a:spcPct val="100000"/>
                        </a:lnSpc>
                      </a:pPr>
                      <a:r>
                        <a:rPr lang="en-US" sz="1200" b="0" u="none" strike="noStrike">
                          <a:solidFill>
                            <a:srgbClr val="831838"/>
                          </a:solidFill>
                          <a:effectLst/>
                          <a:uFillTx/>
                          <a:latin typeface="Poppins"/>
                        </a:rPr>
                        <a:t>Computational Workload</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64 MACs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Zero matrix inversion; simple fused-multiply-adds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5"/>
                  </a:ext>
                </a:extLst>
              </a:tr>
              <a:tr h="581040">
                <a:tc>
                  <a:txBody>
                    <a:bodyPr/>
                    <a:lstStyle/>
                    <a:p>
                      <a:pPr defTabSz="457200">
                        <a:lnSpc>
                          <a:spcPct val="100000"/>
                        </a:lnSpc>
                      </a:pPr>
                      <a:r>
                        <a:rPr lang="en-US" sz="1200" b="0" u="none" strike="noStrike">
                          <a:solidFill>
                            <a:srgbClr val="831838"/>
                          </a:solidFill>
                          <a:effectLst/>
                          <a:uFillTx/>
                          <a:latin typeface="Poppins"/>
                        </a:rPr>
                        <a:t>C vs Python Parity</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0.000027 %</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algn="ctr" defTabSz="457200">
                        <a:lnSpc>
                          <a:spcPct val="100000"/>
                        </a:lnSpc>
                      </a:pPr>
                      <a:r>
                        <a:rPr lang="en-US" sz="1200" b="0" u="none" strike="noStrike">
                          <a:solidFill>
                            <a:srgbClr val="1F2937"/>
                          </a:solidFill>
                          <a:effectLst/>
                          <a:uFillTx/>
                          <a:latin typeface="Poppins"/>
                        </a:rPr>
                        <a:t>Verified across 706 automated test vectors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6"/>
                  </a:ext>
                </a:extLst>
              </a:tr>
              <a:tr h="581040">
                <a:tc>
                  <a:txBody>
                    <a:bodyPr/>
                    <a:lstStyle/>
                    <a:p>
                      <a:pPr defTabSz="457200">
                        <a:lnSpc>
                          <a:spcPct val="100000"/>
                        </a:lnSpc>
                      </a:pPr>
                      <a:r>
                        <a:rPr lang="en-US" sz="1200" b="0" u="none" strike="noStrike">
                          <a:solidFill>
                            <a:srgbClr val="831838"/>
                          </a:solidFill>
                          <a:effectLst/>
                          <a:uFillTx/>
                          <a:latin typeface="Poppins"/>
                        </a:rPr>
                        <a:t>INT8 Quantization Delta</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0.15 % points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tc>
                  <a:txBody>
                    <a:bodyPr/>
                    <a:lstStyle/>
                    <a:p>
                      <a:pPr algn="ctr" defTabSz="457200">
                        <a:lnSpc>
                          <a:spcPct val="100000"/>
                        </a:lnSpc>
                      </a:pPr>
                      <a:r>
                        <a:rPr lang="en-US" sz="1200" b="0" u="none" strike="noStrike">
                          <a:solidFill>
                            <a:srgbClr val="1F2937"/>
                          </a:solidFill>
                          <a:effectLst/>
                          <a:uFillTx/>
                          <a:latin typeface="Poppins"/>
                        </a:rPr>
                        <a:t>Enables deployment on 8-bit AVR microcontrollers</a:t>
                      </a:r>
                      <a:endParaRPr lang="en-US" sz="12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9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1" descr="top_bar.png"/>
          <p:cNvPicPr/>
          <p:nvPr/>
        </p:nvPicPr>
        <p:blipFill>
          <a:blip r:embed="rId3"/>
          <a:stretch/>
        </p:blipFill>
        <p:spPr>
          <a:xfrm>
            <a:off x="0" y="0"/>
            <a:ext cx="12191040" cy="72360"/>
          </a:xfrm>
          <a:prstGeom prst="rect">
            <a:avLst/>
          </a:prstGeom>
          <a:noFill/>
          <a:ln w="0">
            <a:noFill/>
          </a:ln>
        </p:spPr>
      </p:pic>
      <p:pic>
        <p:nvPicPr>
          <p:cNvPr id="307" name="Picture 2" descr="amrita_logo.png"/>
          <p:cNvPicPr/>
          <p:nvPr/>
        </p:nvPicPr>
        <p:blipFill>
          <a:blip r:embed="rId4"/>
          <a:stretch/>
        </p:blipFill>
        <p:spPr>
          <a:xfrm>
            <a:off x="9860040" y="201240"/>
            <a:ext cx="2102400" cy="600120"/>
          </a:xfrm>
          <a:prstGeom prst="rect">
            <a:avLst/>
          </a:prstGeom>
          <a:noFill/>
          <a:ln w="0">
            <a:noFill/>
          </a:ln>
        </p:spPr>
      </p:pic>
      <p:sp>
        <p:nvSpPr>
          <p:cNvPr id="308"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Digital Twin Web Dashboard</a:t>
            </a:r>
            <a:endParaRPr lang="en-US" sz="2500" b="0" u="none" strike="noStrike" dirty="0">
              <a:solidFill>
                <a:srgbClr val="000000"/>
              </a:solidFill>
              <a:effectLst/>
              <a:uFillTx/>
              <a:latin typeface="Arial"/>
            </a:endParaRPr>
          </a:p>
        </p:txBody>
      </p:sp>
      <p:sp>
        <p:nvSpPr>
          <p:cNvPr id="309"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310"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20</a:t>
            </a:r>
            <a:endParaRPr lang="en-US" sz="1000" b="0" u="none" strike="noStrike">
              <a:solidFill>
                <a:srgbClr val="000000"/>
              </a:solidFill>
              <a:effectLst/>
              <a:uFillTx/>
              <a:latin typeface="Arial"/>
            </a:endParaRPr>
          </a:p>
        </p:txBody>
      </p:sp>
      <p:pic>
        <p:nvPicPr>
          <p:cNvPr id="311" name="Picture 6" descr="dashboard_screenshot.png"/>
          <p:cNvPicPr/>
          <p:nvPr/>
        </p:nvPicPr>
        <p:blipFill>
          <a:blip r:embed="rId5"/>
          <a:stretch/>
        </p:blipFill>
        <p:spPr>
          <a:xfrm>
            <a:off x="411480" y="1500120"/>
            <a:ext cx="6399720" cy="4649760"/>
          </a:xfrm>
          <a:prstGeom prst="rect">
            <a:avLst/>
          </a:prstGeom>
          <a:noFill/>
          <a:ln w="0">
            <a:noFill/>
          </a:ln>
        </p:spPr>
      </p:pic>
      <p:sp>
        <p:nvSpPr>
          <p:cNvPr id="312" name="Rounded Rectangle 7"/>
          <p:cNvSpPr/>
          <p:nvPr/>
        </p:nvSpPr>
        <p:spPr>
          <a:xfrm>
            <a:off x="6999840" y="1500120"/>
            <a:ext cx="477972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3" name="TextBox 8"/>
          <p:cNvSpPr/>
          <p:nvPr/>
        </p:nvSpPr>
        <p:spPr>
          <a:xfrm>
            <a:off x="7698600" y="1820520"/>
            <a:ext cx="43225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Interactive 6-Tab Telemetry UI</a:t>
            </a:r>
            <a:endParaRPr lang="en-US" sz="1600" b="0" u="none" strike="noStrike">
              <a:solidFill>
                <a:srgbClr val="000000"/>
              </a:solidFill>
              <a:effectLst/>
              <a:uFillTx/>
              <a:latin typeface="Arial"/>
            </a:endParaRPr>
          </a:p>
        </p:txBody>
      </p:sp>
      <p:sp>
        <p:nvSpPr>
          <p:cNvPr id="314" name="TextBox 9"/>
          <p:cNvSpPr/>
          <p:nvPr/>
        </p:nvSpPr>
        <p:spPr>
          <a:xfrm>
            <a:off x="7236000" y="2317680"/>
            <a:ext cx="4413960" cy="345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Tab 1: Live Digital Twin: </a:t>
            </a:r>
            <a:r>
              <a:rPr lang="en-US" sz="1200" b="0" u="none" strike="noStrike">
                <a:solidFill>
                  <a:srgbClr val="4B5563"/>
                </a:solidFill>
                <a:effectLst/>
                <a:uFillTx/>
                <a:latin typeface="Poppins"/>
              </a:rPr>
              <a:t>Dynamic SVG animated SOC ring, dual SOH aging cards, real-time Chart.js tracking plots, virtual TP4056 LEDs, and live Wi-Fi JSON packet inspector.</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Tab 2: Model Evaluation: </a:t>
            </a:r>
            <a:r>
              <a:rPr lang="en-US" sz="1200" b="0" u="none" strike="noStrike">
                <a:solidFill>
                  <a:srgbClr val="4B5563"/>
                </a:solidFill>
                <a:effectLst/>
                <a:uFillTx/>
                <a:latin typeface="Poppins"/>
              </a:rPr>
              <a:t>Algorithm recommendation engine, multi-algorithm comparison scorecard, and quantitative held-out cycle error tables.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Tab 3: Model Explorer: </a:t>
            </a:r>
            <a:r>
              <a:rPr lang="en-US" sz="1200" b="0" u="none" strike="noStrike">
                <a:solidFill>
                  <a:srgbClr val="4B5563"/>
                </a:solidFill>
                <a:effectLst/>
                <a:uFillTx/>
                <a:latin typeface="Poppins"/>
              </a:rPr>
              <a:t>Interactive neural network architecture visualizer with real-time neuron activation heatmaps and INT8 analysis.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Tab 4: Data Explorer: </a:t>
            </a:r>
            <a:r>
              <a:rPr lang="en-US" sz="1200" b="0" u="none" strike="noStrike">
                <a:solidFill>
                  <a:srgbClr val="4B5563"/>
                </a:solidFill>
                <a:effectLst/>
                <a:uFillTx/>
                <a:latin typeface="Poppins"/>
              </a:rPr>
              <a:t>Dataset visualizer across all 60 NASA cycling files with Kelvin probe contact resistance spread histograms.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Tab 5: Custom Import &amp; Predict: </a:t>
            </a:r>
            <a:r>
              <a:rPr lang="en-US" sz="1200" b="0" u="none" strike="noStrike">
                <a:solidFill>
                  <a:srgbClr val="4B5563"/>
                </a:solidFill>
                <a:effectLst/>
                <a:uFillTx/>
                <a:latin typeface="Poppins"/>
              </a:rPr>
              <a:t>Drag-and-drop CSV parser with auto delimiter sniffing, Kelvin probe detection, and instantaneous ground-truth error export.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Interactive Controls: </a:t>
            </a:r>
            <a:r>
              <a:rPr lang="en-US" sz="1200" b="0" u="none" strike="noStrike">
                <a:solidFill>
                  <a:srgbClr val="4B5563"/>
                </a:solidFill>
                <a:effectLst/>
                <a:uFillTx/>
                <a:latin typeface="Poppins"/>
              </a:rPr>
              <a:t>1x to 100x replay speed multiplier, adjustable ADC noise (0-30 mV), and live current offset sliders (-100 to +100 mA).</a:t>
            </a:r>
            <a:endParaRPr lang="en-US" sz="12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icture 1" descr="top_bar.png"/>
          <p:cNvPicPr/>
          <p:nvPr/>
        </p:nvPicPr>
        <p:blipFill>
          <a:blip r:embed="rId3"/>
          <a:stretch/>
        </p:blipFill>
        <p:spPr>
          <a:xfrm>
            <a:off x="0" y="0"/>
            <a:ext cx="12191040" cy="72360"/>
          </a:xfrm>
          <a:prstGeom prst="rect">
            <a:avLst/>
          </a:prstGeom>
          <a:noFill/>
          <a:ln w="0">
            <a:noFill/>
          </a:ln>
        </p:spPr>
      </p:pic>
      <p:pic>
        <p:nvPicPr>
          <p:cNvPr id="316" name="Picture 2" descr="amrita_logo.png"/>
          <p:cNvPicPr/>
          <p:nvPr/>
        </p:nvPicPr>
        <p:blipFill>
          <a:blip r:embed="rId4"/>
          <a:stretch/>
        </p:blipFill>
        <p:spPr>
          <a:xfrm>
            <a:off x="9860040" y="201240"/>
            <a:ext cx="2102400" cy="600120"/>
          </a:xfrm>
          <a:prstGeom prst="rect">
            <a:avLst/>
          </a:prstGeom>
          <a:noFill/>
          <a:ln w="0">
            <a:noFill/>
          </a:ln>
        </p:spPr>
      </p:pic>
      <p:sp>
        <p:nvSpPr>
          <p:cNvPr id="317"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Conclusion</a:t>
            </a:r>
            <a:endParaRPr lang="en-US" sz="2500" b="0" u="none" strike="noStrike" dirty="0">
              <a:solidFill>
                <a:srgbClr val="000000"/>
              </a:solidFill>
              <a:effectLst/>
              <a:uFillTx/>
              <a:latin typeface="Arial"/>
            </a:endParaRPr>
          </a:p>
        </p:txBody>
      </p:sp>
      <p:sp>
        <p:nvSpPr>
          <p:cNvPr id="318"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319"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21</a:t>
            </a:r>
            <a:endParaRPr lang="en-US" sz="1000" b="0" u="none" strike="noStrike">
              <a:solidFill>
                <a:srgbClr val="000000"/>
              </a:solidFill>
              <a:effectLst/>
              <a:uFillTx/>
              <a:latin typeface="Arial"/>
            </a:endParaRPr>
          </a:p>
        </p:txBody>
      </p:sp>
      <p:sp>
        <p:nvSpPr>
          <p:cNvPr id="320" name="Rounded Rectangle 6"/>
          <p:cNvSpPr/>
          <p:nvPr/>
        </p:nvSpPr>
        <p:spPr>
          <a:xfrm>
            <a:off x="411480" y="15001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1" name="TextBox 7"/>
          <p:cNvSpPr/>
          <p:nvPr/>
        </p:nvSpPr>
        <p:spPr>
          <a:xfrm>
            <a:off x="1137240" y="1962000"/>
            <a:ext cx="5092560" cy="24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			Key Achievements </a:t>
            </a:r>
            <a:endParaRPr lang="en-US" sz="1600" b="0" u="none" strike="noStrike">
              <a:solidFill>
                <a:srgbClr val="000000"/>
              </a:solidFill>
              <a:effectLst/>
              <a:uFillTx/>
              <a:latin typeface="Arial"/>
            </a:endParaRPr>
          </a:p>
        </p:txBody>
      </p:sp>
      <p:sp>
        <p:nvSpPr>
          <p:cNvPr id="322" name="TextBox 8"/>
          <p:cNvSpPr/>
          <p:nvPr/>
        </p:nvSpPr>
        <p:spPr>
          <a:xfrm>
            <a:off x="594720" y="2570760"/>
            <a:ext cx="5184000" cy="305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Complete Digital Twin Delivered: </a:t>
            </a:r>
            <a:r>
              <a:rPr lang="en-US" sz="1200" b="0" u="none" strike="noStrike">
                <a:solidFill>
                  <a:srgbClr val="4B5563"/>
                </a:solidFill>
                <a:effectLst/>
                <a:uFillTx/>
                <a:latin typeface="Poppins"/>
              </a:rPr>
              <a:t>A fully working virtual ESP32 + TP4056 + 18650 chain driven by real NASA cycling data with zero hardware risk and zero equipment costs.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High Estimation Accuracy: </a:t>
            </a:r>
            <a:r>
              <a:rPr lang="en-US" sz="1200" b="0" u="none" strike="noStrike">
                <a:solidFill>
                  <a:srgbClr val="4B5563"/>
                </a:solidFill>
                <a:effectLst/>
                <a:uFillTx/>
                <a:latin typeface="Poppins"/>
              </a:rPr>
              <a:t>The proposed 3-16-1 MLP achieved 1.25% average MAE on held-out test cycles, comfortably exceeding the 2-3% engineering accuracy target.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Multi-Algorithm Superiority: </a:t>
            </a:r>
            <a:r>
              <a:rPr lang="en-US" sz="1200" b="0" u="none" strike="noStrike">
                <a:solidFill>
                  <a:srgbClr val="4B5563"/>
                </a:solidFill>
                <a:effectLst/>
                <a:uFillTx/>
                <a:latin typeface="Poppins"/>
              </a:rPr>
              <a:t>Rigorously demonstrated that MLP 3-16-1 outperforms Linear Regression (3.02% MAE) by modeling non-linear knees, and beats Random Forest (2.04% MAE) in embedded viability (348 bytes vs &gt;120 KB).</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Sensor Bias Immunity: </a:t>
            </a:r>
            <a:r>
              <a:rPr lang="en-US" sz="1200" b="0" u="none" strike="noStrike">
                <a:solidFill>
                  <a:srgbClr val="4B5563"/>
                </a:solidFill>
                <a:effectLst/>
                <a:uFillTx/>
                <a:latin typeface="Poppins"/>
              </a:rPr>
              <a:t>Terminal-voltage anchoring prevents unbounded error divergence under persistent DC sensor offsets, unlike Coulomb Counting (&gt;13% drift).</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Ultra-Low Embedded Footprint: </a:t>
            </a:r>
            <a:r>
              <a:rPr lang="en-US" sz="1200" b="0" u="none" strike="noStrike">
                <a:solidFill>
                  <a:srgbClr val="4B5563"/>
                </a:solidFill>
                <a:effectLst/>
                <a:uFillTx/>
                <a:latin typeface="Poppins"/>
              </a:rPr>
              <a:t>6.03 µs inference latency and 348 bytes RAM/Flash footprint validated in C with golden-vector parity down to 2.7 * 10^-5 %.</a:t>
            </a:r>
            <a:endParaRPr lang="en-US" sz="1200" b="0" u="none" strike="noStrike">
              <a:solidFill>
                <a:srgbClr val="000000"/>
              </a:solidFill>
              <a:effectLst/>
              <a:uFillTx/>
              <a:latin typeface="Arial"/>
            </a:endParaRPr>
          </a:p>
        </p:txBody>
      </p:sp>
      <p:sp>
        <p:nvSpPr>
          <p:cNvPr id="323" name="Rounded Rectangle 9"/>
          <p:cNvSpPr/>
          <p:nvPr/>
        </p:nvSpPr>
        <p:spPr>
          <a:xfrm>
            <a:off x="6230160" y="1500120"/>
            <a:ext cx="5549760" cy="464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4" name="TextBox 10"/>
          <p:cNvSpPr/>
          <p:nvPr/>
        </p:nvSpPr>
        <p:spPr>
          <a:xfrm>
            <a:off x="7313760" y="1962000"/>
            <a:ext cx="41662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Technical Insights &amp; Takeaways</a:t>
            </a:r>
            <a:endParaRPr lang="en-US" sz="1600" b="0" u="none" strike="noStrike">
              <a:solidFill>
                <a:srgbClr val="000000"/>
              </a:solidFill>
              <a:effectLst/>
              <a:uFillTx/>
              <a:latin typeface="Arial"/>
            </a:endParaRPr>
          </a:p>
        </p:txBody>
      </p:sp>
      <p:sp>
        <p:nvSpPr>
          <p:cNvPr id="325" name="TextBox 11"/>
          <p:cNvSpPr/>
          <p:nvPr/>
        </p:nvSpPr>
        <p:spPr>
          <a:xfrm>
            <a:off x="6367320" y="2582640"/>
            <a:ext cx="5184000" cy="171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Data-Driven vs Physics Filters: </a:t>
            </a:r>
            <a:r>
              <a:rPr lang="en-US" sz="1200" b="0" u="none" strike="noStrike">
                <a:solidFill>
                  <a:srgbClr val="4B5563"/>
                </a:solidFill>
                <a:effectLst/>
                <a:uFillTx/>
                <a:latin typeface="Poppins"/>
              </a:rPr>
              <a:t>While Kalman filters require tedious laboratory parameter extraction (R0, R1, C1 vs T), neural networks train end-to-end directly from standard cycling logs.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Importance of Causal Feature Engineering: </a:t>
            </a:r>
            <a:r>
              <a:rPr lang="en-US" sz="1200" b="0" u="none" strike="noStrike">
                <a:solidFill>
                  <a:srgbClr val="4B5563"/>
                </a:solidFill>
                <a:effectLst/>
                <a:uFillTx/>
                <a:latin typeface="Poppins"/>
              </a:rPr>
              <a:t>The causal smoothed voltage V_smooth is vital: it filters transient IR voltage drops without introducing future lookahead leakage.</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Dual Physical SOH Tracking: </a:t>
            </a:r>
            <a:r>
              <a:rPr lang="en-US" sz="1200" b="0" u="none" strike="noStrike">
                <a:solidFill>
                  <a:srgbClr val="4B5563"/>
                </a:solidFill>
                <a:effectLst/>
                <a:uFillTx/>
                <a:latin typeface="Poppins"/>
              </a:rPr>
              <a:t>Integrating capacity fade (SOH_C) and ohmic resistance growth (SOH_R) enables reliable Remaining Useful Life (RUL) projections for electric mobility</a:t>
            </a:r>
            <a:r>
              <a:rPr lang="en-US" sz="880" b="0" u="none" strike="noStrike">
                <a:solidFill>
                  <a:srgbClr val="4B5563"/>
                </a:solidFill>
                <a:effectLst/>
                <a:uFillTx/>
                <a:latin typeface="Poppins"/>
              </a:rPr>
              <a:t>.</a:t>
            </a:r>
            <a:endParaRPr lang="en-US" sz="88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 name="Picture 1" descr="top_bar.png"/>
          <p:cNvPicPr/>
          <p:nvPr/>
        </p:nvPicPr>
        <p:blipFill>
          <a:blip r:embed="rId3"/>
          <a:stretch/>
        </p:blipFill>
        <p:spPr>
          <a:xfrm>
            <a:off x="0" y="0"/>
            <a:ext cx="12191040" cy="72360"/>
          </a:xfrm>
          <a:prstGeom prst="rect">
            <a:avLst/>
          </a:prstGeom>
          <a:noFill/>
          <a:ln w="0">
            <a:noFill/>
          </a:ln>
        </p:spPr>
      </p:pic>
      <p:pic>
        <p:nvPicPr>
          <p:cNvPr id="327" name="Picture 2" descr="amrita_logo.png"/>
          <p:cNvPicPr/>
          <p:nvPr/>
        </p:nvPicPr>
        <p:blipFill>
          <a:blip r:embed="rId4"/>
          <a:stretch/>
        </p:blipFill>
        <p:spPr>
          <a:xfrm>
            <a:off x="9860040" y="201240"/>
            <a:ext cx="2102400" cy="600120"/>
          </a:xfrm>
          <a:prstGeom prst="rect">
            <a:avLst/>
          </a:prstGeom>
          <a:noFill/>
          <a:ln w="0">
            <a:noFill/>
          </a:ln>
        </p:spPr>
      </p:pic>
      <p:sp>
        <p:nvSpPr>
          <p:cNvPr id="328"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Future Scope &amp; Roadmap</a:t>
            </a:r>
            <a:endParaRPr lang="en-US" sz="2500" b="0" u="none" strike="noStrike" dirty="0">
              <a:solidFill>
                <a:srgbClr val="000000"/>
              </a:solidFill>
              <a:effectLst/>
              <a:uFillTx/>
              <a:latin typeface="Arial"/>
            </a:endParaRPr>
          </a:p>
        </p:txBody>
      </p:sp>
      <p:sp>
        <p:nvSpPr>
          <p:cNvPr id="329"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330"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22</a:t>
            </a:r>
            <a:endParaRPr lang="en-US" sz="1000" b="0" u="none" strike="noStrike">
              <a:solidFill>
                <a:srgbClr val="000000"/>
              </a:solidFill>
              <a:effectLst/>
              <a:uFillTx/>
              <a:latin typeface="Arial"/>
            </a:endParaRPr>
          </a:p>
        </p:txBody>
      </p:sp>
      <p:sp>
        <p:nvSpPr>
          <p:cNvPr id="331" name="Rounded Rectangle 6"/>
          <p:cNvSpPr/>
          <p:nvPr/>
        </p:nvSpPr>
        <p:spPr>
          <a:xfrm>
            <a:off x="41148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2" name="Rounded Rectangle 7"/>
          <p:cNvSpPr/>
          <p:nvPr/>
        </p:nvSpPr>
        <p:spPr>
          <a:xfrm>
            <a:off x="672840" y="18583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1</a:t>
            </a:r>
            <a:endParaRPr lang="en-US" sz="1300" b="0" u="none" strike="noStrike">
              <a:solidFill>
                <a:srgbClr val="000000"/>
              </a:solidFill>
              <a:effectLst/>
              <a:uFillTx/>
              <a:latin typeface="Arial"/>
            </a:endParaRPr>
          </a:p>
        </p:txBody>
      </p:sp>
      <p:sp>
        <p:nvSpPr>
          <p:cNvPr id="333" name="TextBox 8"/>
          <p:cNvSpPr/>
          <p:nvPr/>
        </p:nvSpPr>
        <p:spPr>
          <a:xfrm>
            <a:off x="1331280" y="1833120"/>
            <a:ext cx="298944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Multi-Chemistry Generalization</a:t>
            </a:r>
            <a:endParaRPr lang="en-US" sz="1600" b="0" u="none" strike="noStrike">
              <a:solidFill>
                <a:srgbClr val="000000"/>
              </a:solidFill>
              <a:effectLst/>
              <a:uFillTx/>
              <a:latin typeface="Arial"/>
            </a:endParaRPr>
          </a:p>
        </p:txBody>
      </p:sp>
      <p:sp>
        <p:nvSpPr>
          <p:cNvPr id="334" name="TextBox 9"/>
          <p:cNvSpPr/>
          <p:nvPr/>
        </p:nvSpPr>
        <p:spPr>
          <a:xfrm>
            <a:off x="621720" y="252936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Expansion: </a:t>
            </a:r>
            <a:r>
              <a:rPr lang="en-US" sz="1200" b="0" u="none" strike="noStrike">
                <a:solidFill>
                  <a:srgbClr val="4B5563"/>
                </a:solidFill>
                <a:effectLst/>
                <a:uFillTx/>
                <a:latin typeface="Poppins"/>
              </a:rPr>
              <a:t>Extend training pipeline to Lithium Iron Phosphate (LFP) with ultra-flat OCV plateaus, NMC, and solid-state chemistries across multi-cell packs.</a:t>
            </a:r>
            <a:endParaRPr lang="en-US" sz="1200" b="0" u="none" strike="noStrike">
              <a:solidFill>
                <a:srgbClr val="000000"/>
              </a:solidFill>
              <a:effectLst/>
              <a:uFillTx/>
              <a:latin typeface="Arial"/>
            </a:endParaRPr>
          </a:p>
        </p:txBody>
      </p:sp>
      <p:sp>
        <p:nvSpPr>
          <p:cNvPr id="335" name="Rounded Rectangle 10"/>
          <p:cNvSpPr/>
          <p:nvPr/>
        </p:nvSpPr>
        <p:spPr>
          <a:xfrm>
            <a:off x="429012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6" name="Rounded Rectangle 11"/>
          <p:cNvSpPr/>
          <p:nvPr/>
        </p:nvSpPr>
        <p:spPr>
          <a:xfrm>
            <a:off x="4500360" y="18565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2</a:t>
            </a:r>
            <a:endParaRPr lang="en-US" sz="1300" b="0" u="none" strike="noStrike">
              <a:solidFill>
                <a:srgbClr val="000000"/>
              </a:solidFill>
              <a:effectLst/>
              <a:uFillTx/>
              <a:latin typeface="Arial"/>
            </a:endParaRPr>
          </a:p>
        </p:txBody>
      </p:sp>
      <p:sp>
        <p:nvSpPr>
          <p:cNvPr id="337" name="TextBox 12"/>
          <p:cNvSpPr/>
          <p:nvPr/>
        </p:nvSpPr>
        <p:spPr>
          <a:xfrm>
            <a:off x="5103720" y="185832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Temperature &amp; Multi-Sensor Input</a:t>
            </a:r>
            <a:endParaRPr lang="en-US" sz="1600" b="0" u="none" strike="noStrike">
              <a:solidFill>
                <a:srgbClr val="000000"/>
              </a:solidFill>
              <a:effectLst/>
              <a:uFillTx/>
              <a:latin typeface="Arial"/>
            </a:endParaRPr>
          </a:p>
        </p:txBody>
      </p:sp>
      <p:sp>
        <p:nvSpPr>
          <p:cNvPr id="338" name="TextBox 13"/>
          <p:cNvSpPr/>
          <p:nvPr/>
        </p:nvSpPr>
        <p:spPr>
          <a:xfrm>
            <a:off x="4500360" y="2498040"/>
            <a:ext cx="3245400" cy="92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Environmental Coupling: </a:t>
            </a:r>
            <a:r>
              <a:rPr lang="en-US" sz="1200" b="0" u="none" strike="noStrike">
                <a:solidFill>
                  <a:srgbClr val="4B5563"/>
                </a:solidFill>
                <a:effectLst/>
                <a:uFillTx/>
                <a:latin typeface="Poppins"/>
              </a:rPr>
              <a:t>Incorporate cell surface thermocouples directly into the input feature vector: X = [V, I, V_s, T, dT/dt] for cryogenic and high-temperature accuracy.</a:t>
            </a:r>
            <a:endParaRPr lang="en-US" sz="1200" b="0" u="none" strike="noStrike">
              <a:solidFill>
                <a:srgbClr val="000000"/>
              </a:solidFill>
              <a:effectLst/>
              <a:uFillTx/>
              <a:latin typeface="Arial"/>
            </a:endParaRPr>
          </a:p>
        </p:txBody>
      </p:sp>
      <p:sp>
        <p:nvSpPr>
          <p:cNvPr id="339" name="Rounded Rectangle 14"/>
          <p:cNvSpPr/>
          <p:nvPr/>
        </p:nvSpPr>
        <p:spPr>
          <a:xfrm>
            <a:off x="8168400" y="15199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0" name="Rounded Rectangle 15"/>
          <p:cNvSpPr/>
          <p:nvPr/>
        </p:nvSpPr>
        <p:spPr>
          <a:xfrm>
            <a:off x="8332920" y="185652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03</a:t>
            </a:r>
            <a:endParaRPr lang="en-US" sz="1300" b="0" u="none" strike="noStrike">
              <a:solidFill>
                <a:srgbClr val="000000"/>
              </a:solidFill>
              <a:effectLst/>
              <a:uFillTx/>
              <a:latin typeface="Arial"/>
            </a:endParaRPr>
          </a:p>
        </p:txBody>
      </p:sp>
      <p:sp>
        <p:nvSpPr>
          <p:cNvPr id="341" name="TextBox 16"/>
          <p:cNvSpPr/>
          <p:nvPr/>
        </p:nvSpPr>
        <p:spPr>
          <a:xfrm>
            <a:off x="8831520" y="193320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Industry Hybrid Pipeline</a:t>
            </a:r>
            <a:endParaRPr lang="en-US" sz="1600" b="0" u="none" strike="noStrike">
              <a:solidFill>
                <a:srgbClr val="000000"/>
              </a:solidFill>
              <a:effectLst/>
              <a:uFillTx/>
              <a:latin typeface="Arial"/>
            </a:endParaRPr>
          </a:p>
        </p:txBody>
      </p:sp>
      <p:sp>
        <p:nvSpPr>
          <p:cNvPr id="342" name="TextBox 17"/>
          <p:cNvSpPr/>
          <p:nvPr/>
        </p:nvSpPr>
        <p:spPr>
          <a:xfrm>
            <a:off x="8378640" y="2471760"/>
            <a:ext cx="3245400" cy="92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chemeClr val="dk1"/>
                </a:solidFill>
                <a:effectLst/>
                <a:uFillTx/>
                <a:latin typeface="Poppins"/>
              </a:rPr>
              <a:t>Closed-Loop Kalman + ML: </a:t>
            </a:r>
            <a:r>
              <a:rPr lang="en-US" sz="1200" b="0" u="none" strike="noStrike">
                <a:solidFill>
                  <a:srgbClr val="4B5563"/>
                </a:solidFill>
                <a:effectLst/>
                <a:uFillTx/>
                <a:latin typeface="Poppins"/>
              </a:rPr>
              <a:t>Deploy hybrid industry architecture: Kalman filter state observer for baseline physics + lightweight NN layer for residual non-linearity correction.</a:t>
            </a:r>
            <a:endParaRPr lang="en-US" sz="1200" b="0" u="none" strike="noStrike">
              <a:solidFill>
                <a:srgbClr val="000000"/>
              </a:solidFill>
              <a:effectLst/>
              <a:uFillTx/>
              <a:latin typeface="Arial"/>
            </a:endParaRPr>
          </a:p>
        </p:txBody>
      </p:sp>
      <p:sp>
        <p:nvSpPr>
          <p:cNvPr id="343" name="Rounded Rectangle 18"/>
          <p:cNvSpPr/>
          <p:nvPr/>
        </p:nvSpPr>
        <p:spPr>
          <a:xfrm>
            <a:off x="41148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4" name="Rounded Rectangle 19"/>
          <p:cNvSpPr/>
          <p:nvPr/>
        </p:nvSpPr>
        <p:spPr>
          <a:xfrm>
            <a:off x="567360" y="426816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4</a:t>
            </a:r>
            <a:endParaRPr lang="en-US" sz="1300" b="0" u="none" strike="noStrike">
              <a:solidFill>
                <a:srgbClr val="000000"/>
              </a:solidFill>
              <a:effectLst/>
              <a:uFillTx/>
              <a:latin typeface="Arial"/>
            </a:endParaRPr>
          </a:p>
        </p:txBody>
      </p:sp>
      <p:sp>
        <p:nvSpPr>
          <p:cNvPr id="345" name="TextBox 20"/>
          <p:cNvSpPr/>
          <p:nvPr/>
        </p:nvSpPr>
        <p:spPr>
          <a:xfrm>
            <a:off x="1006560" y="4360320"/>
            <a:ext cx="2833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Online ICA Peak Tracking</a:t>
            </a:r>
            <a:endParaRPr lang="en-US" sz="1600" b="0" u="none" strike="noStrike">
              <a:solidFill>
                <a:srgbClr val="000000"/>
              </a:solidFill>
              <a:effectLst/>
              <a:uFillTx/>
              <a:latin typeface="Arial"/>
            </a:endParaRPr>
          </a:p>
        </p:txBody>
      </p:sp>
      <p:sp>
        <p:nvSpPr>
          <p:cNvPr id="346" name="TextBox 21"/>
          <p:cNvSpPr/>
          <p:nvPr/>
        </p:nvSpPr>
        <p:spPr>
          <a:xfrm>
            <a:off x="595080" y="4766760"/>
            <a:ext cx="3245400" cy="92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Differential SOH: </a:t>
            </a:r>
            <a:r>
              <a:rPr lang="en-US" sz="1200" b="0" u="none" strike="noStrike">
                <a:solidFill>
                  <a:srgbClr val="4B5563"/>
                </a:solidFill>
                <a:effectLst/>
                <a:uFillTx/>
                <a:latin typeface="Poppins"/>
              </a:rPr>
              <a:t>Implement real-time online Incremental Capacity Analysis (dQ/dV peak detection) on ESP32 to monitor active lithium loss and phase transitions.</a:t>
            </a:r>
            <a:endParaRPr lang="en-US" sz="1200" b="0" u="none" strike="noStrike">
              <a:solidFill>
                <a:srgbClr val="000000"/>
              </a:solidFill>
              <a:effectLst/>
              <a:uFillTx/>
              <a:latin typeface="Arial"/>
            </a:endParaRPr>
          </a:p>
        </p:txBody>
      </p:sp>
      <p:sp>
        <p:nvSpPr>
          <p:cNvPr id="347" name="Rounded Rectangle 22"/>
          <p:cNvSpPr/>
          <p:nvPr/>
        </p:nvSpPr>
        <p:spPr>
          <a:xfrm>
            <a:off x="429012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8" name="Rounded Rectangle 23"/>
          <p:cNvSpPr/>
          <p:nvPr/>
        </p:nvSpPr>
        <p:spPr>
          <a:xfrm>
            <a:off x="4445280" y="418788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5</a:t>
            </a:r>
            <a:endParaRPr lang="en-US" sz="1300" b="0" u="none" strike="noStrike">
              <a:solidFill>
                <a:srgbClr val="000000"/>
              </a:solidFill>
              <a:effectLst/>
              <a:uFillTx/>
              <a:latin typeface="Arial"/>
            </a:endParaRPr>
          </a:p>
        </p:txBody>
      </p:sp>
      <p:sp>
        <p:nvSpPr>
          <p:cNvPr id="349" name="TextBox 24"/>
          <p:cNvSpPr/>
          <p:nvPr/>
        </p:nvSpPr>
        <p:spPr>
          <a:xfrm>
            <a:off x="4911840" y="416880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Unknown Initial SOC Initialization</a:t>
            </a:r>
            <a:endParaRPr lang="en-US" sz="1600" b="0" u="none" strike="noStrike">
              <a:solidFill>
                <a:srgbClr val="000000"/>
              </a:solidFill>
              <a:effectLst/>
              <a:uFillTx/>
              <a:latin typeface="Arial"/>
            </a:endParaRPr>
          </a:p>
        </p:txBody>
      </p:sp>
      <p:sp>
        <p:nvSpPr>
          <p:cNvPr id="350" name="TextBox 25"/>
          <p:cNvSpPr/>
          <p:nvPr/>
        </p:nvSpPr>
        <p:spPr>
          <a:xfrm>
            <a:off x="4454640" y="476676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Cold-Start Observer: </a:t>
            </a:r>
            <a:r>
              <a:rPr lang="en-US" sz="1200" b="0" u="none" strike="noStrike">
                <a:solidFill>
                  <a:srgbClr val="4B5563"/>
                </a:solidFill>
                <a:effectLst/>
                <a:uFillTx/>
                <a:latin typeface="Poppins"/>
              </a:rPr>
              <a:t>Pair the model with an automated relaxation detector that initializes SOC0 from thermodynamic OCV curves before active driving commences.</a:t>
            </a:r>
            <a:endParaRPr lang="en-US" sz="1200" b="0" u="none" strike="noStrike">
              <a:solidFill>
                <a:srgbClr val="000000"/>
              </a:solidFill>
              <a:effectLst/>
              <a:uFillTx/>
              <a:latin typeface="Arial"/>
            </a:endParaRPr>
          </a:p>
        </p:txBody>
      </p:sp>
      <p:sp>
        <p:nvSpPr>
          <p:cNvPr id="351" name="Rounded Rectangle 26"/>
          <p:cNvSpPr/>
          <p:nvPr/>
        </p:nvSpPr>
        <p:spPr>
          <a:xfrm>
            <a:off x="8168400" y="3930120"/>
            <a:ext cx="3611160" cy="224964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2" name="Rounded Rectangle 27"/>
          <p:cNvSpPr/>
          <p:nvPr/>
        </p:nvSpPr>
        <p:spPr>
          <a:xfrm>
            <a:off x="8331120" y="4222800"/>
            <a:ext cx="383760" cy="383760"/>
          </a:xfrm>
          <a:prstGeom prst="roundRect">
            <a:avLst>
              <a:gd name="adj" fmla="val 16667"/>
            </a:avLst>
          </a:prstGeom>
          <a:solidFill>
            <a:srgbClr val="FBE4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1300" b="1" u="none" strike="noStrike">
                <a:solidFill>
                  <a:srgbClr val="831838"/>
                </a:solidFill>
                <a:effectLst/>
                <a:uFillTx/>
                <a:latin typeface="Poppins"/>
              </a:rPr>
              <a:t>6</a:t>
            </a:r>
            <a:endParaRPr lang="en-US" sz="1300" b="0" u="none" strike="noStrike">
              <a:solidFill>
                <a:srgbClr val="000000"/>
              </a:solidFill>
              <a:effectLst/>
              <a:uFillTx/>
              <a:latin typeface="Arial"/>
            </a:endParaRPr>
          </a:p>
        </p:txBody>
      </p:sp>
      <p:sp>
        <p:nvSpPr>
          <p:cNvPr id="353" name="TextBox 28"/>
          <p:cNvSpPr/>
          <p:nvPr/>
        </p:nvSpPr>
        <p:spPr>
          <a:xfrm>
            <a:off x="8881560" y="4188960"/>
            <a:ext cx="2833920" cy="49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Physical Hardware-in-the-Loop</a:t>
            </a:r>
            <a:endParaRPr lang="en-US" sz="1600" b="0" u="none" strike="noStrike">
              <a:solidFill>
                <a:srgbClr val="000000"/>
              </a:solidFill>
              <a:effectLst/>
              <a:uFillTx/>
              <a:latin typeface="Arial"/>
            </a:endParaRPr>
          </a:p>
        </p:txBody>
      </p:sp>
      <p:sp>
        <p:nvSpPr>
          <p:cNvPr id="354" name="TextBox 29"/>
          <p:cNvSpPr/>
          <p:nvPr/>
        </p:nvSpPr>
        <p:spPr>
          <a:xfrm>
            <a:off x="8351280" y="4766760"/>
            <a:ext cx="3245400" cy="73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Bench Testing: </a:t>
            </a:r>
            <a:r>
              <a:rPr lang="en-US" sz="1200" b="0" u="none" strike="noStrike">
                <a:solidFill>
                  <a:srgbClr val="4B5563"/>
                </a:solidFill>
                <a:effectLst/>
                <a:uFillTx/>
                <a:latin typeface="Poppins"/>
              </a:rPr>
              <a:t>Flash compiled C firmware to physical ESP32 board connected via SPI ADC to physical TP4056 and electronic load for live hardware validation.</a:t>
            </a:r>
            <a:endParaRPr lang="en-US" sz="12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 name="Picture 1" descr="top_bar.png"/>
          <p:cNvPicPr/>
          <p:nvPr/>
        </p:nvPicPr>
        <p:blipFill>
          <a:blip r:embed="rId3"/>
          <a:stretch/>
        </p:blipFill>
        <p:spPr>
          <a:xfrm>
            <a:off x="0" y="0"/>
            <a:ext cx="12191040" cy="72360"/>
          </a:xfrm>
          <a:prstGeom prst="rect">
            <a:avLst/>
          </a:prstGeom>
          <a:noFill/>
          <a:ln w="0">
            <a:noFill/>
          </a:ln>
        </p:spPr>
      </p:pic>
      <p:pic>
        <p:nvPicPr>
          <p:cNvPr id="356" name="Picture 2" descr="amrita_logo.png"/>
          <p:cNvPicPr/>
          <p:nvPr/>
        </p:nvPicPr>
        <p:blipFill>
          <a:blip r:embed="rId4"/>
          <a:stretch/>
        </p:blipFill>
        <p:spPr>
          <a:xfrm>
            <a:off x="9860040" y="201240"/>
            <a:ext cx="2102400" cy="600120"/>
          </a:xfrm>
          <a:prstGeom prst="rect">
            <a:avLst/>
          </a:prstGeom>
          <a:noFill/>
          <a:ln w="0">
            <a:noFill/>
          </a:ln>
        </p:spPr>
      </p:pic>
      <p:sp>
        <p:nvSpPr>
          <p:cNvPr id="357" name="TextBox 3"/>
          <p:cNvSpPr/>
          <p:nvPr/>
        </p:nvSpPr>
        <p:spPr>
          <a:xfrm>
            <a:off x="411480" y="685800"/>
            <a:ext cx="9299520" cy="38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500" b="1" u="none" strike="noStrike" dirty="0">
                <a:solidFill>
                  <a:srgbClr val="831838"/>
                </a:solidFill>
                <a:effectLst/>
                <a:uFillTx/>
                <a:latin typeface="Poppins"/>
              </a:rPr>
              <a:t>References</a:t>
            </a:r>
            <a:endParaRPr lang="en-US" sz="2500" b="0" u="none" strike="noStrike" dirty="0">
              <a:solidFill>
                <a:srgbClr val="000000"/>
              </a:solidFill>
              <a:effectLst/>
              <a:uFillTx/>
              <a:latin typeface="Arial"/>
            </a:endParaRPr>
          </a:p>
        </p:txBody>
      </p:sp>
      <p:sp>
        <p:nvSpPr>
          <p:cNvPr id="358" name="Rectangle 4"/>
          <p:cNvSpPr/>
          <p:nvPr/>
        </p:nvSpPr>
        <p:spPr>
          <a:xfrm>
            <a:off x="411480" y="1298160"/>
            <a:ext cx="11368080" cy="17640"/>
          </a:xfrm>
          <a:prstGeom prst="rect">
            <a:avLst/>
          </a:prstGeom>
          <a:solidFill>
            <a:srgbClr val="E5E7E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7000" rIns="90000" bIns="-27000" anchor="ctr">
            <a:noAutofit/>
          </a:bodyPr>
          <a:lstStyle/>
          <a:p>
            <a:endParaRPr lang="en-US" sz="1800" b="0" u="none" strike="noStrike">
              <a:solidFill>
                <a:schemeClr val="lt1"/>
              </a:solidFill>
              <a:effectLst/>
              <a:uFillTx/>
              <a:latin typeface="Calibri"/>
            </a:endParaRPr>
          </a:p>
        </p:txBody>
      </p:sp>
      <p:sp>
        <p:nvSpPr>
          <p:cNvPr id="359" name="TextBox 5"/>
          <p:cNvSpPr/>
          <p:nvPr/>
        </p:nvSpPr>
        <p:spPr>
          <a:xfrm>
            <a:off x="11400120" y="6400800"/>
            <a:ext cx="499680" cy="27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spAutoFit/>
          </a:bodyPr>
          <a:lstStyle/>
          <a:p>
            <a:pPr algn="r" defTabSz="457200">
              <a:lnSpc>
                <a:spcPct val="100000"/>
              </a:lnSpc>
            </a:pPr>
            <a:r>
              <a:rPr lang="en-US" sz="1000" b="0" u="none" strike="noStrike">
                <a:solidFill>
                  <a:srgbClr val="99A3AF"/>
                </a:solidFill>
                <a:effectLst/>
                <a:uFillTx/>
                <a:latin typeface="Poppins"/>
              </a:rPr>
              <a:t>23</a:t>
            </a:r>
            <a:endParaRPr lang="en-US" sz="1000" b="0" u="none" strike="noStrike">
              <a:solidFill>
                <a:srgbClr val="000000"/>
              </a:solidFill>
              <a:effectLst/>
              <a:uFillTx/>
              <a:latin typeface="Arial"/>
            </a:endParaRPr>
          </a:p>
        </p:txBody>
      </p:sp>
      <p:sp>
        <p:nvSpPr>
          <p:cNvPr id="360" name="Rounded Rectangle 6"/>
          <p:cNvSpPr/>
          <p:nvPr/>
        </p:nvSpPr>
        <p:spPr>
          <a:xfrm>
            <a:off x="411480" y="1500120"/>
            <a:ext cx="11368080" cy="119952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1" name="TextBox 7"/>
          <p:cNvSpPr/>
          <p:nvPr/>
        </p:nvSpPr>
        <p:spPr>
          <a:xfrm>
            <a:off x="640080" y="1637280"/>
            <a:ext cx="109108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DATASET CITATION</a:t>
            </a:r>
            <a:endParaRPr lang="en-US" sz="1600" b="0" u="none" strike="noStrike">
              <a:solidFill>
                <a:srgbClr val="000000"/>
              </a:solidFill>
              <a:effectLst/>
              <a:uFillTx/>
              <a:latin typeface="Arial"/>
            </a:endParaRPr>
          </a:p>
        </p:txBody>
      </p:sp>
      <p:sp>
        <p:nvSpPr>
          <p:cNvPr id="362" name="TextBox 8"/>
          <p:cNvSpPr/>
          <p:nvPr/>
        </p:nvSpPr>
        <p:spPr>
          <a:xfrm>
            <a:off x="594360" y="2085120"/>
            <a:ext cx="11002320" cy="36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NASA Ames PCoE: </a:t>
            </a:r>
            <a:r>
              <a:rPr lang="en-US" sz="1200" b="0" u="none" strike="noStrike">
                <a:solidFill>
                  <a:srgbClr val="4B5563"/>
                </a:solidFill>
                <a:effectLst/>
                <a:uFillTx/>
                <a:latin typeface="Poppins"/>
              </a:rPr>
              <a:t>NASA Ames Prognostics Center of Excellence (PCoE), 'Li-ion Battery Aging Datasets,' NASA Open Data Portal (Dashlink resource 133), issued 2010. Available: data.nasa.gov/dataset/li-ion-battery-aging-datasets</a:t>
            </a:r>
            <a:endParaRPr lang="en-US" sz="1200" b="0" u="none" strike="noStrike">
              <a:solidFill>
                <a:srgbClr val="000000"/>
              </a:solidFill>
              <a:effectLst/>
              <a:uFillTx/>
              <a:latin typeface="Arial"/>
            </a:endParaRPr>
          </a:p>
        </p:txBody>
      </p:sp>
      <p:sp>
        <p:nvSpPr>
          <p:cNvPr id="363" name="Rounded Rectangle 9"/>
          <p:cNvSpPr/>
          <p:nvPr/>
        </p:nvSpPr>
        <p:spPr>
          <a:xfrm>
            <a:off x="411480" y="2850120"/>
            <a:ext cx="11368080" cy="3299760"/>
          </a:xfrm>
          <a:prstGeom prst="roundRect">
            <a:avLst>
              <a:gd name="adj" fmla="val 16667"/>
            </a:avLst>
          </a:prstGeom>
          <a:solidFill>
            <a:srgbClr val="F9FAFC"/>
          </a:solidFill>
          <a:ln w="12700">
            <a:solidFill>
              <a:srgbClr val="E3E6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4" name="TextBox 10"/>
          <p:cNvSpPr/>
          <p:nvPr/>
        </p:nvSpPr>
        <p:spPr>
          <a:xfrm>
            <a:off x="685800" y="3182760"/>
            <a:ext cx="109108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600" b="1" u="none" strike="noStrike">
                <a:solidFill>
                  <a:srgbClr val="831838"/>
                </a:solidFill>
                <a:effectLst/>
                <a:uFillTx/>
                <a:latin typeface="Poppins"/>
              </a:rPr>
              <a:t>ACADEMIC REFERENCES &amp; LITERATURE</a:t>
            </a:r>
            <a:endParaRPr lang="en-US" sz="1600" b="0" u="none" strike="noStrike">
              <a:solidFill>
                <a:srgbClr val="000000"/>
              </a:solidFill>
              <a:effectLst/>
              <a:uFillTx/>
              <a:latin typeface="Arial"/>
            </a:endParaRPr>
          </a:p>
        </p:txBody>
      </p:sp>
      <p:sp>
        <p:nvSpPr>
          <p:cNvPr id="365" name="TextBox 11"/>
          <p:cNvSpPr/>
          <p:nvPr/>
        </p:nvSpPr>
        <p:spPr>
          <a:xfrm>
            <a:off x="594360" y="3702960"/>
            <a:ext cx="11002320" cy="194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spcAft>
                <a:spcPts val="221"/>
              </a:spcAft>
            </a:pPr>
            <a:r>
              <a:rPr lang="en-US" sz="1200" b="1" u="none" strike="noStrike">
                <a:solidFill>
                  <a:srgbClr val="1F2937"/>
                </a:solidFill>
                <a:effectLst/>
                <a:uFillTx/>
                <a:latin typeface="Poppins"/>
              </a:rPr>
              <a:t>[1]: </a:t>
            </a:r>
            <a:r>
              <a:rPr lang="en-US" sz="1200" b="0" u="none" strike="noStrike">
                <a:solidFill>
                  <a:srgbClr val="4B5563"/>
                </a:solidFill>
                <a:effectLst/>
                <a:uFillTx/>
                <a:latin typeface="Poppins"/>
              </a:rPr>
              <a:t>Panda et al., 'Enhanced SOC estimation using ML algorithms,' Scientific Reports (Nature), vol. 14, no. 1, 2024. Explores SVM, Neural Networks, Ensembles, and Gaussian Process Regression for real-time driving cycles.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[2]: </a:t>
            </a:r>
            <a:r>
              <a:rPr lang="en-US" sz="1200" b="0" u="none" strike="noStrike">
                <a:solidFill>
                  <a:srgbClr val="4B5563"/>
                </a:solidFill>
                <a:effectLst/>
                <a:uFillTx/>
                <a:latin typeface="Poppins"/>
              </a:rPr>
              <a:t>Wang et al., 'High-Fidelity SOC Estimation of Li-Ion Batteries using ML,' arXiv preprint arXiv:1911.08253, 2019. Investigates pulse-injection response features for deep neural network SOC regression.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[3]: </a:t>
            </a:r>
            <a:r>
              <a:rPr lang="en-US" sz="1200" b="0" u="none" strike="noStrike">
                <a:solidFill>
                  <a:srgbClr val="4B5563"/>
                </a:solidFill>
                <a:effectLst/>
                <a:uFillTx/>
                <a:latin typeface="Poppins"/>
              </a:rPr>
              <a:t>Zhang et al., 'SOC Estimation using CNN-Bi-LSTM-AM under Low Temperature,' PMC / Sensors, 2024. Demonstrates bidirectional sequential time-series modeling with attention mechanisms for cold ambient conditions.</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[4]: </a:t>
            </a:r>
            <a:r>
              <a:rPr lang="en-US" sz="1200" b="0" u="none" strike="noStrike">
                <a:solidFill>
                  <a:srgbClr val="4B5563"/>
                </a:solidFill>
                <a:effectLst/>
                <a:uFillTx/>
                <a:latin typeface="Poppins"/>
              </a:rPr>
              <a:t>Yang et al., 'SOC Estimation using Residual CNNs,' PMC / Energies, 2022. Demonstrates residual convolutional neural networks for robust multi-channel battery telemetry regression.</a:t>
            </a:r>
            <a:endParaRPr lang="en-US" sz="1200" b="0" u="none" strike="noStrike">
              <a:solidFill>
                <a:srgbClr val="000000"/>
              </a:solidFill>
              <a:effectLst/>
              <a:uFillTx/>
              <a:latin typeface="Arial"/>
            </a:endParaRPr>
          </a:p>
          <a:p>
            <a:pPr defTabSz="457200">
              <a:lnSpc>
                <a:spcPct val="100000"/>
              </a:lnSpc>
              <a:spcAft>
                <a:spcPts val="221"/>
              </a:spcAft>
            </a:pPr>
            <a:r>
              <a:rPr lang="en-US" sz="1200" b="1" u="none" strike="noStrike">
                <a:solidFill>
                  <a:srgbClr val="1F2937"/>
                </a:solidFill>
                <a:effectLst/>
                <a:uFillTx/>
                <a:latin typeface="Poppins"/>
              </a:rPr>
              <a:t>[5]: </a:t>
            </a:r>
            <a:r>
              <a:rPr lang="en-US" sz="1200" b="0" u="none" strike="noStrike">
                <a:solidFill>
                  <a:srgbClr val="4B5563"/>
                </a:solidFill>
                <a:effectLst/>
                <a:uFillTx/>
                <a:latin typeface="Poppins"/>
              </a:rPr>
              <a:t>Plett, G. L., 'Battery Management Systems, Volume I &amp; II: Battery Modeling and State Estimation,' Artech House, 2015. Foundational reference for Equivalent Circuit Models (ECM), Extended Kalman Filters, and Sigma-Point Kalman Filters.</a:t>
            </a:r>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TotalTime>
  <Words>8002</Words>
  <Application>Microsoft Office PowerPoint</Application>
  <PresentationFormat>Widescreen</PresentationFormat>
  <Paragraphs>647</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Poppins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dc:description>generated using python-pptx</dc:description>
  <cp:lastModifiedBy>Abhinav Pradeep</cp:lastModifiedBy>
  <cp:revision>15</cp:revision>
  <dcterms:created xsi:type="dcterms:W3CDTF">2013-01-27T09:14:16Z</dcterms:created>
  <dcterms:modified xsi:type="dcterms:W3CDTF">2026-10-07T16:16:08Z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Widescreen</vt:lpwstr>
  </property>
  <property fmtid="{D5CDD505-2E9C-101B-9397-08002B2CF9AE}" pid="4" name="Slides">
    <vt:i4>22</vt:i4>
  </property>
</Properties>
</file>