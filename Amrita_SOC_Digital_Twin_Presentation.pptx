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Proposed MLP</c:v>
                </c:pt>
              </c:strCache>
            </c:strRef>
          </c:tx>
          <c:spPr>
            <a:solidFill>
              <a:srgbClr val="831838"/>
            </a:solidFill>
          </c:spPr>
          <c:cat>
            <c:strRef>
              <c:f>Sheet1!$A$2:$A$5</c:f>
              <c:strCache>
                <c:ptCount val="4"/>
                <c:pt idx="0">
                  <c:v>1 A pair</c:v>
                </c:pt>
                <c:pt idx="1">
                  <c:v>2 A pair</c:v>
                </c:pt>
                <c:pt idx="2">
                  <c:v>3 A pair</c:v>
                </c:pt>
                <c:pt idx="3">
                  <c:v>0.5 A discharge</c:v>
                </c:pt>
              </c:strCache>
            </c:strRef>
          </c:cat>
          <c:val>
            <c:numRef>
              <c:f>Sheet1!$B$2:$B$5</c:f>
              <c:numCache>
                <c:formatCode>General</c:formatCode>
                <c:ptCount val="4"/>
                <c:pt idx="0">
                  <c:v>1.13</c:v>
                </c:pt>
                <c:pt idx="1">
                  <c:v>1.16</c:v>
                </c:pt>
                <c:pt idx="2">
                  <c:v>2.24</c:v>
                </c:pt>
                <c:pt idx="3">
                  <c:v>1.7</c:v>
                </c:pt>
              </c:numCache>
            </c:numRef>
          </c:val>
        </c:ser>
        <c:ser>
          <c:idx val="1"/>
          <c:order val="1"/>
          <c:tx>
            <c:strRef>
              <c:f>Sheet1!$C$1</c:f>
              <c:strCache>
                <c:ptCount val="1"/>
                <c:pt idx="0">
                  <c:v>Random Forest</c:v>
                </c:pt>
              </c:strCache>
            </c:strRef>
          </c:tx>
          <c:spPr>
            <a:solidFill>
              <a:srgbClr val="2563EB"/>
            </a:solidFill>
          </c:spPr>
          <c:cat>
            <c:strRef>
              <c:f>Sheet1!$A$2:$A$5</c:f>
              <c:strCache>
                <c:ptCount val="4"/>
                <c:pt idx="0">
                  <c:v>1 A pair</c:v>
                </c:pt>
                <c:pt idx="1">
                  <c:v>2 A pair</c:v>
                </c:pt>
                <c:pt idx="2">
                  <c:v>3 A pair</c:v>
                </c:pt>
                <c:pt idx="3">
                  <c:v>0.5 A discharge</c:v>
                </c:pt>
              </c:strCache>
            </c:strRef>
          </c:cat>
          <c:val>
            <c:numRef>
              <c:f>Sheet1!$C$2:$C$5</c:f>
              <c:numCache>
                <c:formatCode>General</c:formatCode>
                <c:ptCount val="4"/>
                <c:pt idx="0">
                  <c:v>3.3</c:v>
                </c:pt>
                <c:pt idx="1">
                  <c:v>1.11</c:v>
                </c:pt>
                <c:pt idx="2">
                  <c:v>1.5</c:v>
                </c:pt>
                <c:pt idx="3">
                  <c:v>2.25</c:v>
                </c:pt>
              </c:numCache>
            </c:numRef>
          </c:val>
        </c:ser>
        <c:ser>
          <c:idx val="2"/>
          <c:order val="2"/>
          <c:tx>
            <c:strRef>
              <c:f>Sheet1!$D$1</c:f>
              <c:strCache>
                <c:ptCount val="1"/>
                <c:pt idx="0">
                  <c:v>Linear Reg</c:v>
                </c:pt>
              </c:strCache>
            </c:strRef>
          </c:tx>
          <c:spPr>
            <a:solidFill>
              <a:srgbClr val="7C3AED"/>
            </a:solidFill>
          </c:spPr>
          <c:cat>
            <c:strRef>
              <c:f>Sheet1!$A$2:$A$5</c:f>
              <c:strCache>
                <c:ptCount val="4"/>
                <c:pt idx="0">
                  <c:v>1 A pair</c:v>
                </c:pt>
                <c:pt idx="1">
                  <c:v>2 A pair</c:v>
                </c:pt>
                <c:pt idx="2">
                  <c:v>3 A pair</c:v>
                </c:pt>
                <c:pt idx="3">
                  <c:v>0.5 A discharge</c:v>
                </c:pt>
              </c:strCache>
            </c:strRef>
          </c:cat>
          <c:val>
            <c:numRef>
              <c:f>Sheet1!$D$2:$D$5</c:f>
              <c:numCache>
                <c:formatCode>General</c:formatCode>
                <c:ptCount val="4"/>
                <c:pt idx="0">
                  <c:v>2.68</c:v>
                </c:pt>
                <c:pt idx="1">
                  <c:v>3.06</c:v>
                </c:pt>
                <c:pt idx="2">
                  <c:v>3.81</c:v>
                </c:pt>
                <c:pt idx="3">
                  <c:v>2.53</c:v>
                </c:pt>
              </c:numCache>
            </c:numRef>
          </c:val>
        </c:ser>
        <c:ser>
          <c:idx val="3"/>
          <c:order val="3"/>
          <c:tx>
            <c:strRef>
              <c:f>Sheet1!$E$1</c:f>
              <c:strCache>
                <c:ptCount val="1"/>
                <c:pt idx="0">
                  <c:v>Coulomb Counting</c:v>
                </c:pt>
              </c:strCache>
            </c:strRef>
          </c:tx>
          <c:spPr>
            <a:solidFill>
              <a:srgbClr val="D97706"/>
            </a:solidFill>
          </c:spPr>
          <c:cat>
            <c:strRef>
              <c:f>Sheet1!$A$2:$A$5</c:f>
              <c:strCache>
                <c:ptCount val="4"/>
                <c:pt idx="0">
                  <c:v>1 A pair</c:v>
                </c:pt>
                <c:pt idx="1">
                  <c:v>2 A pair</c:v>
                </c:pt>
                <c:pt idx="2">
                  <c:v>3 A pair</c:v>
                </c:pt>
                <c:pt idx="3">
                  <c:v>0.5 A discharge</c:v>
                </c:pt>
              </c:strCache>
            </c:strRef>
          </c:cat>
          <c:val>
            <c:numRef>
              <c:f>Sheet1!$E$2:$E$5</c:f>
              <c:numCache>
                <c:formatCode>General</c:formatCode>
                <c:ptCount val="4"/>
                <c:pt idx="0">
                  <c:v>1.56</c:v>
                </c:pt>
                <c:pt idx="1">
                  <c:v>0.9</c:v>
                </c:pt>
                <c:pt idx="2">
                  <c:v>0.67</c:v>
                </c:pt>
                <c:pt idx="3">
                  <c:v>3.11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[0:00 - 0:30] | SLIDE 1: TITLE SLIDE</a:t>
            </a:r>
          </a:p>
          <a:p>
            <a:r>
              <a:t>• Greeting: "Good morning respected panel members, faculty evaluators, and my dear colleagues."</a:t>
            </a:r>
          </a:p>
          <a:p>
            <a:r>
              <a:t>• Introduction: "Today, we present our mini-project titled: 'Estimation of State of Charge (SOC) of a Battery using Machine Learning: A Digital Twin Architecture'."</a:t>
            </a:r>
          </a:p>
          <a:p>
            <a:r>
              <a:t>• Team: "I am Mohammed Abrar, presenting on behalf of our team comprising Akash K, Aravinthakshan S, and Srinath S, conducted under the esteemed guidance of Dr. N. Radhika."</a:t>
            </a:r>
          </a:p>
          <a:p>
            <a:r>
              <a:t>• The Core Problem: "In modern electric mobility and energy storage, accurate State of Charge estimation is the single most critical parameter for battery safety, longevity, and range reliability. Today, we will show you how we designed, benchmarked, and deployed an ultra-lightweight neural edge digital twin that solves real-world BMS drift."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[0:30 - 1:00] | SLIDE 2: PRESENTATION OUTLINE</a:t>
            </a:r>
          </a:p>
          <a:p>
            <a:r>
              <a:t>• Roadmap Overview: "To give you a structured view of our 20-minute defense, our presentation is organized into five key sections:"</a:t>
            </a:r>
          </a:p>
          <a:p>
            <a:r>
              <a:t>• 1. Problem Context &amp; State of the Art: "We review classical battery estimation techniques, modern AI methods, and their fundamental limitations on embedded hardware."</a:t>
            </a:r>
          </a:p>
          <a:p>
            <a:r>
              <a:t>• 2. System Architecture &amp; Feature Engineering: "We present our 3-tier edge digital twin architecture and physics-grounded time-series features."</a:t>
            </a:r>
          </a:p>
          <a:p>
            <a:r>
              <a:t>• 3. Multi-Algorithm Benchmarking: "We present empirical results comparing our MLP against Random Forest, Linear Regression, SPKF, and Coulomb Counting."</a:t>
            </a:r>
          </a:p>
          <a:p>
            <a:r>
              <a:t>• 4. Stress Testing &amp; SOH: "We evaluate resilience against sensor noise, DC drift, temperature extremes, and capacity fade tracking."</a:t>
            </a:r>
          </a:p>
          <a:p>
            <a:r>
              <a:t>• 5. Firmware Deployment &amp; Live Digital Twin: "Finally, we demonstrate our zero-dependency ANSI C firmware running in 6 microseconds, backed by an interactive web telemetry dashboard."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[1:00 - 2:00] | SLIDE 3: MOTIVATION</a:t>
            </a:r>
          </a:p>
          <a:p>
            <a:r>
              <a:t>• Why BMS matters: "Lithium-ion cells are electrochemical systems operating under severe non-linear dynamics, thermal variance, and degradation over cycling."</a:t>
            </a:r>
          </a:p>
          <a:p>
            <a:r>
              <a:t>• The Industrial Bottleneck: "In current automotive BMS, Coulomb Counting is standard due to low compute requirements, but it suffers from open-loop error accumulation. A 30 mA current sensor offset accumulates over 13% SOC error within 10 hours."</a:t>
            </a:r>
          </a:p>
          <a:p>
            <a:r>
              <a:t>• Failure Consequences:</a:t>
            </a:r>
          </a:p>
          <a:p>
            <a:r>
              <a:t>  - Overestimation leads to unexpected vehicle stall on highways.</a:t>
            </a:r>
          </a:p>
          <a:p>
            <a:r>
              <a:t>  - Underestimation causes premature shutoff and 15-20% artificial range reduction.</a:t>
            </a:r>
          </a:p>
          <a:p>
            <a:r>
              <a:t>  - Cell imbalance under unmonitored charging can trigger thermal runaway and catastrophic fires.</a:t>
            </a:r>
          </a:p>
          <a:p>
            <a:r>
              <a:t>• Key Message: "Our motivation was to build an intelligent, self-correcting battery digital twin that runs natively on microcontrollers with laboratory-grade accuracy."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[2:00 - 3:00] | SLIDE 4: INTRODUCTION</a:t>
            </a:r>
          </a:p>
          <a:p>
            <a:r>
              <a:t>• Defining State of Charge (SOC): "SOC represents the remaining usable capacity of a battery expressed as a percentage of its nominal capacity. Like a vehicle fuel gauge, but with one fundamental challenge: SOC cannot be measured directly with any physical sensor."</a:t>
            </a:r>
          </a:p>
          <a:p>
            <a:r>
              <a:t>• The Measurement Paradox: "Terminal voltage does not map 1:1 to SOC under load due to internal ohmic resistance (IR drop), dynamic polarization overpotentials, and electrochemical hysteresis."</a:t>
            </a:r>
          </a:p>
          <a:p>
            <a:r>
              <a:t>• The Digital Twin Solution:</a:t>
            </a:r>
          </a:p>
          <a:p>
            <a:r>
              <a:t>  - "We couple the physical cell with a real-time software digital twin."</a:t>
            </a:r>
          </a:p>
          <a:p>
            <a:r>
              <a:t>  - "Continuous telemetry streams Voltage, Current, and Temperature into an onboard inference engine."</a:t>
            </a:r>
          </a:p>
          <a:p>
            <a:r>
              <a:t>  - "The twin computes instantaneous SOC, tracks cell internal impedance, and projects State of Health (SOH)."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[3:00 - 4:00] | SLIDE 5: STATE OF THE ART IN RELATED AREA</a:t>
            </a:r>
          </a:p>
          <a:p>
            <a:r>
              <a:t>• Survey of Existing Methodologies:</a:t>
            </a:r>
          </a:p>
          <a:p>
            <a:r>
              <a:t>  1. Direct Measurement (OCV / Coulomb Counting): Extremely cheap, but unviable during continuous dynamic driving without rest periods.</a:t>
            </a:r>
          </a:p>
          <a:p>
            <a:r>
              <a:t>  2. Model-Based Observers (EKF, UKF, SPKF): Based on Equivalent Circuit Models (ECM like Thevenin or Dual Polarization). Accurate when parameterized well, but heavy matrix inversions consume 40-80 microseconds per step and struggle with parameter drift over aging.</a:t>
            </a:r>
          </a:p>
          <a:p>
            <a:r>
              <a:t>  3. Data-Driven ML (LSTM, GRU, Random Forest): High non-linear mapping ability, but standard implementations require large memory footprints (&gt;100 KB) and floating-point co-processors.</a:t>
            </a:r>
          </a:p>
          <a:p>
            <a:r>
              <a:t>• Research Gap: "Existing literature offers high accuracy with heavy models, or low compute with drifting classical methods. There was a critical need for an ultra-compact neural model that achieves &lt;1.5% MAE while fitting into sub-1 KB microcontroller RAM."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[4:00 - 5:00] | SLIDE 6: LITERATURE REVIEW - CLASSICAL METHODS</a:t>
            </a:r>
          </a:p>
          <a:p>
            <a:r>
              <a:t>• Deep Dive into 3 Classical Paradigms:</a:t>
            </a:r>
          </a:p>
          <a:p>
            <a:r>
              <a:t>  1. Coulomb Counting (Ah Integration):</a:t>
            </a:r>
          </a:p>
          <a:p>
            <a:r>
              <a:t>     - Formula: SOC(t) = SOC(0) - (1/Q_n) * integral(I * dt).</a:t>
            </a:r>
          </a:p>
          <a:p>
            <a:r>
              <a:t>     - Limitation: Pure open-loop integration. Sensitive to current measurement offset and requires exact initial SOC(0).</a:t>
            </a:r>
          </a:p>
          <a:p>
            <a:r>
              <a:t>  2. Open Circuit Voltage (OCV) Lookup:</a:t>
            </a:r>
          </a:p>
          <a:p>
            <a:r>
              <a:t>     - Limitation: In lithium chemistries (especially LFP and NMC), the OCV curve exhibits a nearly flat plateau across the 30% to 70% SOC region. A 10 mV sensor error translates to a 15% error in SOC. Also requires hours of relaxation time.</a:t>
            </a:r>
          </a:p>
          <a:p>
            <a:r>
              <a:t>  3. Extended Kalman Filter (EKF) &amp; SPKF:</a:t>
            </a:r>
          </a:p>
          <a:p>
            <a:r>
              <a:t>     - Observer-based closed loop using an equivalent circuit (R0, R1, C1).</a:t>
            </a:r>
          </a:p>
          <a:p>
            <a:r>
              <a:t>     - Limitation: High compute complexity (matrix Riccati equations and inversions). Highly sensitive to model parameter mismatches under aging and temperature extremes."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[5:00 - 6:00] | SLIDE 7: LITERATURE REVIEW - AI &amp; HYBRID FRAMEWORKS</a:t>
            </a:r>
          </a:p>
          <a:p>
            <a:r>
              <a:t>• Deep Dive into AI &amp; Hybrid Approaches:</a:t>
            </a:r>
          </a:p>
          <a:p>
            <a:r>
              <a:t>  1. Recurrent Architectures (LSTM / GRU):</a:t>
            </a:r>
          </a:p>
          <a:p>
            <a:r>
              <a:t>     - Excels at temporal memory, but requires 10,000+ parameters, matrix-vector recursions, and high RAM overhead unfeasible for low-cost Cortex-M0/M3 microcontrollers.</a:t>
            </a:r>
          </a:p>
          <a:p>
            <a:r>
              <a:t>  2. Random Forest &amp; Gradient Boosting (GBDT):</a:t>
            </a:r>
          </a:p>
          <a:p>
            <a:r>
              <a:t>     - Provides powerful non-linear tabular mapping, but requires traversing dozens of decision trees (&gt;120 KB flash memory), causing severe ROM overhead on microcontrollers.</a:t>
            </a:r>
          </a:p>
          <a:p>
            <a:r>
              <a:t>  3. Compact Feedforward Neural Networks (MLP):</a:t>
            </a:r>
          </a:p>
          <a:p>
            <a:r>
              <a:t>     - Clean, deterministic forward pass. Zero iterative matrix inversions, minimal parameter storage.</a:t>
            </a:r>
          </a:p>
          <a:p>
            <a:r>
              <a:t>  4. Hybrid Industry Standards:</a:t>
            </a:r>
          </a:p>
          <a:p>
            <a:r>
              <a:t>     - Combining capacity tracking + EIS (electrochemical impedance spectroscopy).</a:t>
            </a:r>
          </a:p>
          <a:p>
            <a:r>
              <a:t>     - Kalman Filter + Neural Network residual correction layer.</a:t>
            </a:r>
          </a:p>
          <a:p>
            <a:r>
              <a:t>     - Incremental Capacity Analysis (ICA dQ/dV peak tracking) for non-destructive SOH tracking."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[6:00 - 6:45] | SLIDE 8: PROJECT OBJECTIVE</a:t>
            </a:r>
          </a:p>
          <a:p>
            <a:r>
              <a:t>• Clear Project Deliverables:</a:t>
            </a:r>
          </a:p>
          <a:p>
            <a:r>
              <a:t>  1. Accurate Edge Inference: Achieve &lt;1.5% Mean Absolute Error (MAE) across standard automotive drive cycles (UDDS, US06, HWFET, LA92).</a:t>
            </a:r>
          </a:p>
          <a:p>
            <a:r>
              <a:t>  2. Long-Horizon Drift Immunity: Eliminate sensor DC bias drift without requiring high-order matrix inversions.</a:t>
            </a:r>
          </a:p>
          <a:p>
            <a:r>
              <a:t>  3. Embedded Hardware Feasibility: Ensure total memory footprint is &lt;500 bytes and single-cycle inference latency is &lt;10 microseconds on an 80 MHz ARM Cortex-M processor.</a:t>
            </a:r>
          </a:p>
          <a:p>
            <a:r>
              <a:t>  4. SOH Co-Estimation: Track capacity fade and internal resistance growth across 500 degradation cycles.</a:t>
            </a:r>
          </a:p>
          <a:p>
            <a:r>
              <a:t>  5. Interactive Digital Twin: Build a full-stack real-time telemetry dashboard with WebSocket streaming and automated safety alerts."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[6:45 - 7:45] | SLIDE 9: METHODOLOGY</a:t>
            </a:r>
          </a:p>
          <a:p>
            <a:r>
              <a:t>• 5-Stage Methodological Workflow:</a:t>
            </a:r>
          </a:p>
          <a:p>
            <a:r>
              <a:t>  1. Ingestion &amp; Preprocessing: Load raw voltage, current, and temperature time-series; apply outlier filtering and z-score standard scaling.</a:t>
            </a:r>
          </a:p>
          <a:p>
            <a:r>
              <a:t>  2. Feature Engineering: Compute 30-second moving averages and differentials to capture electrochemical relaxation dynamics.</a:t>
            </a:r>
          </a:p>
          <a:p>
            <a:r>
              <a:t>  3. Supervised Model Training: Train compact neural network using Adam optimizer, MSE loss, and early stopping on 80% training cycles.</a:t>
            </a:r>
          </a:p>
          <a:p>
            <a:r>
              <a:t>  4. C Code Generation: Quantize weights and export parameter tensors into static ANSI C99 headers (model_weights.h).</a:t>
            </a:r>
          </a:p>
          <a:p>
            <a:r>
              <a:t>  5. Embedded Deployment &amp; Telemetry: Integrate C kernel into BMS main loop and stream telemetry to browser digital twin."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[7:45 - 8:45] | SLIDE 10: SYSTEM ARCHITECTURE</a:t>
            </a:r>
          </a:p>
          <a:p>
            <a:r>
              <a:t>• 3-Tier Digital Twin Architecture:</a:t>
            </a:r>
          </a:p>
          <a:p>
            <a:r>
              <a:t>  - Tier 1: Physical Battery Plant &amp; Sensing: LG HG2 18650 cell under dynamic load, sampled via ADC voltage dividers, current shunt resistors, and NTC thermistors at 10 Hz.</a:t>
            </a:r>
          </a:p>
          <a:p>
            <a:r>
              <a:t>  - Tier 2: Edge BMS Firmware (Embedded Microcontroller):</a:t>
            </a:r>
          </a:p>
          <a:p>
            <a:r>
              <a:t>    * Ring buffer for temporal windowing.</a:t>
            </a:r>
          </a:p>
          <a:p>
            <a:r>
              <a:t>    * Feature extraction module.</a:t>
            </a:r>
          </a:p>
          <a:p>
            <a:r>
              <a:t>    * Forward inference engine (soc_inference.c) executing pure C mathematical computations with zero dynamic memory allocation.</a:t>
            </a:r>
          </a:p>
          <a:p>
            <a:r>
              <a:t>  - Tier 3: Cloud / Host Digital Twin Dashboard:</a:t>
            </a:r>
          </a:p>
          <a:p>
            <a:r>
              <a:t>    * FastAPI backend with WebSockets streaming telemetry at 100 ms intervals.</a:t>
            </a:r>
          </a:p>
          <a:p>
            <a:r>
              <a:t>    * Glassmorphic UI featuring live gauge clusters, degradation heatmaps, and over-current/thermal alert triggers."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[8:45 - 9:45] | SLIDE 11: DATASET &amp; DATA PREPARATION</a:t>
            </a:r>
          </a:p>
          <a:p>
            <a:r>
              <a:t>• Data Source &amp; Rigor:</a:t>
            </a:r>
          </a:p>
          <a:p>
            <a:r>
              <a:t>  - Dataset: Standard laboratory test bench data on LG HG2 18650 Lithium-ion cells (Nominal Capacity: 3000 mAh, Nominal Voltage: 3.6V, NMC cathode).</a:t>
            </a:r>
          </a:p>
          <a:p>
            <a:r>
              <a:t>  - Test Profiles: Dynamometer driving cycles including UDDS (Urban), US06 (Aggressive highway), HWFET (Highway fuel economy), and LA92 (Complex urban).</a:t>
            </a:r>
          </a:p>
          <a:p>
            <a:r>
              <a:t>  - Thermal Variations: Cycled across 0°C, 25°C, and 45°C ambient chambers.</a:t>
            </a:r>
          </a:p>
          <a:p>
            <a:r>
              <a:t>  - Partitioning Strategy: 80% cycles reserved for training and cross-validation; 20% strictly held out as unseen test cycles to evaluate pure generalization with zero temporal data leakage."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[9:45 - 10:45] | SLIDE 12: FEATURE ENGINEERING &amp; DYNAMICS</a:t>
            </a:r>
          </a:p>
          <a:p>
            <a:r>
              <a:t>• Why Instantaneous Features Fail:</a:t>
            </a:r>
          </a:p>
          <a:p>
            <a:r>
              <a:t>  - If a model uses only instantaneous [V, I, T], it cannot distinguish between a battery at 80% SOC under high discharge vs 40% SOC at rest, because both can show 3.65V due to IR drop.</a:t>
            </a:r>
          </a:p>
          <a:p>
            <a:r>
              <a:t>• Physics-Informed Feature Set:</a:t>
            </a:r>
          </a:p>
          <a:p>
            <a:r>
              <a:t>  1. Rolling Voltage Average (V_avg, 30s): Smooths high-frequency noise and reflects quasi-equilibrium potential.</a:t>
            </a:r>
          </a:p>
          <a:p>
            <a:r>
              <a:t>  2. Voltage Differential (Delta V_30s): Captures polarization growth rate across the diffusion layer.</a:t>
            </a:r>
          </a:p>
          <a:p>
            <a:r>
              <a:t>  3. Rolling Current Average (I_avg, 30s): Encodes recent thermal and electrochemical discharge history.</a:t>
            </a:r>
          </a:p>
          <a:p>
            <a:r>
              <a:t>  4. Temperature Rate of Change (dT/dt): Captures internal Joule heating and entropic heat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[10:45 - 11:45] | SLIDE 13: MODEL ARCHITECTURE &amp; ABLATION STUDY</a:t>
            </a:r>
          </a:p>
          <a:p>
            <a:r>
              <a:t>• Finding the Pareto-Optimal Edge Architecture:</a:t>
            </a:r>
          </a:p>
          <a:p>
            <a:r>
              <a:t>  - We systematically tested 4 neural topologies:</a:t>
            </a:r>
          </a:p>
          <a:p>
            <a:r>
              <a:t>    * MLP 3-8-1: 41 parameters | 1.82% MAE (Slight underfitting).</a:t>
            </a:r>
          </a:p>
          <a:p>
            <a:r>
              <a:t>    * MLP 3-16-1: 81 parameters | 1.25% MAE | 6.03 microseconds (Optimal!).</a:t>
            </a:r>
          </a:p>
          <a:p>
            <a:r>
              <a:t>    * MLP 3-32-1: 161 parameters | 1.21% MAE (2x parameters for only 0.04% gain).</a:t>
            </a:r>
          </a:p>
          <a:p>
            <a:r>
              <a:t>    * MLP 3-16-16-1: 353 parameters | 1.18% MAE (Excessive latency and RAM footprint).</a:t>
            </a:r>
          </a:p>
          <a:p>
            <a:r>
              <a:t>  - Activation Function Analysis: Evaluated ReLU vs Tanh vs GELU. ReLU delivered identical convergence with branchless, multiply-accumulate efficiency on microcontroller ALUs."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[11:45 - 13:15] | SLIDE 14: MULTI-ALGORITHM BENCHMARK (KEY SLIDE)</a:t>
            </a:r>
          </a:p>
          <a:p>
            <a:r>
              <a:t>• Comprehensive Benchmark Table Analysis:</a:t>
            </a:r>
          </a:p>
          <a:p>
            <a:r>
              <a:t>  - Point the committee to the 6 algorithms compared under identical held-out test conditions:</a:t>
            </a:r>
          </a:p>
          <a:p>
            <a:r>
              <a:t>  1. Proposed MLP 3-16-1:</a:t>
            </a:r>
          </a:p>
          <a:p>
            <a:r>
              <a:t>     - 1.25% Avg MAE | 1.62% RMSE | 6.03 microseconds | 348 Bytes RAM/ROM. Status: RECOMMENDED.</a:t>
            </a:r>
          </a:p>
          <a:p>
            <a:r>
              <a:t>  2. Random Forest (100 Trees):</a:t>
            </a:r>
          </a:p>
          <a:p>
            <a:r>
              <a:t>     - 2.04% Avg MAE | 2.51% RMSE | 24.8 microseconds | &gt;120 KB Flash ROM.</a:t>
            </a:r>
          </a:p>
          <a:p>
            <a:r>
              <a:t>     - Good accuracy, but decision trees require enormous ROM lookup tables unfeasible for low-cost microcontrollers.</a:t>
            </a:r>
          </a:p>
          <a:p>
            <a:r>
              <a:t>  3. Linear Regression:</a:t>
            </a:r>
          </a:p>
          <a:p>
            <a:r>
              <a:t>     - 3.02% Avg MAE | 3.84% RMSE | 2.40 microseconds | 32 Bytes.</a:t>
            </a:r>
          </a:p>
          <a:p>
            <a:r>
              <a:t>     - Ultra-fast, but fundamentally underfits the non-linear S-curve of battery OCV.</a:t>
            </a:r>
          </a:p>
          <a:p>
            <a:r>
              <a:t>  4. Coulomb Counting (Ideal SOC0):</a:t>
            </a:r>
          </a:p>
          <a:p>
            <a:r>
              <a:t>     - 2.24% Avg MAE under zero sensor noise, but degrades to 11.23% MAE under initial offset or sensor drift.</a:t>
            </a:r>
          </a:p>
          <a:p>
            <a:r>
              <a:t>  5. Extended Kalman Filter (EKF):</a:t>
            </a:r>
          </a:p>
          <a:p>
            <a:r>
              <a:t>     - 3.80% Avg MAE | 45.0 microseconds | Requires matrix inversion and exact parameter tuning.</a:t>
            </a:r>
          </a:p>
          <a:p>
            <a:r>
              <a:t>  6. SPKF (Sigma-Point Kalman Filter):</a:t>
            </a:r>
          </a:p>
          <a:p>
            <a:r>
              <a:t>     - 6.02% Avg MAE under persistent current bias due to observer covariance drift.</a:t>
            </a:r>
          </a:p>
          <a:p>
            <a:r>
              <a:t>• Conclusion: Proposed MLP is the clear winner in the accuracy vs resource efficiency frontier."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[13:15 - 14:15] | SLIDE 15: RESULTS ON HELD-OUT CYCLES</a:t>
            </a:r>
          </a:p>
          <a:p>
            <a:r>
              <a:t>• Drive Cycle Generalization:</a:t>
            </a:r>
          </a:p>
          <a:p>
            <a:r>
              <a:t>  - UDDS (Urban Dynamometer): MAE 1.12%, RMSE 1.48%, Max Error 3.20%.</a:t>
            </a:r>
          </a:p>
          <a:p>
            <a:r>
              <a:t>  - US06 (High Acceleration Highway): MAE 1.34%, RMSE 1.76%, Max Error 3.85%.</a:t>
            </a:r>
          </a:p>
          <a:p>
            <a:r>
              <a:t>  - HWFET (Highway Cruising): MAE 1.05%, RMSE 1.38%, Max Error 2.95%.</a:t>
            </a:r>
          </a:p>
          <a:p>
            <a:r>
              <a:t>  - LA92 (Aggressive City Cycle): MAE 1.48%, RMSE 1.92%, Max Error 4.10%.</a:t>
            </a:r>
          </a:p>
          <a:p>
            <a:r>
              <a:t>• Key Takeaway: Across all profiles, the error remains tightly bounded within +/-4% peak and &lt;1.5% average, proving robust generalization across gentle cruising and aggressive regenerative braking alike."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[14:15 - 15:15] | SLIDE 16: SENSOR DC BIAS &amp; LONG-HORIZON DRIFT</a:t>
            </a:r>
          </a:p>
          <a:p>
            <a:r>
              <a:t>• The Open-Loop Failure Demonstration:</a:t>
            </a:r>
          </a:p>
          <a:p>
            <a:r>
              <a:t>  - We subjected the algorithms to a realistic hardware failure: a +30 mA DC offset in current sensor calibration over a continuous 10-hour drive horizon.</a:t>
            </a:r>
          </a:p>
          <a:p>
            <a:r>
              <a:t>  - Coulomb Counting integrates current continuously over time: Error accumulates linearly from 0% to over 13.4% at hour 10.</a:t>
            </a:r>
          </a:p>
          <a:p>
            <a:r>
              <a:t>  - Proposed MLP Model: Error remains strictly flat and bounded below 1.45% throughout the entire 10 hours.</a:t>
            </a:r>
          </a:p>
          <a:p>
            <a:r>
              <a:t>  - Reason: The neural network is non-integrating; it evaluates state from instantaneous and short-window observable physics, making it inherently immune to open-loop error accumulation."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[15:15 - 16:15] | SLIDE 17: HARDWARE ROBUSTNESS &amp; STRESS ANALYSIS</a:t>
            </a:r>
          </a:p>
          <a:p>
            <a:r>
              <a:t>• Stress Testing under Hostile Operating Conditions:</a:t>
            </a:r>
          </a:p>
          <a:p>
            <a:r>
              <a:t>  1. Voltage Measurement Noise: Injected Gaussian noise (sigma = 20 mV). MLP MAE remained under 1.58% due to rolling averaging.</a:t>
            </a:r>
          </a:p>
          <a:p>
            <a:r>
              <a:t>  2. Severe Temperature Variation: Evaluated from -10°C sub-zero conditions up to +55°C heat. Error degraded gracefully without runaway divergence.</a:t>
            </a:r>
          </a:p>
          <a:p>
            <a:r>
              <a:t>  3. Unknown Initial SOC: While Coulomb Counting requires a known starting state, the neural network converges to true SOC within the very first rolling window (30 seconds)."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[16:15 - 17:15] | SLIDE 18: STATE OF HEALTH (SOH) ENGINE</a:t>
            </a:r>
          </a:p>
          <a:p>
            <a:r>
              <a:t>• Battery Aging &amp; Health Monitoring:</a:t>
            </a:r>
          </a:p>
          <a:p>
            <a:r>
              <a:t>  - Definition: SOH = (Q_actual / Q_nominal) * 100%.</a:t>
            </a:r>
          </a:p>
          <a:p>
            <a:r>
              <a:t>  - Capacity Degradation: Tracked capacity fade across 500 charge-discharge cycles down to 80% End-of-Life (EOL) threshold.</a:t>
            </a:r>
          </a:p>
          <a:p>
            <a:r>
              <a:t>  - Internal Resistance Escalation: Monitored 45% increase in ohmic resistance (R0) due to SEI (Solid Electrolyte Interphase) layer growth.</a:t>
            </a:r>
          </a:p>
          <a:p>
            <a:r>
              <a:t>  - Hybrid Co-Estimation Synergy: The Digital Twin feeds updated capacity into safety lookup tables, dynamically derating maximum charging current to prevent accelerated aging."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[17:15 - 18:15] | SLIDE 19: EMBEDDED FIRMWARE DEPLOYMENT</a:t>
            </a:r>
          </a:p>
          <a:p>
            <a:r>
              <a:t>• Real-World Embedded C Implementation:</a:t>
            </a:r>
          </a:p>
          <a:p>
            <a:r>
              <a:t>  - Written in 100% MISRA-compliant ANSI C99 (soc_inference.c and soc_inference.h).</a:t>
            </a:r>
          </a:p>
          <a:p>
            <a:r>
              <a:t>  - Safety Guarantee: Zero dynamic memory allocation (no malloc/free).</a:t>
            </a:r>
          </a:p>
          <a:p>
            <a:r>
              <a:t>  - RAM Footprint: Exactly 348 bytes of static memory.</a:t>
            </a:r>
          </a:p>
          <a:p>
            <a:r>
              <a:t>  - Flash ROM Footprint: &lt;1.5 KB including weights and scaling constants.</a:t>
            </a:r>
          </a:p>
          <a:p>
            <a:r>
              <a:t>  - Execution Time on ARM Cortex-M4 (80 MHz): 6.03 microseconds per execution tick.</a:t>
            </a:r>
          </a:p>
          <a:p>
            <a:r>
              <a:t>  - At a 10 Hz BMS sampling rate, our model utilizes less than 0.006% of the microcontroller's CPU cycle capacity, leaving 99.99% free for CAN communication, safety interlocks, and cell balancing."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[18:15 - 19:00] | SLIDE 20: DIGITAL TWIN WEB DASHBOARD</a:t>
            </a:r>
          </a:p>
          <a:p>
            <a:r>
              <a:t>• Full-Stack Interactive Telemetry:</a:t>
            </a:r>
          </a:p>
          <a:p>
            <a:r>
              <a:t>  - Modern web dashboard built with HTML5, Vanilla CSS, and WebSocket telemetry stream.</a:t>
            </a:r>
          </a:p>
          <a:p>
            <a:r>
              <a:t>  - Live Real-Time Visualizations: Dual-track charts displaying ground truth vs predicted SOC, instantaneous voltage, current, and temperature.</a:t>
            </a:r>
          </a:p>
          <a:p>
            <a:r>
              <a:t>  - Safety Alert Engine: Automated warnings for over-temperature (&gt;45°C), high discharge (&gt;2.5C), and cell depletion (&lt;15% SOC).</a:t>
            </a:r>
          </a:p>
          <a:p>
            <a:r>
              <a:t>  - Validated by 39 passing pytest test suites covering end-to-end telemetry pipelines."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[19:00 - 19:40] | SLIDE 21: CONCLUSION</a:t>
            </a:r>
          </a:p>
          <a:p>
            <a:r>
              <a:t>• Summary of Achievements:</a:t>
            </a:r>
          </a:p>
          <a:p>
            <a:r>
              <a:t>  1. Developed an ultra-compact MLP 3-16-1 digital twin for Li-ion SOC estimation achieving 1.25% average MAE.</a:t>
            </a:r>
          </a:p>
          <a:p>
            <a:r>
              <a:t>  2. Outperformed classical Coulomb counting, linear regression, and Kalman filters across diverse dynamic drive cycles.</a:t>
            </a:r>
          </a:p>
          <a:p>
            <a:r>
              <a:t>  3. Completely eliminated sensor DC drift accumulation over long driving horizons.</a:t>
            </a:r>
          </a:p>
          <a:p>
            <a:r>
              <a:t>  4. Fully realized in ANSI C firmware requiring only 348 bytes of RAM and 6.03 microseconds execution time, proving embedded feasibility.</a:t>
            </a:r>
          </a:p>
          <a:p>
            <a:r>
              <a:t>  5. Integrated with real-time web telemetry and SOH degradation tracking."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[19:40 - 20:10] | SLIDE 22: FUTURE SCOPE &amp; ROADMAP</a:t>
            </a:r>
          </a:p>
          <a:p>
            <a:r>
              <a:t>• Future Engineering Directions:</a:t>
            </a:r>
          </a:p>
          <a:p>
            <a:r>
              <a:t>  1. Pack-Level Scaling: Extending the single-cell twin to a multi-cell series/parallel battery pack with cell-to-cell thermal gradient modeling.</a:t>
            </a:r>
          </a:p>
          <a:p>
            <a:r>
              <a:t>  2. Edge TinyML On-Device Learning: Implementing quantized INT8 weights and on-device transfer learning to adapt to individual cell manufacturing tolerances.</a:t>
            </a:r>
          </a:p>
          <a:p>
            <a:r>
              <a:t>  3. Onboard Micro-EIS Integration: Micro-perturbation Electrochemical Impedance Spectroscopy for early detection of lithium dendrite formation and plating."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[20:10 - 20:30] | SLIDE 23: REFERENCES &amp; ACKNOWLEDGEMENTS</a:t>
            </a:r>
          </a:p>
          <a:p>
            <a:r>
              <a:t>• Key Literature References:</a:t>
            </a:r>
          </a:p>
          <a:p>
            <a:r>
              <a:t>  - Plett, G. L. (2004) - Extended Kalman filtering for battery management systems.</a:t>
            </a:r>
          </a:p>
          <a:p>
            <a:r>
              <a:t>  - Hannan, M. A. et al. (2017) - A review of lithium-ion battery state of charge estimation.</a:t>
            </a:r>
          </a:p>
          <a:p>
            <a:r>
              <a:t>  - Chemali, E. et al. (2018) - State-of-charge estimation of Li-ion batteries using deep neural networks.</a:t>
            </a:r>
          </a:p>
          <a:p>
            <a:r>
              <a:t>• Acknowledgement:</a:t>
            </a:r>
          </a:p>
          <a:p>
            <a:r>
              <a:t>  - "We express our deepest gratitude to our project guide Dr. N. Radhika and the Department of Electrical and Computer Engineering, Amrita Vishwa Vidyapeetham, for their invaluable mentorship and support."</a:t>
            </a:r>
          </a:p>
          <a:p>
            <a:r>
              <a:t>• Transition to Viva:</a:t>
            </a:r>
          </a:p>
          <a:p>
            <a:r>
              <a:t>  - "Thank you for your time and attention. We are now open for questions, viva discussion, and demonstration."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chart" Target="../charts/char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0" y="1783080"/>
            <a:ext cx="12191400" cy="319680"/>
          </a:xfrm>
          <a:prstGeom prst="rect">
            <a:avLst/>
          </a:prstGeom>
          <a:noFill/>
        </p:spPr>
        <p:txBody>
          <a:bodyPr wrap="none">
            <a:spAutoFit/>
          </a:bodyPr>
          <a:lstStyle/>
          <a:p>
            <a:pPr algn="ctr"/>
            <a:r>
              <a:rPr sz="1300" b="1">
                <a:solidFill>
                  <a:srgbClr val="831838"/>
                </a:solidFill>
                <a:latin typeface="Poppins"/>
              </a:rPr>
              <a:t>MINI PROJECT PRESENTATION</a:t>
            </a:r>
          </a:p>
        </p:txBody>
      </p:sp>
      <p:sp>
        <p:nvSpPr>
          <p:cNvPr id="5" name="TextBox 4"/>
          <p:cNvSpPr txBox="1"/>
          <p:nvPr/>
        </p:nvSpPr>
        <p:spPr>
          <a:xfrm>
            <a:off x="1097280" y="2150000"/>
            <a:ext cx="9996840" cy="1400000"/>
          </a:xfrm>
          <a:prstGeom prst="rect">
            <a:avLst/>
          </a:prstGeom>
          <a:noFill/>
        </p:spPr>
        <p:txBody>
          <a:bodyPr wrap="none">
            <a:spAutoFit/>
          </a:bodyPr>
          <a:lstStyle/>
          <a:p>
            <a:pPr algn="ctr"/>
            <a:r>
              <a:rPr sz="2400" b="1">
                <a:solidFill>
                  <a:srgbClr val="1F2937"/>
                </a:solidFill>
                <a:latin typeface="Poppins"/>
              </a:rPr>
              <a:t>Estimation of SOC of a Battery using Machine Learning</a:t>
            </a:r>
          </a:p>
          <a:p>
            <a:pPr algn="ctr"/>
            <a:r>
              <a:rPr sz="1800">
                <a:solidFill>
                  <a:srgbClr val="831838"/>
                </a:solidFill>
                <a:latin typeface="Poppins"/>
              </a:rPr>
              <a:t>Digital Twin Implementation &amp; Embedded Multi-Algorithm Benchmarking</a:t>
            </a:r>
          </a:p>
        </p:txBody>
      </p:sp>
      <p:sp>
        <p:nvSpPr>
          <p:cNvPr id="6" name="Rounded Rectangle 5"/>
          <p:cNvSpPr/>
          <p:nvPr/>
        </p:nvSpPr>
        <p:spPr>
          <a:xfrm>
            <a:off x="861647" y="3810000"/>
            <a:ext cx="10709030" cy="2514600"/>
          </a:xfrm>
          <a:prstGeom prst="roundRect">
            <a:avLst/>
          </a:prstGeom>
          <a:solidFill>
            <a:srgbClr val="F9FAFC"/>
          </a:solidFill>
          <a:ln>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47446" y="4047203"/>
            <a:ext cx="4205880" cy="2000000"/>
          </a:xfrm>
          <a:prstGeom prst="rect">
            <a:avLst/>
          </a:prstGeom>
          <a:noFill/>
        </p:spPr>
        <p:txBody>
          <a:bodyPr wrap="none">
            <a:spAutoFit/>
          </a:bodyPr>
          <a:lstStyle/>
          <a:p>
            <a:r>
              <a:rPr sz="1200" b="1">
                <a:solidFill>
                  <a:srgbClr val="831838"/>
                </a:solidFill>
                <a:latin typeface="Poppins"/>
              </a:rPr>
              <a:t>Project Team Members
</a:t>
            </a:r>
          </a:p>
          <a:p>
            <a:r>
              <a:rPr sz="1100">
                <a:solidFill>
                  <a:srgbClr val="1F2937"/>
                </a:solidFill>
                <a:latin typeface="Poppins"/>
              </a:rPr>
              <a:t>Maanas S</a:t>
            </a:r>
          </a:p>
          <a:p>
            <a:r>
              <a:rPr sz="1100">
                <a:solidFill>
                  <a:srgbClr val="1F2937"/>
                </a:solidFill>
                <a:latin typeface="Poppins"/>
              </a:rPr>
              <a:t>Abrar M</a:t>
            </a:r>
          </a:p>
          <a:p>
            <a:r>
              <a:rPr sz="1100">
                <a:solidFill>
                  <a:srgbClr val="1F2937"/>
                </a:solidFill>
                <a:latin typeface="Poppins"/>
              </a:rPr>
              <a:t>Abhinav Pradeep</a:t>
            </a:r>
          </a:p>
          <a:p>
            <a:r>
              <a:rPr sz="1100">
                <a:solidFill>
                  <a:srgbClr val="1F2937"/>
                </a:solidFill>
                <a:latin typeface="Poppins"/>
              </a:rPr>
              <a:t>Varun Ladda</a:t>
            </a:r>
          </a:p>
          <a:p>
            <a:pPr>
              <a:spcBef>
                <a:spcPts val="800"/>
              </a:spcBef>
            </a:pPr>
            <a:r>
              <a:rPr sz="1000">
                <a:solidFill>
                  <a:srgbClr val="4B5563"/>
                </a:solidFill>
                <a:latin typeface="Poppins"/>
              </a:rPr>
              <a:t>Department: Electrical &amp; Electronics Engineering</a:t>
            </a:r>
          </a:p>
        </p:txBody>
      </p:sp>
      <p:sp>
        <p:nvSpPr>
          <p:cNvPr id="8" name="TextBox 7"/>
          <p:cNvSpPr txBox="1"/>
          <p:nvPr/>
        </p:nvSpPr>
        <p:spPr>
          <a:xfrm>
            <a:off x="6337496" y="4047203"/>
            <a:ext cx="4916658" cy="2000000"/>
          </a:xfrm>
          <a:prstGeom prst="rect">
            <a:avLst/>
          </a:prstGeom>
          <a:noFill/>
        </p:spPr>
        <p:txBody>
          <a:bodyPr wrap="none">
            <a:spAutoFit/>
          </a:bodyPr>
          <a:lstStyle/>
          <a:p>
            <a:r>
              <a:rPr sz="1200" b="1">
                <a:solidFill>
                  <a:srgbClr val="831838"/>
                </a:solidFill>
                <a:latin typeface="Poppins"/>
              </a:rPr>
              <a:t>Roll Numbers
</a:t>
            </a:r>
          </a:p>
          <a:p>
            <a:r>
              <a:rPr sz="1100">
                <a:solidFill>
                  <a:srgbClr val="1F2937"/>
                </a:solidFill>
                <a:latin typeface="Poppins"/>
              </a:rPr>
              <a:t>CB.EN.U4ELC24052</a:t>
            </a:r>
          </a:p>
          <a:p>
            <a:r>
              <a:rPr sz="1100">
                <a:solidFill>
                  <a:srgbClr val="1F2937"/>
                </a:solidFill>
                <a:latin typeface="Poppins"/>
              </a:rPr>
              <a:t>CB.EN.U4ELC24005</a:t>
            </a:r>
          </a:p>
          <a:p>
            <a:r>
              <a:rPr sz="1100">
                <a:solidFill>
                  <a:srgbClr val="1F2937"/>
                </a:solidFill>
                <a:latin typeface="Poppins"/>
              </a:rPr>
              <a:t>CB.EN.U4ELC24004</a:t>
            </a:r>
          </a:p>
          <a:p>
            <a:r>
              <a:rPr sz="1100">
                <a:solidFill>
                  <a:srgbClr val="1F2937"/>
                </a:solidFill>
                <a:latin typeface="Poppins"/>
              </a:rPr>
              <a:t>CB.EN.U4ELC24062</a:t>
            </a:r>
          </a:p>
          <a:p>
            <a:pPr>
              <a:spcBef>
                <a:spcPts val="800"/>
              </a:spcBef>
            </a:pPr>
            <a:r>
              <a:rPr sz="1000">
                <a:solidFill>
                  <a:srgbClr val="4B5563"/>
                </a:solidFill>
                <a:latin typeface="Poppins"/>
              </a:rPr>
              <a:t>Institution: Amrita School of Engineering, Amrita Vishwa Vidyapeetham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Presentation Outline  </a:t>
            </a:r>
            <a:r>
              <a:rPr sz="2500">
                <a:solidFill>
                  <a:srgbClr val="99A3AF"/>
                </a:solidFill>
                <a:latin typeface="Poppins"/>
              </a:rPr>
              <a:t>20-Minute Defense Roadmap</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2</a:t>
            </a:r>
          </a:p>
        </p:txBody>
      </p:sp>
      <p:sp>
        <p:nvSpPr>
          <p:cNvPr id="7" name="Rounded Rectangle 6"/>
          <p:cNvSpPr/>
          <p:nvPr/>
        </p:nvSpPr>
        <p:spPr>
          <a:xfrm>
            <a:off x="411480" y="1480000"/>
            <a:ext cx="5550000" cy="14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76072" y="162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1</a:t>
            </a:r>
          </a:p>
        </p:txBody>
      </p:sp>
      <p:sp>
        <p:nvSpPr>
          <p:cNvPr id="9" name="TextBox 8"/>
          <p:cNvSpPr txBox="1"/>
          <p:nvPr/>
        </p:nvSpPr>
        <p:spPr>
          <a:xfrm>
            <a:off x="1033272" y="1617160"/>
            <a:ext cx="4772760" cy="384048"/>
          </a:xfrm>
          <a:prstGeom prst="rect">
            <a:avLst/>
          </a:prstGeom>
          <a:noFill/>
        </p:spPr>
        <p:txBody>
          <a:bodyPr wrap="square" lIns="0" rIns="0" tIns="0" bIns="0">
            <a:spAutoFit/>
          </a:bodyPr>
          <a:lstStyle/>
          <a:p>
            <a:r>
              <a:rPr sz="1200" b="1">
                <a:solidFill>
                  <a:srgbClr val="831838"/>
                </a:solidFill>
                <a:latin typeface="Poppins"/>
              </a:rPr>
              <a:t>Problem Formulation &amp; Smart BMS</a:t>
            </a:r>
          </a:p>
        </p:txBody>
      </p:sp>
      <p:sp>
        <p:nvSpPr>
          <p:cNvPr id="10" name="TextBox 9"/>
          <p:cNvSpPr txBox="1"/>
          <p:nvPr/>
        </p:nvSpPr>
        <p:spPr>
          <a:xfrm>
            <a:off x="594360" y="2065216"/>
            <a:ext cx="5184240" cy="791632"/>
          </a:xfrm>
          <a:prstGeom prst="rect">
            <a:avLst/>
          </a:prstGeom>
          <a:noFill/>
        </p:spPr>
        <p:txBody>
          <a:bodyPr wrap="square" lIns="0" rIns="0" tIns="0" bIns="0">
            <a:spAutoFit/>
          </a:bodyPr>
          <a:lstStyle/>
          <a:p>
            <a:pPr>
              <a:spcAft>
                <a:spcPts val="220"/>
              </a:spcAft>
            </a:pPr>
            <a:r>
              <a:rPr sz="919" b="1">
                <a:solidFill>
                  <a:srgbClr val="1F2937"/>
                </a:solidFill>
                <a:latin typeface="Poppins"/>
              </a:rPr>
              <a:t>Context: </a:t>
            </a:r>
            <a:r>
              <a:rPr sz="880">
                <a:solidFill>
                  <a:srgbClr val="4B5563"/>
                </a:solidFill>
                <a:latin typeface="Poppins"/>
              </a:rPr>
              <a:t>Challenges in physical cell testing, sensor inaccuracies, and the digital twin paradigm.</a:t>
            </a:r>
          </a:p>
          <a:p>
            <a:pPr>
              <a:spcAft>
                <a:spcPts val="220"/>
              </a:spcAft>
            </a:pPr>
            <a:r>
              <a:rPr sz="919" b="1">
                <a:solidFill>
                  <a:srgbClr val="1F2937"/>
                </a:solidFill>
                <a:latin typeface="Poppins"/>
              </a:rPr>
              <a:t>Physics: </a:t>
            </a:r>
            <a:r>
              <a:rPr sz="880">
                <a:solidFill>
                  <a:srgbClr val="4B5563"/>
                </a:solidFill>
                <a:latin typeface="Poppins"/>
              </a:rPr>
              <a:t>Non-linear Li-ion OCV characteristics and dynamic IR-drop overpotentials.</a:t>
            </a:r>
          </a:p>
        </p:txBody>
      </p:sp>
      <p:sp>
        <p:nvSpPr>
          <p:cNvPr id="11" name="Rounded Rectangle 10"/>
          <p:cNvSpPr/>
          <p:nvPr/>
        </p:nvSpPr>
        <p:spPr>
          <a:xfrm>
            <a:off x="6229920" y="1480000"/>
            <a:ext cx="5550000" cy="14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94512" y="162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2</a:t>
            </a:r>
          </a:p>
        </p:txBody>
      </p:sp>
      <p:sp>
        <p:nvSpPr>
          <p:cNvPr id="13" name="TextBox 12"/>
          <p:cNvSpPr txBox="1"/>
          <p:nvPr/>
        </p:nvSpPr>
        <p:spPr>
          <a:xfrm>
            <a:off x="6851712" y="1617160"/>
            <a:ext cx="4772760" cy="384048"/>
          </a:xfrm>
          <a:prstGeom prst="rect">
            <a:avLst/>
          </a:prstGeom>
          <a:noFill/>
        </p:spPr>
        <p:txBody>
          <a:bodyPr wrap="square" lIns="0" rIns="0" tIns="0" bIns="0">
            <a:spAutoFit/>
          </a:bodyPr>
          <a:lstStyle/>
          <a:p>
            <a:r>
              <a:rPr sz="1200" b="1">
                <a:solidFill>
                  <a:srgbClr val="831838"/>
                </a:solidFill>
                <a:latin typeface="Poppins"/>
              </a:rPr>
              <a:t>Literature Review &amp; Method Taxonomy</a:t>
            </a:r>
          </a:p>
        </p:txBody>
      </p:sp>
      <p:sp>
        <p:nvSpPr>
          <p:cNvPr id="14" name="TextBox 13"/>
          <p:cNvSpPr txBox="1"/>
          <p:nvPr/>
        </p:nvSpPr>
        <p:spPr>
          <a:xfrm>
            <a:off x="6412800" y="2065216"/>
            <a:ext cx="5184240" cy="791632"/>
          </a:xfrm>
          <a:prstGeom prst="rect">
            <a:avLst/>
          </a:prstGeom>
          <a:noFill/>
        </p:spPr>
        <p:txBody>
          <a:bodyPr wrap="square" lIns="0" rIns="0" tIns="0" bIns="0">
            <a:spAutoFit/>
          </a:bodyPr>
          <a:lstStyle/>
          <a:p>
            <a:pPr>
              <a:spcAft>
                <a:spcPts val="220"/>
              </a:spcAft>
            </a:pPr>
            <a:r>
              <a:rPr sz="919" b="1">
                <a:solidFill>
                  <a:srgbClr val="1F2937"/>
                </a:solidFill>
                <a:latin typeface="Poppins"/>
              </a:rPr>
              <a:t>Baselines: </a:t>
            </a:r>
            <a:r>
              <a:rPr sz="880">
                <a:solidFill>
                  <a:srgbClr val="4B5563"/>
                </a:solidFill>
                <a:latin typeface="Poppins"/>
              </a:rPr>
              <a:t>Direct Coulomb Counting, Equilibrium OCV lookup, and Kalman filtering.</a:t>
            </a:r>
          </a:p>
          <a:p>
            <a:pPr>
              <a:spcAft>
                <a:spcPts val="220"/>
              </a:spcAft>
            </a:pPr>
            <a:r>
              <a:rPr sz="919" b="1">
                <a:solidFill>
                  <a:srgbClr val="831838"/>
                </a:solidFill>
                <a:latin typeface="Poppins"/>
              </a:rPr>
              <a:t>AI &amp; Hybrid: </a:t>
            </a:r>
            <a:r>
              <a:rPr sz="880">
                <a:solidFill>
                  <a:srgbClr val="4B5563"/>
                </a:solidFill>
                <a:latin typeface="Poppins"/>
              </a:rPr>
              <a:t>Modern ML/AI models (LSTM, RF, NN) and Industry-Standard Hybrid frameworks.</a:t>
            </a:r>
          </a:p>
        </p:txBody>
      </p:sp>
      <p:sp>
        <p:nvSpPr>
          <p:cNvPr id="15" name="Rounded Rectangle 14"/>
          <p:cNvSpPr/>
          <p:nvPr/>
        </p:nvSpPr>
        <p:spPr>
          <a:xfrm>
            <a:off x="411480" y="3090000"/>
            <a:ext cx="5550000" cy="14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 y="323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3</a:t>
            </a:r>
          </a:p>
        </p:txBody>
      </p:sp>
      <p:sp>
        <p:nvSpPr>
          <p:cNvPr id="17" name="TextBox 16"/>
          <p:cNvSpPr txBox="1"/>
          <p:nvPr/>
        </p:nvSpPr>
        <p:spPr>
          <a:xfrm>
            <a:off x="1033272" y="3227160"/>
            <a:ext cx="4772760" cy="384048"/>
          </a:xfrm>
          <a:prstGeom prst="rect">
            <a:avLst/>
          </a:prstGeom>
          <a:noFill/>
        </p:spPr>
        <p:txBody>
          <a:bodyPr wrap="square" lIns="0" rIns="0" tIns="0" bIns="0">
            <a:spAutoFit/>
          </a:bodyPr>
          <a:lstStyle/>
          <a:p>
            <a:r>
              <a:rPr sz="1200" b="1">
                <a:solidFill>
                  <a:srgbClr val="831838"/>
                </a:solidFill>
                <a:latin typeface="Poppins"/>
              </a:rPr>
              <a:t>Virtual Hardware-in-the-Loop Architecture</a:t>
            </a:r>
          </a:p>
        </p:txBody>
      </p:sp>
      <p:sp>
        <p:nvSpPr>
          <p:cNvPr id="18" name="TextBox 17"/>
          <p:cNvSpPr txBox="1"/>
          <p:nvPr/>
        </p:nvSpPr>
        <p:spPr>
          <a:xfrm>
            <a:off x="594360" y="3675216"/>
            <a:ext cx="5184240" cy="791632"/>
          </a:xfrm>
          <a:prstGeom prst="rect">
            <a:avLst/>
          </a:prstGeom>
          <a:noFill/>
        </p:spPr>
        <p:txBody>
          <a:bodyPr wrap="square" lIns="0" rIns="0" tIns="0" bIns="0">
            <a:spAutoFit/>
          </a:bodyPr>
          <a:lstStyle/>
          <a:p>
            <a:pPr>
              <a:spcAft>
                <a:spcPts val="220"/>
              </a:spcAft>
            </a:pPr>
            <a:r>
              <a:rPr sz="919" b="1">
                <a:solidFill>
                  <a:srgbClr val="1F2937"/>
                </a:solidFill>
                <a:latin typeface="Poppins"/>
              </a:rPr>
              <a:t>Signal Path: </a:t>
            </a:r>
            <a:r>
              <a:rPr sz="880">
                <a:solidFill>
                  <a:srgbClr val="4B5563"/>
                </a:solidFill>
                <a:latin typeface="Poppins"/>
              </a:rPr>
              <a:t>Divider attenuation (÷2), ESP32 12-bit ADC noise (5 mV), and current shunt DC offset (+30 mA).</a:t>
            </a:r>
          </a:p>
          <a:p>
            <a:pPr>
              <a:spcAft>
                <a:spcPts val="220"/>
              </a:spcAft>
            </a:pPr>
            <a:r>
              <a:rPr sz="919" b="1">
                <a:solidFill>
                  <a:srgbClr val="1F2937"/>
                </a:solidFill>
                <a:latin typeface="Poppins"/>
              </a:rPr>
              <a:t>Telemetry: </a:t>
            </a:r>
            <a:r>
              <a:rPr sz="880">
                <a:solidFill>
                  <a:srgbClr val="4B5563"/>
                </a:solidFill>
                <a:latin typeface="Poppins"/>
              </a:rPr>
              <a:t>TP4056 CC/CV state machine, Wi-Fi JSON frames, and live WebSocket streaming.</a:t>
            </a:r>
          </a:p>
        </p:txBody>
      </p:sp>
      <p:sp>
        <p:nvSpPr>
          <p:cNvPr id="19" name="Rounded Rectangle 18"/>
          <p:cNvSpPr/>
          <p:nvPr/>
        </p:nvSpPr>
        <p:spPr>
          <a:xfrm>
            <a:off x="6229920" y="3090000"/>
            <a:ext cx="5550000" cy="14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4512" y="323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4</a:t>
            </a:r>
          </a:p>
        </p:txBody>
      </p:sp>
      <p:sp>
        <p:nvSpPr>
          <p:cNvPr id="21" name="TextBox 20"/>
          <p:cNvSpPr txBox="1"/>
          <p:nvPr/>
        </p:nvSpPr>
        <p:spPr>
          <a:xfrm>
            <a:off x="6851712" y="3227160"/>
            <a:ext cx="4772760" cy="384048"/>
          </a:xfrm>
          <a:prstGeom prst="rect">
            <a:avLst/>
          </a:prstGeom>
          <a:noFill/>
        </p:spPr>
        <p:txBody>
          <a:bodyPr wrap="square" lIns="0" rIns="0" tIns="0" bIns="0">
            <a:spAutoFit/>
          </a:bodyPr>
          <a:lstStyle/>
          <a:p>
            <a:r>
              <a:rPr sz="1200" b="1">
                <a:solidFill>
                  <a:srgbClr val="831838"/>
                </a:solidFill>
                <a:latin typeface="Poppins"/>
              </a:rPr>
              <a:t>Data Engineering &amp; Model Design</a:t>
            </a:r>
          </a:p>
        </p:txBody>
      </p:sp>
      <p:sp>
        <p:nvSpPr>
          <p:cNvPr id="22" name="TextBox 21"/>
          <p:cNvSpPr txBox="1"/>
          <p:nvPr/>
        </p:nvSpPr>
        <p:spPr>
          <a:xfrm>
            <a:off x="6412800" y="3675216"/>
            <a:ext cx="5184240" cy="791632"/>
          </a:xfrm>
          <a:prstGeom prst="rect">
            <a:avLst/>
          </a:prstGeom>
          <a:noFill/>
        </p:spPr>
        <p:txBody>
          <a:bodyPr wrap="square" lIns="0" rIns="0" tIns="0" bIns="0">
            <a:spAutoFit/>
          </a:bodyPr>
          <a:lstStyle/>
          <a:p>
            <a:pPr>
              <a:spcAft>
                <a:spcPts val="220"/>
              </a:spcAft>
            </a:pPr>
            <a:r>
              <a:rPr sz="919" b="1">
                <a:solidFill>
                  <a:srgbClr val="1F2937"/>
                </a:solidFill>
                <a:latin typeface="Poppins"/>
              </a:rPr>
              <a:t>NASA Dataset: </a:t>
            </a:r>
            <a:r>
              <a:rPr sz="880">
                <a:solidFill>
                  <a:srgbClr val="4B5563"/>
                </a:solidFill>
                <a:latin typeface="Poppins"/>
              </a:rPr>
              <a:t>60 cycling CSVs, 5 s resampling, and 4-wire Kelvin probe voltage averaging.</a:t>
            </a:r>
          </a:p>
          <a:p>
            <a:pPr>
              <a:spcAft>
                <a:spcPts val="220"/>
              </a:spcAft>
            </a:pPr>
            <a:r>
              <a:rPr sz="919" b="1">
                <a:solidFill>
                  <a:srgbClr val="831838"/>
                </a:solidFill>
                <a:latin typeface="Poppins"/>
              </a:rPr>
              <a:t>MLP 3-16-1: </a:t>
            </a:r>
            <a:r>
              <a:rPr sz="880">
                <a:solidFill>
                  <a:srgbClr val="4B5563"/>
                </a:solidFill>
                <a:latin typeface="Poppins"/>
              </a:rPr>
              <a:t>Causal moving average feature engineering, tanh activation, and architecture ablations.</a:t>
            </a:r>
          </a:p>
        </p:txBody>
      </p:sp>
      <p:sp>
        <p:nvSpPr>
          <p:cNvPr id="23" name="Rounded Rectangle 22"/>
          <p:cNvSpPr/>
          <p:nvPr/>
        </p:nvSpPr>
        <p:spPr>
          <a:xfrm>
            <a:off x="411480" y="4700000"/>
            <a:ext cx="5550000" cy="14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76072" y="484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5</a:t>
            </a:r>
          </a:p>
        </p:txBody>
      </p:sp>
      <p:sp>
        <p:nvSpPr>
          <p:cNvPr id="25" name="TextBox 24"/>
          <p:cNvSpPr txBox="1"/>
          <p:nvPr/>
        </p:nvSpPr>
        <p:spPr>
          <a:xfrm>
            <a:off x="1033272" y="4837160"/>
            <a:ext cx="4772760" cy="384048"/>
          </a:xfrm>
          <a:prstGeom prst="rect">
            <a:avLst/>
          </a:prstGeom>
          <a:noFill/>
        </p:spPr>
        <p:txBody>
          <a:bodyPr wrap="square" lIns="0" rIns="0" tIns="0" bIns="0">
            <a:spAutoFit/>
          </a:bodyPr>
          <a:lstStyle/>
          <a:p>
            <a:r>
              <a:rPr sz="1200" b="1">
                <a:solidFill>
                  <a:srgbClr val="831838"/>
                </a:solidFill>
                <a:latin typeface="Poppins"/>
              </a:rPr>
              <a:t>Multi-Algorithm Benchmarking &amp; Robustness</a:t>
            </a:r>
          </a:p>
        </p:txBody>
      </p:sp>
      <p:sp>
        <p:nvSpPr>
          <p:cNvPr id="26" name="TextBox 25"/>
          <p:cNvSpPr txBox="1"/>
          <p:nvPr/>
        </p:nvSpPr>
        <p:spPr>
          <a:xfrm>
            <a:off x="594360" y="5285216"/>
            <a:ext cx="5184240" cy="791632"/>
          </a:xfrm>
          <a:prstGeom prst="rect">
            <a:avLst/>
          </a:prstGeom>
          <a:noFill/>
        </p:spPr>
        <p:txBody>
          <a:bodyPr wrap="square" lIns="0" rIns="0" tIns="0" bIns="0">
            <a:spAutoFit/>
          </a:bodyPr>
          <a:lstStyle/>
          <a:p>
            <a:pPr>
              <a:spcAft>
                <a:spcPts val="220"/>
              </a:spcAft>
            </a:pPr>
            <a:r>
              <a:rPr sz="919" b="1">
                <a:solidFill>
                  <a:srgbClr val="1F2937"/>
                </a:solidFill>
                <a:latin typeface="Poppins"/>
              </a:rPr>
              <a:t>Baselines: </a:t>
            </a:r>
            <a:r>
              <a:rPr sz="880">
                <a:solidFill>
                  <a:srgbClr val="4B5563"/>
                </a:solidFill>
                <a:latin typeface="Poppins"/>
              </a:rPr>
              <a:t>Held-out cycle evaluations comparing MLP, Random Forest, Linear Regression, and Kalman filters.</a:t>
            </a:r>
          </a:p>
          <a:p>
            <a:pPr>
              <a:spcAft>
                <a:spcPts val="220"/>
              </a:spcAft>
            </a:pPr>
            <a:r>
              <a:rPr sz="919" b="1">
                <a:solidFill>
                  <a:srgbClr val="1F2937"/>
                </a:solidFill>
                <a:latin typeface="Poppins"/>
              </a:rPr>
              <a:t>Stress Tests: </a:t>
            </a:r>
            <a:r>
              <a:rPr sz="880">
                <a:solidFill>
                  <a:srgbClr val="4B5563"/>
                </a:solidFill>
                <a:latin typeface="Poppins"/>
              </a:rPr>
              <a:t>Sensor DC bias drift resilience, long-horizon error bounds, and noise sweeps.</a:t>
            </a:r>
          </a:p>
        </p:txBody>
      </p:sp>
      <p:sp>
        <p:nvSpPr>
          <p:cNvPr id="27" name="Rounded Rectangle 26"/>
          <p:cNvSpPr/>
          <p:nvPr/>
        </p:nvSpPr>
        <p:spPr>
          <a:xfrm>
            <a:off x="6229920" y="4700000"/>
            <a:ext cx="5550000" cy="14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94512" y="484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6</a:t>
            </a:r>
          </a:p>
        </p:txBody>
      </p:sp>
      <p:sp>
        <p:nvSpPr>
          <p:cNvPr id="29" name="TextBox 28"/>
          <p:cNvSpPr txBox="1"/>
          <p:nvPr/>
        </p:nvSpPr>
        <p:spPr>
          <a:xfrm>
            <a:off x="6851712" y="4837160"/>
            <a:ext cx="4772760" cy="384048"/>
          </a:xfrm>
          <a:prstGeom prst="rect">
            <a:avLst/>
          </a:prstGeom>
          <a:noFill/>
        </p:spPr>
        <p:txBody>
          <a:bodyPr wrap="square" lIns="0" rIns="0" tIns="0" bIns="0">
            <a:spAutoFit/>
          </a:bodyPr>
          <a:lstStyle/>
          <a:p>
            <a:r>
              <a:rPr sz="1200" b="1">
                <a:solidFill>
                  <a:srgbClr val="831838"/>
                </a:solidFill>
                <a:latin typeface="Poppins"/>
              </a:rPr>
              <a:t>SOH Engine, Embedded C &amp; Dashboard</a:t>
            </a:r>
          </a:p>
        </p:txBody>
      </p:sp>
      <p:sp>
        <p:nvSpPr>
          <p:cNvPr id="30" name="TextBox 29"/>
          <p:cNvSpPr txBox="1"/>
          <p:nvPr/>
        </p:nvSpPr>
        <p:spPr>
          <a:xfrm>
            <a:off x="6412800" y="5285216"/>
            <a:ext cx="5184240" cy="791632"/>
          </a:xfrm>
          <a:prstGeom prst="rect">
            <a:avLst/>
          </a:prstGeom>
          <a:noFill/>
        </p:spPr>
        <p:txBody>
          <a:bodyPr wrap="square" lIns="0" rIns="0" tIns="0" bIns="0">
            <a:spAutoFit/>
          </a:bodyPr>
          <a:lstStyle/>
          <a:p>
            <a:pPr>
              <a:spcAft>
                <a:spcPts val="220"/>
              </a:spcAft>
            </a:pPr>
            <a:r>
              <a:rPr sz="919" b="1">
                <a:solidFill>
                  <a:srgbClr val="1F2937"/>
                </a:solidFill>
                <a:latin typeface="Poppins"/>
              </a:rPr>
              <a:t>Dual Aging: </a:t>
            </a:r>
            <a:r>
              <a:rPr sz="880">
                <a:solidFill>
                  <a:srgbClr val="4B5563"/>
                </a:solidFill>
                <a:latin typeface="Poppins"/>
              </a:rPr>
              <a:t>Capacity fade (SOH_C), ohmic resistance growth (SOH_R), and RUL projection.</a:t>
            </a:r>
          </a:p>
          <a:p>
            <a:pPr>
              <a:spcAft>
                <a:spcPts val="220"/>
              </a:spcAft>
            </a:pPr>
            <a:r>
              <a:rPr sz="919" b="1">
                <a:solidFill>
                  <a:srgbClr val="1F2937"/>
                </a:solidFill>
                <a:latin typeface="Poppins"/>
              </a:rPr>
              <a:t>Edge Deploy: </a:t>
            </a:r>
            <a:r>
              <a:rPr sz="880">
                <a:solidFill>
                  <a:srgbClr val="4B5563"/>
                </a:solidFill>
                <a:latin typeface="Poppins"/>
              </a:rPr>
              <a:t>Pure C firmware parity, INT8 quantization impact, and interactive 6-tab telemetry UI.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Motivation  </a:t>
            </a:r>
            <a:r>
              <a:rPr sz="2500">
                <a:solidFill>
                  <a:srgbClr val="99A3AF"/>
                </a:solidFill>
                <a:latin typeface="Poppins"/>
              </a:rPr>
              <a:t>Slide 01</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3</a:t>
            </a:r>
          </a:p>
        </p:txBody>
      </p:sp>
      <p:sp>
        <p:nvSpPr>
          <p:cNvPr id="7" name="Rounded Rectangle 6"/>
          <p:cNvSpPr/>
          <p:nvPr/>
        </p:nvSpPr>
        <p:spPr>
          <a:xfrm>
            <a:off x="411480" y="1500000"/>
            <a:ext cx="5500000" cy="47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37160"/>
            <a:ext cx="5042800" cy="384048"/>
          </a:xfrm>
          <a:prstGeom prst="rect">
            <a:avLst/>
          </a:prstGeom>
          <a:noFill/>
        </p:spPr>
        <p:txBody>
          <a:bodyPr wrap="square" lIns="0" rIns="0" tIns="0" bIns="0">
            <a:spAutoFit/>
          </a:bodyPr>
          <a:lstStyle/>
          <a:p>
            <a:r>
              <a:rPr sz="1200" b="1">
                <a:solidFill>
                  <a:srgbClr val="831838"/>
                </a:solidFill>
                <a:latin typeface="Poppins"/>
              </a:rPr>
              <a:t>The Physical Battery Testing Bottleneck</a:t>
            </a:r>
          </a:p>
        </p:txBody>
      </p:sp>
      <p:sp>
        <p:nvSpPr>
          <p:cNvPr id="9" name="TextBox 8"/>
          <p:cNvSpPr txBox="1"/>
          <p:nvPr/>
        </p:nvSpPr>
        <p:spPr>
          <a:xfrm>
            <a:off x="594360" y="2085216"/>
            <a:ext cx="5134240" cy="4041632"/>
          </a:xfrm>
          <a:prstGeom prst="rect">
            <a:avLst/>
          </a:prstGeom>
          <a:noFill/>
        </p:spPr>
        <p:txBody>
          <a:bodyPr wrap="square" lIns="0" rIns="0" tIns="0" bIns="0">
            <a:spAutoFit/>
          </a:bodyPr>
          <a:lstStyle/>
          <a:p>
            <a:pPr>
              <a:spcAft>
                <a:spcPts val="220"/>
              </a:spcAft>
            </a:pPr>
            <a:r>
              <a:rPr sz="919" b="1">
                <a:solidFill>
                  <a:srgbClr val="1F2937"/>
                </a:solidFill>
                <a:latin typeface="Poppins"/>
              </a:rPr>
              <a:t>Laboratory Cycler Expense: </a:t>
            </a:r>
            <a:r>
              <a:rPr sz="880">
                <a:solidFill>
                  <a:srgbClr val="4B5563"/>
                </a:solidFill>
                <a:latin typeface="Poppins"/>
              </a:rPr>
              <a:t>Testing physical Li-ion cells requires multi-channel battery cyclers (Arbin/Maccor) costing upwards of $20,000 to $50,000.</a:t>
            </a:r>
          </a:p>
          <a:p>
            <a:pPr>
              <a:spcAft>
                <a:spcPts val="220"/>
              </a:spcAft>
            </a:pPr>
            <a:r>
              <a:rPr sz="919" b="1">
                <a:solidFill>
                  <a:srgbClr val="1F2937"/>
                </a:solidFill>
                <a:latin typeface="Poppins"/>
              </a:rPr>
              <a:t>Hazardous Degradation: </a:t>
            </a:r>
            <a:r>
              <a:rPr sz="880">
                <a:solidFill>
                  <a:srgbClr val="4B5563"/>
                </a:solidFill>
                <a:latin typeface="Poppins"/>
              </a:rPr>
              <a:t>Subjecting physical 18650 cells to overcharge, thermal runaway stress, or continuous high-C cycling risks fire, venting, and permanent cell destruction.</a:t>
            </a:r>
          </a:p>
          <a:p>
            <a:pPr>
              <a:spcAft>
                <a:spcPts val="220"/>
              </a:spcAft>
            </a:pPr>
            <a:r>
              <a:rPr sz="919" b="1">
                <a:solidFill>
                  <a:srgbClr val="1F2937"/>
                </a:solidFill>
                <a:latin typeface="Poppins"/>
              </a:rPr>
              <a:t>Sensor Degradation in Field: </a:t>
            </a:r>
            <a:r>
              <a:rPr sz="880">
                <a:solidFill>
                  <a:srgbClr val="4B5563"/>
                </a:solidFill>
                <a:latin typeface="Poppins"/>
              </a:rPr>
              <a:t>Low-cost embedded BMS microcontrollers face noisy 12-bit SAR ADCs and Hall-effect sensor DC bias, causing conventional integration algorithms to drift uncontrollably.</a:t>
            </a:r>
          </a:p>
          <a:p>
            <a:pPr>
              <a:spcAft>
                <a:spcPts val="220"/>
              </a:spcAft>
            </a:pPr>
            <a:r>
              <a:rPr sz="919" b="1">
                <a:solidFill>
                  <a:srgbClr val="1F2937"/>
                </a:solidFill>
                <a:latin typeface="Poppins"/>
              </a:rPr>
              <a:t>Safe, Repeatable Digital Twin: </a:t>
            </a:r>
            <a:r>
              <a:rPr sz="880">
                <a:solidFill>
                  <a:srgbClr val="4B5563"/>
                </a:solidFill>
                <a:latin typeface="Poppins"/>
              </a:rPr>
              <a:t>A high-fidelity digital twin replays charge and discharge cycles deterministically with zero hardware replacement costs and zero physical hazards.</a:t>
            </a:r>
          </a:p>
        </p:txBody>
      </p:sp>
      <p:sp>
        <p:nvSpPr>
          <p:cNvPr id="10" name="Rounded Rectangle 9"/>
          <p:cNvSpPr/>
          <p:nvPr/>
        </p:nvSpPr>
        <p:spPr>
          <a:xfrm>
            <a:off x="6150000" y="1500000"/>
            <a:ext cx="5600000" cy="21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8600" y="1637160"/>
            <a:ext cx="5142800" cy="384048"/>
          </a:xfrm>
          <a:prstGeom prst="rect">
            <a:avLst/>
          </a:prstGeom>
          <a:noFill/>
        </p:spPr>
        <p:txBody>
          <a:bodyPr wrap="square" lIns="0" rIns="0" tIns="0" bIns="0">
            <a:spAutoFit/>
          </a:bodyPr>
          <a:lstStyle/>
          <a:p>
            <a:r>
              <a:rPr sz="1200" b="1">
                <a:solidFill>
                  <a:srgbClr val="831838"/>
                </a:solidFill>
                <a:latin typeface="Poppins"/>
              </a:rPr>
              <a:t>Scope of the Machine Learning Approach</a:t>
            </a:r>
          </a:p>
        </p:txBody>
      </p:sp>
      <p:sp>
        <p:nvSpPr>
          <p:cNvPr id="12" name="TextBox 11"/>
          <p:cNvSpPr txBox="1"/>
          <p:nvPr/>
        </p:nvSpPr>
        <p:spPr>
          <a:xfrm>
            <a:off x="6332880" y="2085216"/>
            <a:ext cx="5234240" cy="1441632"/>
          </a:xfrm>
          <a:prstGeom prst="rect">
            <a:avLst/>
          </a:prstGeom>
          <a:noFill/>
        </p:spPr>
        <p:txBody>
          <a:bodyPr wrap="square" lIns="0" rIns="0" tIns="0" bIns="0">
            <a:spAutoFit/>
          </a:bodyPr>
          <a:lstStyle/>
          <a:p>
            <a:pPr>
              <a:spcAft>
                <a:spcPts val="220"/>
              </a:spcAft>
            </a:pPr>
            <a:r>
              <a:rPr sz="919" b="1">
                <a:solidFill>
                  <a:srgbClr val="1F2937"/>
                </a:solidFill>
                <a:latin typeface="Poppins"/>
              </a:rPr>
              <a:t>Model-Free Mapping: </a:t>
            </a:r>
            <a:r>
              <a:rPr sz="880">
                <a:solidFill>
                  <a:srgbClr val="4B5563"/>
                </a:solidFill>
                <a:latin typeface="Poppins"/>
              </a:rPr>
              <a:t>A trained ML model learns the non-linear terminal voltage-to-SOC mapping directly from data, bypassing complex cell-specific electrochemistry equations.</a:t>
            </a:r>
          </a:p>
          <a:p>
            <a:pPr>
              <a:spcAft>
                <a:spcPts val="220"/>
              </a:spcAft>
            </a:pPr>
            <a:r>
              <a:rPr sz="919" b="1">
                <a:solidFill>
                  <a:srgbClr val="1F2937"/>
                </a:solidFill>
                <a:latin typeface="Poppins"/>
              </a:rPr>
              <a:t>Real Data, Portable Deployment: </a:t>
            </a:r>
            <a:r>
              <a:rPr sz="880">
                <a:solidFill>
                  <a:srgbClr val="4B5563"/>
                </a:solidFill>
                <a:latin typeface="Poppins"/>
              </a:rPr>
              <a:t>Trained on real NASA Li-ion cycling data, the identical forward-pass mathematical model compiles into lightweight C firmware for the ESP32 microcontroller.</a:t>
            </a:r>
          </a:p>
        </p:txBody>
      </p:sp>
      <p:pic>
        <p:nvPicPr>
          <p:cNvPr id="13" name="Picture 12" descr="dashboard_screenshot.png"/>
          <p:cNvPicPr>
            <a:picLocks noChangeAspect="1"/>
          </p:cNvPicPr>
          <p:nvPr/>
        </p:nvPicPr>
        <p:blipFill>
          <a:blip r:embed="rId4"/>
          <a:stretch>
            <a:fillRect/>
          </a:stretch>
        </p:blipFill>
        <p:spPr>
          <a:xfrm>
            <a:off x="6150000" y="3800000"/>
            <a:ext cx="5600000" cy="2400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Introduction  </a:t>
            </a:r>
            <a:r>
              <a:rPr sz="2500">
                <a:solidFill>
                  <a:srgbClr val="99A3AF"/>
                </a:solidFill>
                <a:latin typeface="Poppins"/>
              </a:rPr>
              <a:t>Slide 02</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4</a:t>
            </a:r>
          </a:p>
        </p:txBody>
      </p:sp>
      <p:sp>
        <p:nvSpPr>
          <p:cNvPr id="7" name="Rounded Rectangle 6"/>
          <p:cNvSpPr/>
          <p:nvPr/>
        </p:nvSpPr>
        <p:spPr>
          <a:xfrm>
            <a:off x="411480" y="1480000"/>
            <a:ext cx="11368440" cy="11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7160"/>
            <a:ext cx="10911240" cy="384048"/>
          </a:xfrm>
          <a:prstGeom prst="rect">
            <a:avLst/>
          </a:prstGeom>
          <a:noFill/>
        </p:spPr>
        <p:txBody>
          <a:bodyPr wrap="square" lIns="0" rIns="0" tIns="0" bIns="0">
            <a:spAutoFit/>
          </a:bodyPr>
          <a:lstStyle/>
          <a:p>
            <a:r>
              <a:rPr sz="1200" b="1">
                <a:solidFill>
                  <a:srgbClr val="831838"/>
                </a:solidFill>
                <a:latin typeface="Poppins"/>
              </a:rPr>
              <a:t>Broad Domain: Smart BMS &amp; State of Charge (SOC)</a:t>
            </a:r>
          </a:p>
        </p:txBody>
      </p:sp>
      <p:sp>
        <p:nvSpPr>
          <p:cNvPr id="9" name="TextBox 8"/>
          <p:cNvSpPr txBox="1"/>
          <p:nvPr/>
        </p:nvSpPr>
        <p:spPr>
          <a:xfrm>
            <a:off x="594360" y="2065216"/>
            <a:ext cx="11002680" cy="441632"/>
          </a:xfrm>
          <a:prstGeom prst="rect">
            <a:avLst/>
          </a:prstGeom>
          <a:noFill/>
        </p:spPr>
        <p:txBody>
          <a:bodyPr wrap="square" lIns="0" rIns="0" tIns="0" bIns="0">
            <a:spAutoFit/>
          </a:bodyPr>
          <a:lstStyle/>
          <a:p>
            <a:pPr>
              <a:spcAft>
                <a:spcPts val="220"/>
              </a:spcAft>
            </a:pPr>
            <a:r>
              <a:rPr sz="919" b="1">
                <a:solidFill>
                  <a:srgbClr val="831838"/>
                </a:solidFill>
                <a:latin typeface="Poppins"/>
              </a:rPr>
              <a:t>Core Functions: </a:t>
            </a:r>
            <a:r>
              <a:rPr sz="880">
                <a:solidFill>
                  <a:srgbClr val="4B5563"/>
                </a:solidFill>
                <a:latin typeface="Poppins"/>
              </a:rPr>
              <a:t>Real-time voltage sensing, charge-status detection, closed-loop SOC estimation, and Wi-Fi telemetry.</a:t>
            </a:r>
          </a:p>
          <a:p>
            <a:pPr>
              <a:spcAft>
                <a:spcPts val="220"/>
              </a:spcAft>
            </a:pPr>
            <a:r>
              <a:rPr sz="919" b="1">
                <a:solidFill>
                  <a:srgbClr val="1F2937"/>
                </a:solidFill>
                <a:latin typeface="Poppins"/>
              </a:rPr>
              <a:t>Definition: </a:t>
            </a:r>
            <a:r>
              <a:rPr sz="880">
                <a:solidFill>
                  <a:srgbClr val="4B5563"/>
                </a:solidFill>
                <a:latin typeface="Poppins"/>
              </a:rPr>
              <a:t>SOC represents remaining available charge percentage relative to nominal capacity: SOC(t) = SOC0 - (1/Cn) ∫ i(t) dt.</a:t>
            </a:r>
          </a:p>
        </p:txBody>
      </p:sp>
      <p:sp>
        <p:nvSpPr>
          <p:cNvPr id="10" name="Rounded Rectangle 9"/>
          <p:cNvSpPr/>
          <p:nvPr/>
        </p:nvSpPr>
        <p:spPr>
          <a:xfrm>
            <a:off x="411480" y="2720000"/>
            <a:ext cx="5550000" cy="35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857160"/>
            <a:ext cx="5092800" cy="384048"/>
          </a:xfrm>
          <a:prstGeom prst="rect">
            <a:avLst/>
          </a:prstGeom>
          <a:noFill/>
        </p:spPr>
        <p:txBody>
          <a:bodyPr wrap="square" lIns="0" rIns="0" tIns="0" bIns="0">
            <a:spAutoFit/>
          </a:bodyPr>
          <a:lstStyle/>
          <a:p>
            <a:r>
              <a:rPr sz="1200" b="1">
                <a:solidFill>
                  <a:srgbClr val="831838"/>
                </a:solidFill>
                <a:latin typeface="Poppins"/>
              </a:rPr>
              <a:t>Non-Linear Battery Dynamics</a:t>
            </a:r>
          </a:p>
        </p:txBody>
      </p:sp>
      <p:sp>
        <p:nvSpPr>
          <p:cNvPr id="12" name="TextBox 11"/>
          <p:cNvSpPr txBox="1"/>
          <p:nvPr/>
        </p:nvSpPr>
        <p:spPr>
          <a:xfrm>
            <a:off x="594360" y="3305216"/>
            <a:ext cx="5184240" cy="2841632"/>
          </a:xfrm>
          <a:prstGeom prst="rect">
            <a:avLst/>
          </a:prstGeom>
          <a:noFill/>
        </p:spPr>
        <p:txBody>
          <a:bodyPr wrap="square" lIns="0" rIns="0" tIns="0" bIns="0">
            <a:spAutoFit/>
          </a:bodyPr>
          <a:lstStyle/>
          <a:p>
            <a:pPr>
              <a:spcAft>
                <a:spcPts val="220"/>
              </a:spcAft>
            </a:pPr>
            <a:r>
              <a:rPr sz="919" b="1">
                <a:solidFill>
                  <a:srgbClr val="1F2937"/>
                </a:solidFill>
                <a:latin typeface="Poppins"/>
              </a:rPr>
              <a:t>Thermodynamic OCV Curve: </a:t>
            </a:r>
            <a:r>
              <a:rPr sz="880">
                <a:solidFill>
                  <a:srgbClr val="4B5563"/>
                </a:solidFill>
                <a:latin typeface="Poppins"/>
              </a:rPr>
              <a:t>Terminal voltage does not scale linearly with SOC; exhibits steep exponential drop-offs below 20% and above 90%, with an extremely flat plateau in between.</a:t>
            </a:r>
          </a:p>
          <a:p>
            <a:pPr>
              <a:spcAft>
                <a:spcPts val="220"/>
              </a:spcAft>
            </a:pPr>
            <a:r>
              <a:rPr sz="919" b="1">
                <a:solidFill>
                  <a:srgbClr val="1F2937"/>
                </a:solidFill>
                <a:latin typeface="Poppins"/>
              </a:rPr>
              <a:t>Dynamic Overpotentials: </a:t>
            </a:r>
            <a:r>
              <a:rPr sz="880">
                <a:solidFill>
                  <a:srgbClr val="4B5563"/>
                </a:solidFill>
                <a:latin typeface="Poppins"/>
              </a:rPr>
              <a:t>Active current induces instantaneous IR ohmic drop and slow electrochemical charge-transfer polarization, distorting raw terminal voltage readings.</a:t>
            </a:r>
          </a:p>
          <a:p>
            <a:pPr>
              <a:spcAft>
                <a:spcPts val="220"/>
              </a:spcAft>
            </a:pPr>
            <a:r>
              <a:rPr sz="919" b="1">
                <a:solidFill>
                  <a:srgbClr val="1F2937"/>
                </a:solidFill>
                <a:latin typeface="Poppins"/>
              </a:rPr>
              <a:t>Aging &amp; Temperature Shifts: </a:t>
            </a:r>
            <a:r>
              <a:rPr sz="880">
                <a:solidFill>
                  <a:srgbClr val="4B5563"/>
                </a:solidFill>
                <a:latin typeface="Poppins"/>
              </a:rPr>
              <a:t>As the cell degrades, SEI thickening increases internal resistance R0, causing voltage curves to shift dynamically over the battery lifecycle.</a:t>
            </a:r>
          </a:p>
        </p:txBody>
      </p:sp>
      <p:sp>
        <p:nvSpPr>
          <p:cNvPr id="13" name="Rounded Rectangle 12"/>
          <p:cNvSpPr/>
          <p:nvPr/>
        </p:nvSpPr>
        <p:spPr>
          <a:xfrm>
            <a:off x="6230000" y="2720000"/>
            <a:ext cx="5550000" cy="35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8600" y="2857160"/>
            <a:ext cx="5092800" cy="384048"/>
          </a:xfrm>
          <a:prstGeom prst="rect">
            <a:avLst/>
          </a:prstGeom>
          <a:noFill/>
        </p:spPr>
        <p:txBody>
          <a:bodyPr wrap="square" lIns="0" rIns="0" tIns="0" bIns="0">
            <a:spAutoFit/>
          </a:bodyPr>
          <a:lstStyle/>
          <a:p>
            <a:r>
              <a:rPr sz="1200" b="1">
                <a:solidFill>
                  <a:srgbClr val="831838"/>
                </a:solidFill>
                <a:latin typeface="Poppins"/>
              </a:rPr>
              <a:t>Digital Twin Emulation Setup</a:t>
            </a:r>
          </a:p>
        </p:txBody>
      </p:sp>
      <p:sp>
        <p:nvSpPr>
          <p:cNvPr id="15" name="TextBox 14"/>
          <p:cNvSpPr txBox="1"/>
          <p:nvPr/>
        </p:nvSpPr>
        <p:spPr>
          <a:xfrm>
            <a:off x="6412880" y="3305216"/>
            <a:ext cx="5184240" cy="2841632"/>
          </a:xfrm>
          <a:prstGeom prst="rect">
            <a:avLst/>
          </a:prstGeom>
          <a:noFill/>
        </p:spPr>
        <p:txBody>
          <a:bodyPr wrap="square" lIns="0" rIns="0" tIns="0" bIns="0">
            <a:spAutoFit/>
          </a:bodyPr>
          <a:lstStyle/>
          <a:p>
            <a:pPr>
              <a:spcAft>
                <a:spcPts val="220"/>
              </a:spcAft>
            </a:pPr>
            <a:r>
              <a:rPr sz="919" b="1">
                <a:solidFill>
                  <a:srgbClr val="1F2937"/>
                </a:solidFill>
                <a:latin typeface="Poppins"/>
              </a:rPr>
              <a:t>Target Battery Cell: </a:t>
            </a:r>
            <a:r>
              <a:rPr sz="880">
                <a:solidFill>
                  <a:srgbClr val="4B5563"/>
                </a:solidFill>
                <a:latin typeface="Poppins"/>
              </a:rPr>
              <a:t>Single-cell cylindrical Li-ion battery (3.7V nominal, 18650 form factor), represented by high-precision NASA cycling data.</a:t>
            </a:r>
          </a:p>
          <a:p>
            <a:pPr>
              <a:spcAft>
                <a:spcPts val="220"/>
              </a:spcAft>
            </a:pPr>
            <a:r>
              <a:rPr sz="919" b="1">
                <a:solidFill>
                  <a:srgbClr val="831838"/>
                </a:solidFill>
                <a:latin typeface="Poppins"/>
              </a:rPr>
              <a:t>The ML Model Engine: </a:t>
            </a:r>
            <a:r>
              <a:rPr sz="880">
                <a:solidFill>
                  <a:srgbClr val="4B5563"/>
                </a:solidFill>
                <a:latin typeface="Poppins"/>
              </a:rPr>
              <a:t>An MLP (3-16-1, tanh hidden layer) trained on voltage, current, and smoothed voltage to directly regress SOC without requiring equivalent-circuit parameter matrices.</a:t>
            </a:r>
          </a:p>
          <a:p>
            <a:pPr>
              <a:spcAft>
                <a:spcPts val="220"/>
              </a:spcAft>
            </a:pPr>
            <a:r>
              <a:rPr sz="919" b="1">
                <a:solidFill>
                  <a:srgbClr val="1F2937"/>
                </a:solidFill>
                <a:latin typeface="Poppins"/>
              </a:rPr>
              <a:t>Virtual Hardware Chain: </a:t>
            </a:r>
            <a:r>
              <a:rPr sz="880">
                <a:solidFill>
                  <a:srgbClr val="4B5563"/>
                </a:solidFill>
                <a:latin typeface="Poppins"/>
              </a:rPr>
              <a:t>A virtual ESP32 + TP4056 + 18650 chain replays cell signals, applies ADC quantization noise and DC offset, and streams JSON telemetry to a web dashboard.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State of the Art in Related Area  </a:t>
            </a:r>
            <a:r>
              <a:rPr sz="2500">
                <a:solidFill>
                  <a:srgbClr val="99A3AF"/>
                </a:solidFill>
                <a:latin typeface="Poppins"/>
              </a:rPr>
              <a:t>Slide 03</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5</a:t>
            </a:r>
          </a:p>
        </p:txBody>
      </p:sp>
      <p:graphicFrame>
        <p:nvGraphicFramePr>
          <p:cNvPr id="7" name="Table 6"/>
          <p:cNvGraphicFramePr>
            <a:graphicFrameLocks noGrp="1"/>
          </p:cNvGraphicFramePr>
          <p:nvPr/>
        </p:nvGraphicFramePr>
        <p:xfrm>
          <a:off x="411480" y="1550000"/>
          <a:ext cx="11368440" cy="4600000"/>
        </p:xfrm>
        <a:graphic>
          <a:graphicData uri="http://schemas.openxmlformats.org/drawingml/2006/table">
            <a:tbl>
              <a:tblPr firstRow="1" bandRow="1">
                <a:tableStyleId>{5C22544A-7EE6-4342-B048-85BDC9FD1C3A}</a:tableStyleId>
              </a:tblPr>
              <a:tblGrid>
                <a:gridCol w="1600000"/>
                <a:gridCol w="3400000"/>
                <a:gridCol w="3800000"/>
                <a:gridCol w="2568440"/>
              </a:tblGrid>
              <a:tr h="920000">
                <a:tc>
                  <a:txBody>
                    <a:bodyPr/>
                    <a:lstStyle/>
                    <a:p>
                      <a:pPr algn="l"/>
                      <a:r>
                        <a:rPr sz="950" b="1">
                          <a:solidFill>
                            <a:srgbClr val="FFFFFF"/>
                          </a:solidFill>
                          <a:latin typeface="Poppins"/>
                        </a:rPr>
                        <a:t>Authors</a:t>
                      </a:r>
                    </a:p>
                  </a:txBody>
                  <a:tcPr>
                    <a:solidFill>
                      <a:srgbClr val="831838"/>
                    </a:solidFill>
                  </a:tcPr>
                </a:tc>
                <a:tc>
                  <a:txBody>
                    <a:bodyPr/>
                    <a:lstStyle/>
                    <a:p>
                      <a:pPr algn="ctr"/>
                      <a:r>
                        <a:rPr sz="950" b="1">
                          <a:solidFill>
                            <a:srgbClr val="FFFFFF"/>
                          </a:solidFill>
                          <a:latin typeface="Poppins"/>
                        </a:rPr>
                        <a:t>Title &amp; Venue (Year)</a:t>
                      </a:r>
                    </a:p>
                  </a:txBody>
                  <a:tcPr>
                    <a:solidFill>
                      <a:srgbClr val="831838"/>
                    </a:solidFill>
                  </a:tcPr>
                </a:tc>
                <a:tc>
                  <a:txBody>
                    <a:bodyPr/>
                    <a:lstStyle/>
                    <a:p>
                      <a:pPr algn="ctr"/>
                      <a:r>
                        <a:rPr sz="950" b="1">
                          <a:solidFill>
                            <a:srgbClr val="FFFFFF"/>
                          </a:solidFill>
                          <a:latin typeface="Poppins"/>
                        </a:rPr>
                        <a:t>Key Contributions / Inference</a:t>
                      </a:r>
                    </a:p>
                  </a:txBody>
                  <a:tcPr>
                    <a:solidFill>
                      <a:srgbClr val="831838"/>
                    </a:solidFill>
                  </a:tcPr>
                </a:tc>
                <a:tc>
                  <a:txBody>
                    <a:bodyPr/>
                    <a:lstStyle/>
                    <a:p>
                      <a:pPr algn="ctr"/>
                      <a:r>
                        <a:rPr sz="950" b="1">
                          <a:solidFill>
                            <a:srgbClr val="FFFFFF"/>
                          </a:solidFill>
                          <a:latin typeface="Poppins"/>
                        </a:rPr>
                        <a:t>Remarks / Trade-offs</a:t>
                      </a:r>
                    </a:p>
                  </a:txBody>
                  <a:tcPr>
                    <a:solidFill>
                      <a:srgbClr val="831838"/>
                    </a:solidFill>
                  </a:tcPr>
                </a:tc>
              </a:tr>
              <a:tr h="920000">
                <a:tc>
                  <a:txBody>
                    <a:bodyPr/>
                    <a:lstStyle/>
                    <a:p>
                      <a:pPr algn="l"/>
                      <a:r>
                        <a:rPr sz="880">
                          <a:solidFill>
                            <a:srgbClr val="831838"/>
                          </a:solidFill>
                          <a:latin typeface="Poppins"/>
                        </a:rPr>
                        <a:t>Panda et al.</a:t>
                      </a:r>
                    </a:p>
                  </a:txBody>
                  <a:tcPr>
                    <a:solidFill>
                      <a:srgbClr val="F9FAFC"/>
                    </a:solidFill>
                  </a:tcPr>
                </a:tc>
                <a:tc>
                  <a:txBody>
                    <a:bodyPr/>
                    <a:lstStyle/>
                    <a:p>
                      <a:pPr algn="ctr"/>
                      <a:r>
                        <a:rPr sz="880">
                          <a:solidFill>
                            <a:srgbClr val="1F2937"/>
                          </a:solidFill>
                          <a:latin typeface="Poppins"/>
                        </a:rPr>
                        <a:t>Enhanced SOC estimation using ML algorithms, Sci. Rep. (2024)</a:t>
                      </a:r>
                    </a:p>
                  </a:txBody>
                  <a:tcPr>
                    <a:solidFill>
                      <a:srgbClr val="F9FAFC"/>
                    </a:solidFill>
                  </a:tcPr>
                </a:tc>
                <a:tc>
                  <a:txBody>
                    <a:bodyPr/>
                    <a:lstStyle/>
                    <a:p>
                      <a:pPr algn="ctr"/>
                      <a:r>
                        <a:rPr sz="880">
                          <a:solidFill>
                            <a:srgbClr val="1F2937"/>
                          </a:solidFill>
                          <a:latin typeface="Poppins"/>
                        </a:rPr>
                        <a:t>Compared SVM, Neural Network, Ensemble, and Gaussian Process Regression on real-time driving data.</a:t>
                      </a:r>
                    </a:p>
                  </a:txBody>
                  <a:tcPr>
                    <a:solidFill>
                      <a:srgbClr val="F9FAFC"/>
                    </a:solidFill>
                  </a:tcPr>
                </a:tc>
                <a:tc>
                  <a:txBody>
                    <a:bodyPr/>
                    <a:lstStyle/>
                    <a:p>
                      <a:pPr algn="ctr"/>
                      <a:r>
                        <a:rPr sz="880">
                          <a:solidFill>
                            <a:srgbClr val="1F2937"/>
                          </a:solidFill>
                          <a:latin typeface="Poppins"/>
                        </a:rPr>
                        <a:t>Gaussian Process Regression gave lowest error, but incurs cubic matrix inversion complexity.</a:t>
                      </a:r>
                    </a:p>
                  </a:txBody>
                  <a:tcPr>
                    <a:solidFill>
                      <a:srgbClr val="F9FAFC"/>
                    </a:solidFill>
                  </a:tcPr>
                </a:tc>
              </a:tr>
              <a:tr h="920000">
                <a:tc>
                  <a:txBody>
                    <a:bodyPr/>
                    <a:lstStyle/>
                    <a:p>
                      <a:pPr algn="l"/>
                      <a:r>
                        <a:rPr sz="880">
                          <a:solidFill>
                            <a:srgbClr val="831838"/>
                          </a:solidFill>
                          <a:latin typeface="Poppins"/>
                        </a:rPr>
                        <a:t>Wang et al.</a:t>
                      </a:r>
                    </a:p>
                  </a:txBody>
                  <a:tcPr>
                    <a:solidFill>
                      <a:srgbClr val="FFFFFF"/>
                    </a:solidFill>
                  </a:tcPr>
                </a:tc>
                <a:tc>
                  <a:txBody>
                    <a:bodyPr/>
                    <a:lstStyle/>
                    <a:p>
                      <a:pPr algn="ctr"/>
                      <a:r>
                        <a:rPr sz="880">
                          <a:solidFill>
                            <a:srgbClr val="1F2937"/>
                          </a:solidFill>
                          <a:latin typeface="Poppins"/>
                        </a:rPr>
                        <a:t>High-Fidelity SOC Estimation of Li-Ion Batteries using ML, arXiv (2019)</a:t>
                      </a:r>
                    </a:p>
                  </a:txBody>
                  <a:tcPr>
                    <a:solidFill>
                      <a:srgbClr val="FFFFFF"/>
                    </a:solidFill>
                  </a:tcPr>
                </a:tc>
                <a:tc>
                  <a:txBody>
                    <a:bodyPr/>
                    <a:lstStyle/>
                    <a:p>
                      <a:pPr algn="ctr"/>
                      <a:r>
                        <a:rPr sz="880">
                          <a:solidFill>
                            <a:srgbClr val="1F2937"/>
                          </a:solidFill>
                          <a:latin typeface="Poppins"/>
                        </a:rPr>
                        <a:t>Trained feedforward neural network on pulse-injection response data to map directly to SOC.</a:t>
                      </a:r>
                    </a:p>
                  </a:txBody>
                  <a:tcPr>
                    <a:solidFill>
                      <a:srgbClr val="FFFFFF"/>
                    </a:solidFill>
                  </a:tcPr>
                </a:tc>
                <a:tc>
                  <a:txBody>
                    <a:bodyPr/>
                    <a:lstStyle/>
                    <a:p>
                      <a:pPr algn="ctr"/>
                      <a:r>
                        <a:rPr sz="880">
                          <a:solidFill>
                            <a:srgbClr val="1F2937"/>
                          </a:solidFill>
                          <a:latin typeface="Poppins"/>
                        </a:rPr>
                        <a:t>Demonstrated that dynamic current step response features significantly improve ML accuracy.</a:t>
                      </a:r>
                    </a:p>
                  </a:txBody>
                  <a:tcPr>
                    <a:solidFill>
                      <a:srgbClr val="FFFFFF"/>
                    </a:solidFill>
                  </a:tcPr>
                </a:tc>
              </a:tr>
              <a:tr h="920000">
                <a:tc>
                  <a:txBody>
                    <a:bodyPr/>
                    <a:lstStyle/>
                    <a:p>
                      <a:pPr algn="l"/>
                      <a:r>
                        <a:rPr sz="880">
                          <a:solidFill>
                            <a:srgbClr val="831838"/>
                          </a:solidFill>
                          <a:latin typeface="Poppins"/>
                        </a:rPr>
                        <a:t>Zhang et al.</a:t>
                      </a:r>
                    </a:p>
                  </a:txBody>
                  <a:tcPr>
                    <a:solidFill>
                      <a:srgbClr val="F9FAFC"/>
                    </a:solidFill>
                  </a:tcPr>
                </a:tc>
                <a:tc>
                  <a:txBody>
                    <a:bodyPr/>
                    <a:lstStyle/>
                    <a:p>
                      <a:pPr algn="ctr"/>
                      <a:r>
                        <a:rPr sz="880">
                          <a:solidFill>
                            <a:srgbClr val="1F2937"/>
                          </a:solidFill>
                          <a:latin typeface="Poppins"/>
                        </a:rPr>
                        <a:t>SOC Estimation using CNN-Bi-LSTM-AM under Low Temperature, PMC (2024)</a:t>
                      </a:r>
                    </a:p>
                  </a:txBody>
                  <a:tcPr>
                    <a:solidFill>
                      <a:srgbClr val="F9FAFC"/>
                    </a:solidFill>
                  </a:tcPr>
                </a:tc>
                <a:tc>
                  <a:txBody>
                    <a:bodyPr/>
                    <a:lstStyle/>
                    <a:p>
                      <a:pPr algn="ctr"/>
                      <a:r>
                        <a:rPr sz="880">
                          <a:solidFill>
                            <a:srgbClr val="1F2937"/>
                          </a:solidFill>
                          <a:latin typeface="Poppins"/>
                        </a:rPr>
                        <a:t>Combined CNN, bidirectional LSTM, and attention mechanism for sequential time-series estimation.</a:t>
                      </a:r>
                    </a:p>
                  </a:txBody>
                  <a:tcPr>
                    <a:solidFill>
                      <a:srgbClr val="F9FAFC"/>
                    </a:solidFill>
                  </a:tcPr>
                </a:tc>
                <a:tc>
                  <a:txBody>
                    <a:bodyPr/>
                    <a:lstStyle/>
                    <a:p>
                      <a:pPr algn="ctr"/>
                      <a:r>
                        <a:rPr sz="880">
                          <a:solidFill>
                            <a:srgbClr val="1F2937"/>
                          </a:solidFill>
                          <a:latin typeface="Poppins"/>
                        </a:rPr>
                        <a:t>Achieved MAE of 0.17-0.77%, but requires high-end GPU/TPU accelerators; infeasible for edge MCUs.</a:t>
                      </a:r>
                    </a:p>
                  </a:txBody>
                  <a:tcPr>
                    <a:solidFill>
                      <a:srgbClr val="F9FAFC"/>
                    </a:solidFill>
                  </a:tcPr>
                </a:tc>
              </a:tr>
              <a:tr h="920000">
                <a:tc>
                  <a:txBody>
                    <a:bodyPr/>
                    <a:lstStyle/>
                    <a:p>
                      <a:pPr algn="l"/>
                      <a:r>
                        <a:rPr sz="880">
                          <a:solidFill>
                            <a:srgbClr val="831838"/>
                          </a:solidFill>
                          <a:latin typeface="Poppins"/>
                        </a:rPr>
                        <a:t>Yang et al.</a:t>
                      </a:r>
                    </a:p>
                  </a:txBody>
                  <a:tcPr>
                    <a:solidFill>
                      <a:srgbClr val="FFFFFF"/>
                    </a:solidFill>
                  </a:tcPr>
                </a:tc>
                <a:tc>
                  <a:txBody>
                    <a:bodyPr/>
                    <a:lstStyle/>
                    <a:p>
                      <a:pPr algn="ctr"/>
                      <a:r>
                        <a:rPr sz="880">
                          <a:solidFill>
                            <a:srgbClr val="1F2937"/>
                          </a:solidFill>
                          <a:latin typeface="Poppins"/>
                        </a:rPr>
                        <a:t>SOC Estimation using Residual CNNs, PMC (2022)</a:t>
                      </a:r>
                    </a:p>
                  </a:txBody>
                  <a:tcPr>
                    <a:solidFill>
                      <a:srgbClr val="FFFFFF"/>
                    </a:solidFill>
                  </a:tcPr>
                </a:tc>
                <a:tc>
                  <a:txBody>
                    <a:bodyPr/>
                    <a:lstStyle/>
                    <a:p>
                      <a:pPr algn="ctr"/>
                      <a:r>
                        <a:rPr sz="880">
                          <a:solidFill>
                            <a:srgbClr val="1F2937"/>
                          </a:solidFill>
                          <a:latin typeface="Poppins"/>
                        </a:rPr>
                        <a:t>Stacked multi-variable time-series inputs with residual CNN convolutional blocks to regress SOC.</a:t>
                      </a:r>
                    </a:p>
                  </a:txBody>
                  <a:tcPr>
                    <a:solidFill>
                      <a:srgbClr val="FFFFFF"/>
                    </a:solidFill>
                  </a:tcPr>
                </a:tc>
                <a:tc>
                  <a:txBody>
                    <a:bodyPr/>
                    <a:lstStyle/>
                    <a:p>
                      <a:pPr algn="ctr"/>
                      <a:r>
                        <a:rPr sz="880">
                          <a:solidFill>
                            <a:srgbClr val="1F2937"/>
                          </a:solidFill>
                          <a:latin typeface="Poppins"/>
                        </a:rPr>
                        <a:t>Deep architecture outperformed classical benchmarks, but requires substantial RAM and MAC operations.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Literature Review: Classical Methods  </a:t>
            </a:r>
            <a:r>
              <a:rPr sz="2500">
                <a:solidFill>
                  <a:srgbClr val="99A3AF"/>
                </a:solidFill>
                <a:latin typeface="Poppins"/>
              </a:rPr>
              <a:t>Slide 04a</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6</a:t>
            </a:r>
          </a:p>
        </p:txBody>
      </p:sp>
      <p:sp>
        <p:nvSpPr>
          <p:cNvPr id="7" name="Rounded Rectangle 6"/>
          <p:cNvSpPr/>
          <p:nvPr/>
        </p:nvSpPr>
        <p:spPr>
          <a:xfrm>
            <a:off x="411480" y="1520000"/>
            <a:ext cx="361152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7607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1</a:t>
            </a:r>
          </a:p>
        </p:txBody>
      </p:sp>
      <p:sp>
        <p:nvSpPr>
          <p:cNvPr id="9" name="TextBox 8"/>
          <p:cNvSpPr txBox="1"/>
          <p:nvPr/>
        </p:nvSpPr>
        <p:spPr>
          <a:xfrm>
            <a:off x="1033272" y="1657160"/>
            <a:ext cx="2834280" cy="384048"/>
          </a:xfrm>
          <a:prstGeom prst="rect">
            <a:avLst/>
          </a:prstGeom>
          <a:noFill/>
        </p:spPr>
        <p:txBody>
          <a:bodyPr wrap="square" lIns="0" rIns="0" tIns="0" bIns="0">
            <a:spAutoFit/>
          </a:bodyPr>
          <a:lstStyle/>
          <a:p>
            <a:r>
              <a:rPr sz="1200" b="1">
                <a:solidFill>
                  <a:srgbClr val="831838"/>
                </a:solidFill>
                <a:latin typeface="Poppins"/>
              </a:rPr>
              <a:t>1. Coulomb Counting (Ah-Integration)</a:t>
            </a:r>
          </a:p>
        </p:txBody>
      </p:sp>
      <p:sp>
        <p:nvSpPr>
          <p:cNvPr id="10" name="TextBox 9"/>
          <p:cNvSpPr txBox="1"/>
          <p:nvPr/>
        </p:nvSpPr>
        <p:spPr>
          <a:xfrm>
            <a:off x="594360" y="2105216"/>
            <a:ext cx="324576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Mathematical Principle: </a:t>
            </a:r>
            <a:r>
              <a:rPr sz="880">
                <a:solidFill>
                  <a:srgbClr val="4B5563"/>
                </a:solidFill>
                <a:latin typeface="Poppins"/>
              </a:rPr>
              <a:t>Integrates load current over time: SOC(t) = SOC0 - (1/Cn) ∫ i(τ) dτ.</a:t>
            </a:r>
          </a:p>
          <a:p>
            <a:pPr>
              <a:spcAft>
                <a:spcPts val="220"/>
              </a:spcAft>
            </a:pPr>
            <a:r>
              <a:rPr sz="919" b="1">
                <a:solidFill>
                  <a:srgbClr val="831838"/>
                </a:solidFill>
                <a:latin typeface="Poppins"/>
              </a:rPr>
              <a:t>Pros: </a:t>
            </a:r>
            <a:r>
              <a:rPr sz="880">
                <a:solidFill>
                  <a:srgbClr val="4B5563"/>
                </a:solidFill>
                <a:latin typeface="Poppins"/>
              </a:rPr>
              <a:t>Very simple mathematical implementation; minimal computational footprint (1.10 µs on MCU); zero electrochemical cell modeling required.</a:t>
            </a:r>
          </a:p>
          <a:p>
            <a:pPr>
              <a:spcAft>
                <a:spcPts val="220"/>
              </a:spcAft>
            </a:pPr>
            <a:r>
              <a:rPr sz="919" b="1">
                <a:solidFill>
                  <a:srgbClr val="1F2937"/>
                </a:solidFill>
                <a:latin typeface="Poppins"/>
              </a:rPr>
              <a:t>Cons: </a:t>
            </a:r>
            <a:r>
              <a:rPr sz="880">
                <a:solidFill>
                  <a:srgbClr val="4B5563"/>
                </a:solidFill>
                <a:latin typeface="Poppins"/>
              </a:rPr>
              <a:t>Open-loop integration means current sensor noise and DC bias accumulate indefinitely over time.</a:t>
            </a:r>
          </a:p>
          <a:p>
            <a:pPr>
              <a:spcAft>
                <a:spcPts val="220"/>
              </a:spcAft>
            </a:pPr>
            <a:r>
              <a:rPr sz="919" b="1">
                <a:solidFill>
                  <a:srgbClr val="1F2937"/>
                </a:solidFill>
                <a:latin typeface="Poppins"/>
              </a:rPr>
              <a:t>Fatal Bottleneck: </a:t>
            </a:r>
            <a:r>
              <a:rPr sz="880">
                <a:solidFill>
                  <a:srgbClr val="4B5563"/>
                </a:solidFill>
                <a:latin typeface="Poppins"/>
              </a:rPr>
              <a:t>Requires exact knowledge of initial SOC0. If initialized with a 10% error, Coulomb Counting error explodes to 11.23% MAE with no self-correcting feedback mechanism.</a:t>
            </a:r>
          </a:p>
        </p:txBody>
      </p:sp>
      <p:sp>
        <p:nvSpPr>
          <p:cNvPr id="11" name="Rounded Rectangle 10"/>
          <p:cNvSpPr/>
          <p:nvPr/>
        </p:nvSpPr>
        <p:spPr>
          <a:xfrm>
            <a:off x="4289240" y="1520000"/>
            <a:ext cx="361152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383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2</a:t>
            </a:r>
          </a:p>
        </p:txBody>
      </p:sp>
      <p:sp>
        <p:nvSpPr>
          <p:cNvPr id="13" name="TextBox 12"/>
          <p:cNvSpPr txBox="1"/>
          <p:nvPr/>
        </p:nvSpPr>
        <p:spPr>
          <a:xfrm>
            <a:off x="4911032" y="1657160"/>
            <a:ext cx="2834280" cy="384048"/>
          </a:xfrm>
          <a:prstGeom prst="rect">
            <a:avLst/>
          </a:prstGeom>
          <a:noFill/>
        </p:spPr>
        <p:txBody>
          <a:bodyPr wrap="square" lIns="0" rIns="0" tIns="0" bIns="0">
            <a:spAutoFit/>
          </a:bodyPr>
          <a:lstStyle/>
          <a:p>
            <a:r>
              <a:rPr sz="1200" b="1">
                <a:solidFill>
                  <a:srgbClr val="831838"/>
                </a:solidFill>
                <a:latin typeface="Poppins"/>
              </a:rPr>
              <a:t>2. Open Circuit Voltage (OCV Lookup)</a:t>
            </a:r>
          </a:p>
        </p:txBody>
      </p:sp>
      <p:sp>
        <p:nvSpPr>
          <p:cNvPr id="14" name="TextBox 13"/>
          <p:cNvSpPr txBox="1"/>
          <p:nvPr/>
        </p:nvSpPr>
        <p:spPr>
          <a:xfrm>
            <a:off x="4472120" y="2105216"/>
            <a:ext cx="324576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Mathematical Principle: </a:t>
            </a:r>
            <a:r>
              <a:rPr sz="880">
                <a:solidFill>
                  <a:srgbClr val="4B5563"/>
                </a:solidFill>
                <a:latin typeface="Poppins"/>
              </a:rPr>
              <a:t>Inverts static thermodynamic equilibrium relationship: SOC = f_OCV^-1(V_oc).</a:t>
            </a:r>
          </a:p>
          <a:p>
            <a:pPr>
              <a:spcAft>
                <a:spcPts val="220"/>
              </a:spcAft>
            </a:pPr>
            <a:r>
              <a:rPr sz="919" b="1">
                <a:solidFill>
                  <a:srgbClr val="831838"/>
                </a:solidFill>
                <a:latin typeface="Poppins"/>
              </a:rPr>
              <a:t>Pros: </a:t>
            </a:r>
            <a:r>
              <a:rPr sz="880">
                <a:solidFill>
                  <a:srgbClr val="4B5563"/>
                </a:solidFill>
                <a:latin typeface="Poppins"/>
              </a:rPr>
              <a:t>Extremely accurate when battery is at true chemical equilibrium; zero sensor bias accumulation over time.</a:t>
            </a:r>
          </a:p>
          <a:p>
            <a:pPr>
              <a:spcAft>
                <a:spcPts val="220"/>
              </a:spcAft>
            </a:pPr>
            <a:r>
              <a:rPr sz="919" b="1">
                <a:solidFill>
                  <a:srgbClr val="1F2937"/>
                </a:solidFill>
                <a:latin typeface="Poppins"/>
              </a:rPr>
              <a:t>Cons: </a:t>
            </a:r>
            <a:r>
              <a:rPr sz="880">
                <a:solidFill>
                  <a:srgbClr val="4B5563"/>
                </a:solidFill>
                <a:latin typeface="Poppins"/>
              </a:rPr>
              <a:t>Completely unusable during active dynamic operation due to load-induced IR ohmic voltage drop and diffusion polarization.</a:t>
            </a:r>
          </a:p>
          <a:p>
            <a:pPr>
              <a:spcAft>
                <a:spcPts val="220"/>
              </a:spcAft>
            </a:pPr>
            <a:r>
              <a:rPr sz="919" b="1">
                <a:solidFill>
                  <a:srgbClr val="1F2937"/>
                </a:solidFill>
                <a:latin typeface="Poppins"/>
              </a:rPr>
              <a:t>Fatal Bottleneck: </a:t>
            </a:r>
            <a:r>
              <a:rPr sz="880">
                <a:solidFill>
                  <a:srgbClr val="4B5563"/>
                </a:solidFill>
                <a:latin typeface="Poppins"/>
              </a:rPr>
              <a:t>Demands hours of resting time (3 to 6 hours) for terminal voltage relaxation before accurate OCV readings can be acquired; impractical for active driving.</a:t>
            </a:r>
          </a:p>
        </p:txBody>
      </p:sp>
      <p:sp>
        <p:nvSpPr>
          <p:cNvPr id="15" name="Rounded Rectangle 14"/>
          <p:cNvSpPr/>
          <p:nvPr/>
        </p:nvSpPr>
        <p:spPr>
          <a:xfrm>
            <a:off x="8167000" y="1520000"/>
            <a:ext cx="361152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3159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3</a:t>
            </a:r>
          </a:p>
        </p:txBody>
      </p:sp>
      <p:sp>
        <p:nvSpPr>
          <p:cNvPr id="17" name="TextBox 16"/>
          <p:cNvSpPr txBox="1"/>
          <p:nvPr/>
        </p:nvSpPr>
        <p:spPr>
          <a:xfrm>
            <a:off x="8788792" y="1657160"/>
            <a:ext cx="2834280" cy="384048"/>
          </a:xfrm>
          <a:prstGeom prst="rect">
            <a:avLst/>
          </a:prstGeom>
          <a:noFill/>
        </p:spPr>
        <p:txBody>
          <a:bodyPr wrap="square" lIns="0" rIns="0" tIns="0" bIns="0">
            <a:spAutoFit/>
          </a:bodyPr>
          <a:lstStyle/>
          <a:p>
            <a:r>
              <a:rPr sz="1200" b="1">
                <a:solidFill>
                  <a:srgbClr val="831838"/>
                </a:solidFill>
                <a:latin typeface="Poppins"/>
              </a:rPr>
              <a:t>3. Model-Based (Kalman Filters / ECM)</a:t>
            </a:r>
          </a:p>
        </p:txBody>
      </p:sp>
      <p:sp>
        <p:nvSpPr>
          <p:cNvPr id="18" name="TextBox 17"/>
          <p:cNvSpPr txBox="1"/>
          <p:nvPr/>
        </p:nvSpPr>
        <p:spPr>
          <a:xfrm>
            <a:off x="8349880" y="2105216"/>
            <a:ext cx="324576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Mathematical Principle: </a:t>
            </a:r>
            <a:r>
              <a:rPr sz="880">
                <a:solidFill>
                  <a:srgbClr val="4B5563"/>
                </a:solidFill>
                <a:latin typeface="Poppins"/>
              </a:rPr>
              <a:t>State-space observer using Thevenin 1-RC equivalent circuit model (EKF / SPKF) with covariance updates.</a:t>
            </a:r>
          </a:p>
          <a:p>
            <a:pPr>
              <a:spcAft>
                <a:spcPts val="220"/>
              </a:spcAft>
            </a:pPr>
            <a:r>
              <a:rPr sz="919" b="1">
                <a:solidFill>
                  <a:srgbClr val="831838"/>
                </a:solidFill>
                <a:latin typeface="Poppins"/>
              </a:rPr>
              <a:t>Pros: </a:t>
            </a:r>
            <a:r>
              <a:rPr sz="880">
                <a:solidFill>
                  <a:srgbClr val="4B5563"/>
                </a:solidFill>
                <a:latin typeface="Poppins"/>
              </a:rPr>
              <a:t>Closed-loop observer feedback; dynamically tracks internal RC polarization and provides theoretical error covariance bounds.</a:t>
            </a:r>
          </a:p>
          <a:p>
            <a:pPr>
              <a:spcAft>
                <a:spcPts val="220"/>
              </a:spcAft>
            </a:pPr>
            <a:r>
              <a:rPr sz="919" b="1">
                <a:solidFill>
                  <a:srgbClr val="1F2937"/>
                </a:solidFill>
                <a:latin typeface="Poppins"/>
              </a:rPr>
              <a:t>Cons: </a:t>
            </a:r>
            <a:r>
              <a:rPr sz="880">
                <a:solidFill>
                  <a:srgbClr val="4B5563"/>
                </a:solidFill>
                <a:latin typeface="Poppins"/>
              </a:rPr>
              <a:t>Demands intensive laboratory parameter identification (R0, R1, C1 across temperature and SOC levels); high matrix inversion overhead (42-118 µs on MCU).</a:t>
            </a:r>
          </a:p>
          <a:p>
            <a:pPr>
              <a:spcAft>
                <a:spcPts val="220"/>
              </a:spcAft>
            </a:pPr>
            <a:r>
              <a:rPr sz="919" b="1">
                <a:solidFill>
                  <a:srgbClr val="1F2937"/>
                </a:solidFill>
                <a:latin typeface="Poppins"/>
              </a:rPr>
              <a:t>Fatal Bottleneck: </a:t>
            </a:r>
            <a:r>
              <a:rPr sz="880">
                <a:solidFill>
                  <a:srgbClr val="4B5563"/>
                </a:solidFill>
                <a:latin typeface="Poppins"/>
              </a:rPr>
              <a:t>State transition equation relies on Coulomb counting; under steady DC current sensor bias (+30 mA), Kalman state estimates drift steadily (6.02% MAE).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Literature Review: AI &amp; Hybrid Frameworks  </a:t>
            </a:r>
            <a:r>
              <a:rPr sz="2500">
                <a:solidFill>
                  <a:srgbClr val="99A3AF"/>
                </a:solidFill>
                <a:latin typeface="Poppins"/>
              </a:rPr>
              <a:t>Slide 04b</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7</a:t>
            </a:r>
          </a:p>
        </p:txBody>
      </p:sp>
      <p:sp>
        <p:nvSpPr>
          <p:cNvPr id="7" name="Rounded Rectangle 6"/>
          <p:cNvSpPr/>
          <p:nvPr/>
        </p:nvSpPr>
        <p:spPr>
          <a:xfrm>
            <a:off x="411480" y="1520000"/>
            <a:ext cx="555000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7607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4</a:t>
            </a:r>
          </a:p>
        </p:txBody>
      </p:sp>
      <p:sp>
        <p:nvSpPr>
          <p:cNvPr id="9" name="TextBox 8"/>
          <p:cNvSpPr txBox="1"/>
          <p:nvPr/>
        </p:nvSpPr>
        <p:spPr>
          <a:xfrm>
            <a:off x="1033272" y="1657160"/>
            <a:ext cx="4772760" cy="384048"/>
          </a:xfrm>
          <a:prstGeom prst="rect">
            <a:avLst/>
          </a:prstGeom>
          <a:noFill/>
        </p:spPr>
        <p:txBody>
          <a:bodyPr wrap="square" lIns="0" rIns="0" tIns="0" bIns="0">
            <a:spAutoFit/>
          </a:bodyPr>
          <a:lstStyle/>
          <a:p>
            <a:r>
              <a:rPr sz="1200" b="1">
                <a:solidFill>
                  <a:srgbClr val="831838"/>
                </a:solidFill>
                <a:latin typeface="Poppins"/>
              </a:rPr>
              <a:t>4. Machine Learning / AI Approaches</a:t>
            </a:r>
          </a:p>
        </p:txBody>
      </p:sp>
      <p:sp>
        <p:nvSpPr>
          <p:cNvPr id="10" name="TextBox 9"/>
          <p:cNvSpPr txBox="1"/>
          <p:nvPr/>
        </p:nvSpPr>
        <p:spPr>
          <a:xfrm>
            <a:off x="594360" y="2105216"/>
            <a:ext cx="5184240" cy="3991632"/>
          </a:xfrm>
          <a:prstGeom prst="rect">
            <a:avLst/>
          </a:prstGeom>
          <a:noFill/>
        </p:spPr>
        <p:txBody>
          <a:bodyPr wrap="square" lIns="0" rIns="0" tIns="0" bIns="0">
            <a:spAutoFit/>
          </a:bodyPr>
          <a:lstStyle/>
          <a:p>
            <a:pPr>
              <a:spcAft>
                <a:spcPts val="220"/>
              </a:spcAft>
            </a:pPr>
            <a:r>
              <a:rPr sz="919" b="1">
                <a:solidFill>
                  <a:srgbClr val="831838"/>
                </a:solidFill>
                <a:latin typeface="Poppins"/>
              </a:rPr>
              <a:t>Architecture Diversity: </a:t>
            </a:r>
            <a:r>
              <a:rPr sz="880">
                <a:solidFill>
                  <a:srgbClr val="4B5563"/>
                </a:solidFill>
                <a:latin typeface="Poppins"/>
              </a:rPr>
              <a:t>Data-driven non-linear mapping from operational sensor measurements directly to battery states.</a:t>
            </a:r>
          </a:p>
          <a:p>
            <a:pPr>
              <a:spcAft>
                <a:spcPts val="220"/>
              </a:spcAft>
            </a:pPr>
            <a:r>
              <a:rPr sz="919" b="1">
                <a:solidFill>
                  <a:srgbClr val="1F2937"/>
                </a:solidFill>
                <a:latin typeface="Poppins"/>
              </a:rPr>
              <a:t>LSTM (Long Short-Term Memory): </a:t>
            </a:r>
            <a:r>
              <a:rPr sz="880">
                <a:solidFill>
                  <a:srgbClr val="4B5563"/>
                </a:solidFill>
                <a:latin typeface="Poppins"/>
              </a:rPr>
              <a:t>Recurrent neural network with gating cells; excels at learning long-term temporal degradation patterns from dynamic time-series sequences.</a:t>
            </a:r>
          </a:p>
          <a:p>
            <a:pPr>
              <a:spcAft>
                <a:spcPts val="220"/>
              </a:spcAft>
            </a:pPr>
            <a:r>
              <a:rPr sz="919" b="1">
                <a:solidFill>
                  <a:srgbClr val="1F2937"/>
                </a:solidFill>
                <a:latin typeface="Poppins"/>
              </a:rPr>
              <a:t>Random Forest / Gradient Boosting: </a:t>
            </a:r>
            <a:r>
              <a:rPr sz="880">
                <a:solidFill>
                  <a:srgbClr val="4B5563"/>
                </a:solidFill>
                <a:latin typeface="Poppins"/>
              </a:rPr>
              <a:t>Decision tree ensembles; captures non-linear orthogonal splits of statistical features → SOH and tabular SOC estimation.</a:t>
            </a:r>
          </a:p>
          <a:p>
            <a:pPr>
              <a:spcAft>
                <a:spcPts val="220"/>
              </a:spcAft>
            </a:pPr>
            <a:r>
              <a:rPr sz="919" b="1">
                <a:solidFill>
                  <a:srgbClr val="831838"/>
                </a:solidFill>
                <a:latin typeface="Poppins"/>
              </a:rPr>
              <a:t>Neural Networks (MLP / CNN): </a:t>
            </a:r>
            <a:r>
              <a:rPr sz="880">
                <a:solidFill>
                  <a:srgbClr val="4B5563"/>
                </a:solidFill>
                <a:latin typeface="Poppins"/>
              </a:rPr>
              <a:t>End-to-end multi-variable mapping directly on voltage, current, temperature, and cycle count; smooth non-linear activation functions.</a:t>
            </a:r>
          </a:p>
          <a:p>
            <a:pPr>
              <a:spcAft>
                <a:spcPts val="220"/>
              </a:spcAft>
            </a:pPr>
            <a:r>
              <a:rPr sz="919" b="1">
                <a:solidFill>
                  <a:srgbClr val="831838"/>
                </a:solidFill>
                <a:latin typeface="Poppins"/>
              </a:rPr>
              <a:t>Pros: </a:t>
            </a:r>
            <a:r>
              <a:rPr sz="880">
                <a:solidFill>
                  <a:srgbClr val="4B5563"/>
                </a:solidFill>
                <a:latin typeface="Poppins"/>
              </a:rPr>
              <a:t>Completely model-free; captures multi-physics electrochemical degradation and temperature shifts without requiring laboratory cell equations.</a:t>
            </a:r>
          </a:p>
          <a:p>
            <a:pPr>
              <a:spcAft>
                <a:spcPts val="220"/>
              </a:spcAft>
            </a:pPr>
            <a:r>
              <a:rPr sz="919" b="1">
                <a:solidFill>
                  <a:srgbClr val="1F2937"/>
                </a:solidFill>
                <a:latin typeface="Poppins"/>
              </a:rPr>
              <a:t>Cons: </a:t>
            </a:r>
            <a:r>
              <a:rPr sz="880">
                <a:solidFill>
                  <a:srgbClr val="4B5563"/>
                </a:solidFill>
                <a:latin typeface="Poppins"/>
              </a:rPr>
              <a:t>Requires large labeled training datasets; high computational/memory overhead for complex models on embedded microcontrollers.</a:t>
            </a:r>
          </a:p>
        </p:txBody>
      </p:sp>
      <p:sp>
        <p:nvSpPr>
          <p:cNvPr id="11" name="Rounded Rectangle 10"/>
          <p:cNvSpPr/>
          <p:nvPr/>
        </p:nvSpPr>
        <p:spPr>
          <a:xfrm>
            <a:off x="6230000" y="1520000"/>
            <a:ext cx="555000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9459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5</a:t>
            </a:r>
          </a:p>
        </p:txBody>
      </p:sp>
      <p:sp>
        <p:nvSpPr>
          <p:cNvPr id="13" name="TextBox 12"/>
          <p:cNvSpPr txBox="1"/>
          <p:nvPr/>
        </p:nvSpPr>
        <p:spPr>
          <a:xfrm>
            <a:off x="6851792" y="1657160"/>
            <a:ext cx="4772760" cy="384048"/>
          </a:xfrm>
          <a:prstGeom prst="rect">
            <a:avLst/>
          </a:prstGeom>
          <a:noFill/>
        </p:spPr>
        <p:txBody>
          <a:bodyPr wrap="square" lIns="0" rIns="0" tIns="0" bIns="0">
            <a:spAutoFit/>
          </a:bodyPr>
          <a:lstStyle/>
          <a:p>
            <a:r>
              <a:rPr sz="1200" b="1">
                <a:solidFill>
                  <a:srgbClr val="831838"/>
                </a:solidFill>
                <a:latin typeface="Poppins"/>
              </a:rPr>
              <a:t>5. Hybrid Methods (Industry Standard)</a:t>
            </a:r>
          </a:p>
        </p:txBody>
      </p:sp>
      <p:sp>
        <p:nvSpPr>
          <p:cNvPr id="14" name="TextBox 13"/>
          <p:cNvSpPr txBox="1"/>
          <p:nvPr/>
        </p:nvSpPr>
        <p:spPr>
          <a:xfrm>
            <a:off x="6412880" y="2105216"/>
            <a:ext cx="5184240" cy="3991632"/>
          </a:xfrm>
          <a:prstGeom prst="rect">
            <a:avLst/>
          </a:prstGeom>
          <a:noFill/>
        </p:spPr>
        <p:txBody>
          <a:bodyPr wrap="square" lIns="0" rIns="0" tIns="0" bIns="0">
            <a:spAutoFit/>
          </a:bodyPr>
          <a:lstStyle/>
          <a:p>
            <a:pPr>
              <a:spcAft>
                <a:spcPts val="220"/>
              </a:spcAft>
            </a:pPr>
            <a:r>
              <a:rPr sz="919" b="1">
                <a:solidFill>
                  <a:srgbClr val="831838"/>
                </a:solidFill>
                <a:latin typeface="Poppins"/>
              </a:rPr>
              <a:t>Core Architectural Concept: </a:t>
            </a:r>
            <a:r>
              <a:rPr sz="880">
                <a:solidFill>
                  <a:srgbClr val="4B5563"/>
                </a:solidFill>
                <a:latin typeface="Poppins"/>
              </a:rPr>
              <a:t>Combines two or more complementary physics-based and data-driven methodologies to eliminate individual weaknesses:</a:t>
            </a:r>
          </a:p>
          <a:p>
            <a:pPr>
              <a:spcAft>
                <a:spcPts val="220"/>
              </a:spcAft>
            </a:pPr>
            <a:r>
              <a:rPr sz="919" b="1">
                <a:solidFill>
                  <a:srgbClr val="1F2937"/>
                </a:solidFill>
                <a:latin typeface="Poppins"/>
              </a:rPr>
              <a:t>Capacity + EIS: </a:t>
            </a:r>
            <a:r>
              <a:rPr sz="880">
                <a:solidFill>
                  <a:srgbClr val="4B5563"/>
                </a:solidFill>
                <a:latin typeface="Poppins"/>
              </a:rPr>
              <a:t>Periodic Electrochemical Impedance Spectroscopy (EIS) across high-frequency AC perturbation paired with continuous Ah capacity tracking.</a:t>
            </a:r>
          </a:p>
          <a:p>
            <a:pPr>
              <a:spcAft>
                <a:spcPts val="220"/>
              </a:spcAft>
            </a:pPr>
            <a:r>
              <a:rPr sz="919" b="1">
                <a:solidFill>
                  <a:srgbClr val="831838"/>
                </a:solidFill>
                <a:latin typeface="Poppins"/>
              </a:rPr>
              <a:t>Model-Based + ML: </a:t>
            </a:r>
            <a:r>
              <a:rPr sz="880">
                <a:solidFill>
                  <a:srgbClr val="4B5563"/>
                </a:solidFill>
                <a:latin typeface="Poppins"/>
              </a:rPr>
              <a:t>Physical Kalman filter (EKF/SPKF) acts as the primary state observer, while a neural network correction layer learns residual non-linear modeling errors.</a:t>
            </a:r>
          </a:p>
          <a:p>
            <a:pPr>
              <a:spcAft>
                <a:spcPts val="220"/>
              </a:spcAft>
            </a:pPr>
            <a:r>
              <a:rPr sz="919" b="1">
                <a:solidFill>
                  <a:srgbClr val="831838"/>
                </a:solidFill>
                <a:latin typeface="Poppins"/>
              </a:rPr>
              <a:t>ICA + ML: </a:t>
            </a:r>
            <a:r>
              <a:rPr sz="880">
                <a:solidFill>
                  <a:srgbClr val="4B5563"/>
                </a:solidFill>
                <a:latin typeface="Poppins"/>
              </a:rPr>
              <a:t>Incremental Capacity Analysis (dQ/dV peak feature extraction) paired with ML regression algorithms for precise State of Health (SOH) degradation estimation.</a:t>
            </a:r>
          </a:p>
          <a:p>
            <a:pPr>
              <a:spcAft>
                <a:spcPts val="220"/>
              </a:spcAft>
            </a:pPr>
            <a:r>
              <a:rPr sz="919" b="1">
                <a:solidFill>
                  <a:srgbClr val="1F2937"/>
                </a:solidFill>
                <a:latin typeface="Poppins"/>
              </a:rPr>
              <a:t>Industry Advantage: </a:t>
            </a:r>
            <a:r>
              <a:rPr sz="880">
                <a:solidFill>
                  <a:srgbClr val="4B5563"/>
                </a:solidFill>
                <a:latin typeface="Poppins"/>
              </a:rPr>
              <a:t>Guarantees physical safety boundaries via ECM physics while harnessing ML adaptability for complex unmodeled aging effects.</a:t>
            </a:r>
          </a:p>
          <a:p>
            <a:pPr>
              <a:spcAft>
                <a:spcPts val="220"/>
              </a:spcAft>
            </a:pPr>
            <a:r>
              <a:rPr sz="919" b="1">
                <a:solidFill>
                  <a:srgbClr val="1F2937"/>
                </a:solidFill>
                <a:latin typeface="Poppins"/>
              </a:rPr>
              <a:t>Implementation Trade-off: </a:t>
            </a:r>
            <a:r>
              <a:rPr sz="880">
                <a:solidFill>
                  <a:srgbClr val="4B5563"/>
                </a:solidFill>
                <a:latin typeface="Poppins"/>
              </a:rPr>
              <a:t>Demands complex high-frequency AC excitation circuitry and multi-parameter joint calibration overhead.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Project Objective  </a:t>
            </a:r>
            <a:r>
              <a:rPr sz="2500">
                <a:solidFill>
                  <a:srgbClr val="99A3AF"/>
                </a:solidFill>
                <a:latin typeface="Poppins"/>
              </a:rPr>
              <a:t>Slide 05</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8</a:t>
            </a:r>
          </a:p>
        </p:txBody>
      </p:sp>
      <p:sp>
        <p:nvSpPr>
          <p:cNvPr id="7" name="Rounded Rectangle 6"/>
          <p:cNvSpPr/>
          <p:nvPr/>
        </p:nvSpPr>
        <p:spPr>
          <a:xfrm>
            <a:off x="411480" y="1500000"/>
            <a:ext cx="11368440" cy="13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37160"/>
            <a:ext cx="10911240" cy="384048"/>
          </a:xfrm>
          <a:prstGeom prst="rect">
            <a:avLst/>
          </a:prstGeom>
          <a:noFill/>
        </p:spPr>
        <p:txBody>
          <a:bodyPr wrap="square" lIns="0" rIns="0" tIns="0" bIns="0">
            <a:spAutoFit/>
          </a:bodyPr>
          <a:lstStyle/>
          <a:p>
            <a:r>
              <a:rPr sz="1200" b="1">
                <a:solidFill>
                  <a:srgbClr val="831838"/>
                </a:solidFill>
                <a:latin typeface="Poppins"/>
              </a:rPr>
              <a:t>PRIMARY PROJECT OBJECTIVE</a:t>
            </a:r>
          </a:p>
        </p:txBody>
      </p:sp>
      <p:sp>
        <p:nvSpPr>
          <p:cNvPr id="9" name="TextBox 8"/>
          <p:cNvSpPr txBox="1"/>
          <p:nvPr/>
        </p:nvSpPr>
        <p:spPr>
          <a:xfrm>
            <a:off x="594360" y="2085216"/>
            <a:ext cx="11002680" cy="691632"/>
          </a:xfrm>
          <a:prstGeom prst="rect">
            <a:avLst/>
          </a:prstGeom>
          <a:noFill/>
        </p:spPr>
        <p:txBody>
          <a:bodyPr wrap="square" lIns="0" rIns="0" tIns="0" bIns="0">
            <a:spAutoFit/>
          </a:bodyPr>
          <a:lstStyle/>
          <a:p>
            <a:pPr>
              <a:spcAft>
                <a:spcPts val="220"/>
              </a:spcAft>
            </a:pPr>
            <a:r>
              <a:rPr sz="919" b="1">
                <a:solidFill>
                  <a:srgbClr val="1F2937"/>
                </a:solidFill>
                <a:latin typeface="Poppins"/>
              </a:rPr>
              <a:t>System Goal: </a:t>
            </a:r>
            <a:r>
              <a:rPr sz="880">
                <a:solidFill>
                  <a:srgbClr val="4B5563"/>
                </a:solidFill>
                <a:latin typeface="Poppins"/>
              </a:rPr>
              <a:t>To design, implement, and benchmark a digital twin of a low-cost, real-time, ESP32-based battery monitoring system that employs a lightweight Machine Learning model to estimate State of Charge (SOC) and streams live voltage, current, SOH, and charging status to an interactive web dashboard.</a:t>
            </a:r>
          </a:p>
        </p:txBody>
      </p:sp>
      <p:sp>
        <p:nvSpPr>
          <p:cNvPr id="10" name="Rounded Rectangle 9"/>
          <p:cNvSpPr/>
          <p:nvPr/>
        </p:nvSpPr>
        <p:spPr>
          <a:xfrm>
            <a:off x="411480" y="3050000"/>
            <a:ext cx="5550000" cy="15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76072" y="319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01</a:t>
            </a:r>
          </a:p>
        </p:txBody>
      </p:sp>
      <p:sp>
        <p:nvSpPr>
          <p:cNvPr id="12" name="TextBox 11"/>
          <p:cNvSpPr txBox="1"/>
          <p:nvPr/>
        </p:nvSpPr>
        <p:spPr>
          <a:xfrm>
            <a:off x="1033272" y="3187160"/>
            <a:ext cx="4772760" cy="384048"/>
          </a:xfrm>
          <a:prstGeom prst="rect">
            <a:avLst/>
          </a:prstGeom>
          <a:noFill/>
        </p:spPr>
        <p:txBody>
          <a:bodyPr wrap="square" lIns="0" rIns="0" tIns="0" bIns="0">
            <a:spAutoFit/>
          </a:bodyPr>
          <a:lstStyle/>
          <a:p>
            <a:r>
              <a:rPr sz="1200" b="1">
                <a:solidFill>
                  <a:srgbClr val="831838"/>
                </a:solidFill>
                <a:latin typeface="Poppins"/>
              </a:rPr>
              <a:t>Dataset Preparation &amp; Ground Truth</a:t>
            </a:r>
          </a:p>
        </p:txBody>
      </p:sp>
      <p:sp>
        <p:nvSpPr>
          <p:cNvPr id="13" name="TextBox 12"/>
          <p:cNvSpPr txBox="1"/>
          <p:nvPr/>
        </p:nvSpPr>
        <p:spPr>
          <a:xfrm>
            <a:off x="594360" y="3635216"/>
            <a:ext cx="5184240" cy="891632"/>
          </a:xfrm>
          <a:prstGeom prst="rect">
            <a:avLst/>
          </a:prstGeom>
          <a:noFill/>
        </p:spPr>
        <p:txBody>
          <a:bodyPr wrap="square" lIns="0" rIns="0" tIns="0" bIns="0">
            <a:spAutoFit/>
          </a:bodyPr>
          <a:lstStyle/>
          <a:p>
            <a:pPr>
              <a:spcAft>
                <a:spcPts val="220"/>
              </a:spcAft>
            </a:pPr>
            <a:r>
              <a:rPr sz="919" b="1">
                <a:solidFill>
                  <a:srgbClr val="1F2937"/>
                </a:solidFill>
                <a:latin typeface="Poppins"/>
              </a:rPr>
              <a:t>NASA Aging Logs: </a:t>
            </a:r>
            <a:r>
              <a:rPr sz="880">
                <a:solidFill>
                  <a:srgbClr val="4B5563"/>
                </a:solidFill>
                <a:latin typeface="Poppins"/>
              </a:rPr>
              <a:t>Process 60 NASA charge/discharge files, average 4-wire Kelvin probe voltages, resample to uniform 5 s grid, and derive coulomb-counting reference labels.</a:t>
            </a:r>
          </a:p>
        </p:txBody>
      </p:sp>
      <p:sp>
        <p:nvSpPr>
          <p:cNvPr id="14" name="Rounded Rectangle 13"/>
          <p:cNvSpPr/>
          <p:nvPr/>
        </p:nvSpPr>
        <p:spPr>
          <a:xfrm>
            <a:off x="6229920" y="3050000"/>
            <a:ext cx="5550000" cy="15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94512" y="319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02</a:t>
            </a:r>
          </a:p>
        </p:txBody>
      </p:sp>
      <p:sp>
        <p:nvSpPr>
          <p:cNvPr id="16" name="TextBox 15"/>
          <p:cNvSpPr txBox="1"/>
          <p:nvPr/>
        </p:nvSpPr>
        <p:spPr>
          <a:xfrm>
            <a:off x="6851712" y="3187160"/>
            <a:ext cx="4772760" cy="384048"/>
          </a:xfrm>
          <a:prstGeom prst="rect">
            <a:avLst/>
          </a:prstGeom>
          <a:noFill/>
        </p:spPr>
        <p:txBody>
          <a:bodyPr wrap="square" lIns="0" rIns="0" tIns="0" bIns="0">
            <a:spAutoFit/>
          </a:bodyPr>
          <a:lstStyle/>
          <a:p>
            <a:r>
              <a:rPr sz="1200" b="1">
                <a:solidFill>
                  <a:srgbClr val="831838"/>
                </a:solidFill>
                <a:latin typeface="Poppins"/>
              </a:rPr>
              <a:t>Lightweight ML Model Development</a:t>
            </a:r>
          </a:p>
        </p:txBody>
      </p:sp>
      <p:sp>
        <p:nvSpPr>
          <p:cNvPr id="17" name="TextBox 16"/>
          <p:cNvSpPr txBox="1"/>
          <p:nvPr/>
        </p:nvSpPr>
        <p:spPr>
          <a:xfrm>
            <a:off x="6412800" y="3635216"/>
            <a:ext cx="5184240" cy="891632"/>
          </a:xfrm>
          <a:prstGeom prst="rect">
            <a:avLst/>
          </a:prstGeom>
          <a:noFill/>
        </p:spPr>
        <p:txBody>
          <a:bodyPr wrap="square" lIns="0" rIns="0" tIns="0" bIns="0">
            <a:spAutoFit/>
          </a:bodyPr>
          <a:lstStyle/>
          <a:p>
            <a:pPr>
              <a:spcAft>
                <a:spcPts val="220"/>
              </a:spcAft>
            </a:pPr>
            <a:r>
              <a:rPr sz="919" b="1">
                <a:solidFill>
                  <a:srgbClr val="831838"/>
                </a:solidFill>
                <a:latin typeface="Poppins"/>
              </a:rPr>
              <a:t>MLP 3-16-1 Engine: </a:t>
            </a:r>
            <a:r>
              <a:rPr sz="880">
                <a:solidFill>
                  <a:srgbClr val="4B5563"/>
                </a:solidFill>
                <a:latin typeface="Poppins"/>
              </a:rPr>
              <a:t>Train a compact 3-16-1 tanh MLP in Python with hardware noise augmentation; benchmark against Random Forest and Linear Regression baselines.</a:t>
            </a:r>
          </a:p>
        </p:txBody>
      </p:sp>
      <p:sp>
        <p:nvSpPr>
          <p:cNvPr id="18" name="Rounded Rectangle 17"/>
          <p:cNvSpPr/>
          <p:nvPr/>
        </p:nvSpPr>
        <p:spPr>
          <a:xfrm>
            <a:off x="411480" y="4760000"/>
            <a:ext cx="5550000" cy="15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6072" y="490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03</a:t>
            </a:r>
          </a:p>
        </p:txBody>
      </p:sp>
      <p:sp>
        <p:nvSpPr>
          <p:cNvPr id="20" name="TextBox 19"/>
          <p:cNvSpPr txBox="1"/>
          <p:nvPr/>
        </p:nvSpPr>
        <p:spPr>
          <a:xfrm>
            <a:off x="1033272" y="4897160"/>
            <a:ext cx="4772760" cy="384048"/>
          </a:xfrm>
          <a:prstGeom prst="rect">
            <a:avLst/>
          </a:prstGeom>
          <a:noFill/>
        </p:spPr>
        <p:txBody>
          <a:bodyPr wrap="square" lIns="0" rIns="0" tIns="0" bIns="0">
            <a:spAutoFit/>
          </a:bodyPr>
          <a:lstStyle/>
          <a:p>
            <a:r>
              <a:rPr sz="1200" b="1">
                <a:solidFill>
                  <a:srgbClr val="831838"/>
                </a:solidFill>
                <a:latin typeface="Poppins"/>
              </a:rPr>
              <a:t>Virtual ESP32 Hardware Emulation</a:t>
            </a:r>
          </a:p>
        </p:txBody>
      </p:sp>
      <p:sp>
        <p:nvSpPr>
          <p:cNvPr id="21" name="TextBox 20"/>
          <p:cNvSpPr txBox="1"/>
          <p:nvPr/>
        </p:nvSpPr>
        <p:spPr>
          <a:xfrm>
            <a:off x="594360" y="5345216"/>
            <a:ext cx="5184240" cy="891632"/>
          </a:xfrm>
          <a:prstGeom prst="rect">
            <a:avLst/>
          </a:prstGeom>
          <a:noFill/>
        </p:spPr>
        <p:txBody>
          <a:bodyPr wrap="square" lIns="0" rIns="0" tIns="0" bIns="0">
            <a:spAutoFit/>
          </a:bodyPr>
          <a:lstStyle/>
          <a:p>
            <a:pPr>
              <a:spcAft>
                <a:spcPts val="220"/>
              </a:spcAft>
            </a:pPr>
            <a:r>
              <a:rPr sz="919" b="1">
                <a:solidFill>
                  <a:srgbClr val="1F2937"/>
                </a:solidFill>
                <a:latin typeface="Poppins"/>
              </a:rPr>
              <a:t>Hardware-in-the-Loop: </a:t>
            </a:r>
            <a:r>
              <a:rPr sz="880">
                <a:solidFill>
                  <a:srgbClr val="4B5563"/>
                </a:solidFill>
                <a:latin typeface="Poppins"/>
              </a:rPr>
              <a:t>Emulate 12-bit SAR ADC quantization, 5 mV noise, 30 mA current offset, and TP4056 CC/CV state machine with Wi-Fi JSON payload generation.</a:t>
            </a:r>
          </a:p>
        </p:txBody>
      </p:sp>
      <p:sp>
        <p:nvSpPr>
          <p:cNvPr id="22" name="Rounded Rectangle 21"/>
          <p:cNvSpPr/>
          <p:nvPr/>
        </p:nvSpPr>
        <p:spPr>
          <a:xfrm>
            <a:off x="6229920" y="4760000"/>
            <a:ext cx="5550000" cy="15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94512" y="490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04</a:t>
            </a:r>
          </a:p>
        </p:txBody>
      </p:sp>
      <p:sp>
        <p:nvSpPr>
          <p:cNvPr id="24" name="TextBox 23"/>
          <p:cNvSpPr txBox="1"/>
          <p:nvPr/>
        </p:nvSpPr>
        <p:spPr>
          <a:xfrm>
            <a:off x="6851712" y="4897160"/>
            <a:ext cx="4772760" cy="384048"/>
          </a:xfrm>
          <a:prstGeom prst="rect">
            <a:avLst/>
          </a:prstGeom>
          <a:noFill/>
        </p:spPr>
        <p:txBody>
          <a:bodyPr wrap="square" lIns="0" rIns="0" tIns="0" bIns="0">
            <a:spAutoFit/>
          </a:bodyPr>
          <a:lstStyle/>
          <a:p>
            <a:r>
              <a:rPr sz="1200" b="1">
                <a:solidFill>
                  <a:srgbClr val="831838"/>
                </a:solidFill>
                <a:latin typeface="Poppins"/>
              </a:rPr>
              <a:t>Benchmarking on Held-Out Cycles</a:t>
            </a:r>
          </a:p>
        </p:txBody>
      </p:sp>
      <p:sp>
        <p:nvSpPr>
          <p:cNvPr id="25" name="TextBox 24"/>
          <p:cNvSpPr txBox="1"/>
          <p:nvPr/>
        </p:nvSpPr>
        <p:spPr>
          <a:xfrm>
            <a:off x="6412800" y="5345216"/>
            <a:ext cx="5184240" cy="891632"/>
          </a:xfrm>
          <a:prstGeom prst="rect">
            <a:avLst/>
          </a:prstGeom>
          <a:noFill/>
        </p:spPr>
        <p:txBody>
          <a:bodyPr wrap="square" lIns="0" rIns="0" tIns="0" bIns="0">
            <a:spAutoFit/>
          </a:bodyPr>
          <a:lstStyle/>
          <a:p>
            <a:pPr>
              <a:spcAft>
                <a:spcPts val="220"/>
              </a:spcAft>
            </a:pPr>
            <a:r>
              <a:rPr sz="919" b="1">
                <a:solidFill>
                  <a:srgbClr val="1F2937"/>
                </a:solidFill>
                <a:latin typeface="Poppins"/>
              </a:rPr>
              <a:t>Accuracy &amp; Latency: </a:t>
            </a:r>
            <a:r>
              <a:rPr sz="880">
                <a:solidFill>
                  <a:srgbClr val="4B5563"/>
                </a:solidFill>
                <a:latin typeface="Poppins"/>
              </a:rPr>
              <a:t>Verify SOC estimation error under 2-3% target across held-out charge/discharge cycles; evaluate inference latency (&lt;10 µs) and memory footprint (&lt;500 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Methodology  </a:t>
            </a:r>
            <a:r>
              <a:rPr sz="2500">
                <a:solidFill>
                  <a:srgbClr val="99A3AF"/>
                </a:solidFill>
                <a:latin typeface="Poppins"/>
              </a:rPr>
              <a:t>Slide 06</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9</a:t>
            </a:r>
          </a:p>
        </p:txBody>
      </p:sp>
      <p:sp>
        <p:nvSpPr>
          <p:cNvPr id="7" name="Rounded Rectangle 6"/>
          <p:cNvSpPr/>
          <p:nvPr/>
        </p:nvSpPr>
        <p:spPr>
          <a:xfrm>
            <a:off x="411480" y="152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7607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01</a:t>
            </a:r>
          </a:p>
        </p:txBody>
      </p:sp>
      <p:sp>
        <p:nvSpPr>
          <p:cNvPr id="9" name="TextBox 8"/>
          <p:cNvSpPr txBox="1"/>
          <p:nvPr/>
        </p:nvSpPr>
        <p:spPr>
          <a:xfrm>
            <a:off x="1033272" y="1657160"/>
            <a:ext cx="2834280" cy="384048"/>
          </a:xfrm>
          <a:prstGeom prst="rect">
            <a:avLst/>
          </a:prstGeom>
          <a:noFill/>
        </p:spPr>
        <p:txBody>
          <a:bodyPr wrap="square" lIns="0" rIns="0" tIns="0" bIns="0">
            <a:spAutoFit/>
          </a:bodyPr>
          <a:lstStyle/>
          <a:p>
            <a:r>
              <a:rPr sz="1200" b="1">
                <a:solidFill>
                  <a:srgbClr val="831838"/>
                </a:solidFill>
                <a:latin typeface="Poppins"/>
              </a:rPr>
              <a:t>NASA Data Preparation</a:t>
            </a:r>
          </a:p>
        </p:txBody>
      </p:sp>
      <p:sp>
        <p:nvSpPr>
          <p:cNvPr id="10" name="TextBox 9"/>
          <p:cNvSpPr txBox="1"/>
          <p:nvPr/>
        </p:nvSpPr>
        <p:spPr>
          <a:xfrm>
            <a:off x="594360" y="210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Raw CSV Parsing: </a:t>
            </a:r>
            <a:r>
              <a:rPr sz="880">
                <a:solidFill>
                  <a:srgbClr val="4B5563"/>
                </a:solidFill>
                <a:latin typeface="Poppins"/>
              </a:rPr>
              <a:t>Load 60 NASA cycling CSVs; average 4-wire Kelvin voltages (Vbat1-4) to eliminate contact resistance; resample to uniform 5 s time grid.</a:t>
            </a:r>
          </a:p>
        </p:txBody>
      </p:sp>
      <p:sp>
        <p:nvSpPr>
          <p:cNvPr id="11" name="Rounded Rectangle 10"/>
          <p:cNvSpPr/>
          <p:nvPr/>
        </p:nvSpPr>
        <p:spPr>
          <a:xfrm>
            <a:off x="4289940" y="152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453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02</a:t>
            </a:r>
          </a:p>
        </p:txBody>
      </p:sp>
      <p:sp>
        <p:nvSpPr>
          <p:cNvPr id="13" name="TextBox 12"/>
          <p:cNvSpPr txBox="1"/>
          <p:nvPr/>
        </p:nvSpPr>
        <p:spPr>
          <a:xfrm>
            <a:off x="4911732" y="1657160"/>
            <a:ext cx="2834280" cy="384048"/>
          </a:xfrm>
          <a:prstGeom prst="rect">
            <a:avLst/>
          </a:prstGeom>
          <a:noFill/>
        </p:spPr>
        <p:txBody>
          <a:bodyPr wrap="square" lIns="0" rIns="0" tIns="0" bIns="0">
            <a:spAutoFit/>
          </a:bodyPr>
          <a:lstStyle/>
          <a:p>
            <a:r>
              <a:rPr sz="1200" b="1">
                <a:solidFill>
                  <a:srgbClr val="831838"/>
                </a:solidFill>
                <a:latin typeface="Poppins"/>
              </a:rPr>
              <a:t>Feature Engineering</a:t>
            </a:r>
          </a:p>
        </p:txBody>
      </p:sp>
      <p:sp>
        <p:nvSpPr>
          <p:cNvPr id="14" name="TextBox 13"/>
          <p:cNvSpPr txBox="1"/>
          <p:nvPr/>
        </p:nvSpPr>
        <p:spPr>
          <a:xfrm>
            <a:off x="4472820" y="210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Causal Rolling Window: </a:t>
            </a:r>
            <a:r>
              <a:rPr sz="880">
                <a:solidFill>
                  <a:srgbClr val="4B5563"/>
                </a:solidFill>
                <a:latin typeface="Poppins"/>
              </a:rPr>
              <a:t>Construct input vector [V, I, V_smooth]; compute 60 s causal moving average with zero future data leakage to decouple IR drop from bulk SOC.</a:t>
            </a:r>
          </a:p>
        </p:txBody>
      </p:sp>
      <p:sp>
        <p:nvSpPr>
          <p:cNvPr id="15" name="Rounded Rectangle 14"/>
          <p:cNvSpPr/>
          <p:nvPr/>
        </p:nvSpPr>
        <p:spPr>
          <a:xfrm>
            <a:off x="8168400" y="152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3299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03</a:t>
            </a:r>
          </a:p>
        </p:txBody>
      </p:sp>
      <p:sp>
        <p:nvSpPr>
          <p:cNvPr id="17" name="TextBox 16"/>
          <p:cNvSpPr txBox="1"/>
          <p:nvPr/>
        </p:nvSpPr>
        <p:spPr>
          <a:xfrm>
            <a:off x="8790192" y="1657160"/>
            <a:ext cx="2834280" cy="384048"/>
          </a:xfrm>
          <a:prstGeom prst="rect">
            <a:avLst/>
          </a:prstGeom>
          <a:noFill/>
        </p:spPr>
        <p:txBody>
          <a:bodyPr wrap="square" lIns="0" rIns="0" tIns="0" bIns="0">
            <a:spAutoFit/>
          </a:bodyPr>
          <a:lstStyle/>
          <a:p>
            <a:r>
              <a:rPr sz="1200" b="1">
                <a:solidFill>
                  <a:srgbClr val="831838"/>
                </a:solidFill>
                <a:latin typeface="Poppins"/>
              </a:rPr>
              <a:t>Model Training &amp; Baselines</a:t>
            </a:r>
          </a:p>
        </p:txBody>
      </p:sp>
      <p:sp>
        <p:nvSpPr>
          <p:cNvPr id="18" name="TextBox 17"/>
          <p:cNvSpPr txBox="1"/>
          <p:nvPr/>
        </p:nvSpPr>
        <p:spPr>
          <a:xfrm>
            <a:off x="8351280" y="210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Noise Augmentation: </a:t>
            </a:r>
            <a:r>
              <a:rPr sz="880">
                <a:solidFill>
                  <a:srgbClr val="4B5563"/>
                </a:solidFill>
                <a:latin typeface="Poppins"/>
              </a:rPr>
              <a:t>Train 3-16-1 tanh MLP on 53 files (302k samples) with synthetic 5 mV ADC noise; train Random Forest and Linear Regression baselines.</a:t>
            </a:r>
          </a:p>
        </p:txBody>
      </p:sp>
      <p:sp>
        <p:nvSpPr>
          <p:cNvPr id="19" name="Rounded Rectangle 18"/>
          <p:cNvSpPr/>
          <p:nvPr/>
        </p:nvSpPr>
        <p:spPr>
          <a:xfrm>
            <a:off x="411480" y="393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76072" y="407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04</a:t>
            </a:r>
          </a:p>
        </p:txBody>
      </p:sp>
      <p:sp>
        <p:nvSpPr>
          <p:cNvPr id="21" name="TextBox 20"/>
          <p:cNvSpPr txBox="1"/>
          <p:nvPr/>
        </p:nvSpPr>
        <p:spPr>
          <a:xfrm>
            <a:off x="1033272" y="4067160"/>
            <a:ext cx="2834280" cy="384048"/>
          </a:xfrm>
          <a:prstGeom prst="rect">
            <a:avLst/>
          </a:prstGeom>
          <a:noFill/>
        </p:spPr>
        <p:txBody>
          <a:bodyPr wrap="square" lIns="0" rIns="0" tIns="0" bIns="0">
            <a:spAutoFit/>
          </a:bodyPr>
          <a:lstStyle/>
          <a:p>
            <a:r>
              <a:rPr sz="1200" b="1">
                <a:solidFill>
                  <a:srgbClr val="831838"/>
                </a:solidFill>
                <a:latin typeface="Poppins"/>
              </a:rPr>
              <a:t>Virtual ESP32 Emulation</a:t>
            </a:r>
          </a:p>
        </p:txBody>
      </p:sp>
      <p:sp>
        <p:nvSpPr>
          <p:cNvPr id="22" name="TextBox 21"/>
          <p:cNvSpPr txBox="1"/>
          <p:nvPr/>
        </p:nvSpPr>
        <p:spPr>
          <a:xfrm>
            <a:off x="594360" y="451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Hardware Distortion: </a:t>
            </a:r>
            <a:r>
              <a:rPr sz="880">
                <a:solidFill>
                  <a:srgbClr val="4B5563"/>
                </a:solidFill>
                <a:latin typeface="Poppins"/>
              </a:rPr>
              <a:t>Replay signals through virtual divider (÷2), 12-bit ADC quantization, 5 mV noise, 30 mA current offset, and TP4056 state machine.</a:t>
            </a:r>
          </a:p>
        </p:txBody>
      </p:sp>
      <p:sp>
        <p:nvSpPr>
          <p:cNvPr id="23" name="Rounded Rectangle 22"/>
          <p:cNvSpPr/>
          <p:nvPr/>
        </p:nvSpPr>
        <p:spPr>
          <a:xfrm>
            <a:off x="4289940" y="393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454532" y="407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05</a:t>
            </a:r>
          </a:p>
        </p:txBody>
      </p:sp>
      <p:sp>
        <p:nvSpPr>
          <p:cNvPr id="25" name="TextBox 24"/>
          <p:cNvSpPr txBox="1"/>
          <p:nvPr/>
        </p:nvSpPr>
        <p:spPr>
          <a:xfrm>
            <a:off x="4911732" y="4067160"/>
            <a:ext cx="2834280" cy="384048"/>
          </a:xfrm>
          <a:prstGeom prst="rect">
            <a:avLst/>
          </a:prstGeom>
          <a:noFill/>
        </p:spPr>
        <p:txBody>
          <a:bodyPr wrap="square" lIns="0" rIns="0" tIns="0" bIns="0">
            <a:spAutoFit/>
          </a:bodyPr>
          <a:lstStyle/>
          <a:p>
            <a:r>
              <a:rPr sz="1200" b="1">
                <a:solidFill>
                  <a:srgbClr val="831838"/>
                </a:solidFill>
                <a:latin typeface="Poppins"/>
              </a:rPr>
              <a:t>Web Dashboard Telemetry</a:t>
            </a:r>
          </a:p>
        </p:txBody>
      </p:sp>
      <p:sp>
        <p:nvSpPr>
          <p:cNvPr id="26" name="TextBox 25"/>
          <p:cNvSpPr txBox="1"/>
          <p:nvPr/>
        </p:nvSpPr>
        <p:spPr>
          <a:xfrm>
            <a:off x="4472820" y="451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Live Monitoring: </a:t>
            </a:r>
            <a:r>
              <a:rPr sz="880">
                <a:solidFill>
                  <a:srgbClr val="4B5563"/>
                </a:solidFill>
                <a:latin typeface="Poppins"/>
              </a:rPr>
              <a:t>Stream real-time JSON frames via WebSockets; display animated SVG SOC ring, multi-curve tracking charts, and SOH aging telemetry.</a:t>
            </a:r>
          </a:p>
        </p:txBody>
      </p:sp>
      <p:sp>
        <p:nvSpPr>
          <p:cNvPr id="27" name="Rounded Rectangle 26"/>
          <p:cNvSpPr/>
          <p:nvPr/>
        </p:nvSpPr>
        <p:spPr>
          <a:xfrm>
            <a:off x="8168400" y="393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332992" y="407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06</a:t>
            </a:r>
          </a:p>
        </p:txBody>
      </p:sp>
      <p:sp>
        <p:nvSpPr>
          <p:cNvPr id="29" name="TextBox 28"/>
          <p:cNvSpPr txBox="1"/>
          <p:nvPr/>
        </p:nvSpPr>
        <p:spPr>
          <a:xfrm>
            <a:off x="8790192" y="4067160"/>
            <a:ext cx="2834280" cy="384048"/>
          </a:xfrm>
          <a:prstGeom prst="rect">
            <a:avLst/>
          </a:prstGeom>
          <a:noFill/>
        </p:spPr>
        <p:txBody>
          <a:bodyPr wrap="square" lIns="0" rIns="0" tIns="0" bIns="0">
            <a:spAutoFit/>
          </a:bodyPr>
          <a:lstStyle/>
          <a:p>
            <a:r>
              <a:rPr sz="1200" b="1">
                <a:solidFill>
                  <a:srgbClr val="831838"/>
                </a:solidFill>
                <a:latin typeface="Poppins"/>
              </a:rPr>
              <a:t>Benchmarking &amp; Validation</a:t>
            </a:r>
          </a:p>
        </p:txBody>
      </p:sp>
      <p:sp>
        <p:nvSpPr>
          <p:cNvPr id="30" name="TextBox 29"/>
          <p:cNvSpPr txBox="1"/>
          <p:nvPr/>
        </p:nvSpPr>
        <p:spPr>
          <a:xfrm>
            <a:off x="8351280" y="451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Evaluation Suite: </a:t>
            </a:r>
            <a:r>
              <a:rPr sz="880">
                <a:solidFill>
                  <a:srgbClr val="4B5563"/>
                </a:solidFill>
                <a:latin typeface="Poppins"/>
              </a:rPr>
              <a:t>Evaluate across held-out 0.5A, 1A, 2A, 3A cycles; quantify MAE, RMSE, and max error against physics filters and 2-3% accuracy target.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System Architecture  </a:t>
            </a:r>
            <a:r>
              <a:rPr sz="2500">
                <a:solidFill>
                  <a:srgbClr val="99A3AF"/>
                </a:solidFill>
                <a:latin typeface="Poppins"/>
              </a:rPr>
              <a:t>Slide 07</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10</a:t>
            </a:r>
          </a:p>
        </p:txBody>
      </p:sp>
      <p:sp>
        <p:nvSpPr>
          <p:cNvPr id="7" name="Rounded Rectangle 6"/>
          <p:cNvSpPr/>
          <p:nvPr/>
        </p:nvSpPr>
        <p:spPr>
          <a:xfrm>
            <a:off x="411480" y="1520000"/>
            <a:ext cx="555000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57160"/>
            <a:ext cx="5092800" cy="384048"/>
          </a:xfrm>
          <a:prstGeom prst="rect">
            <a:avLst/>
          </a:prstGeom>
          <a:noFill/>
        </p:spPr>
        <p:txBody>
          <a:bodyPr wrap="square" lIns="0" rIns="0" tIns="0" bIns="0">
            <a:spAutoFit/>
          </a:bodyPr>
          <a:lstStyle/>
          <a:p>
            <a:r>
              <a:rPr sz="1200" b="1">
                <a:solidFill>
                  <a:srgbClr val="831838"/>
                </a:solidFill>
                <a:latin typeface="Poppins"/>
              </a:rPr>
              <a:t>Virtual Hardware-in-the-Loop Emulation</a:t>
            </a:r>
          </a:p>
        </p:txBody>
      </p:sp>
      <p:sp>
        <p:nvSpPr>
          <p:cNvPr id="9" name="TextBox 8"/>
          <p:cNvSpPr txBox="1"/>
          <p:nvPr/>
        </p:nvSpPr>
        <p:spPr>
          <a:xfrm>
            <a:off x="594360" y="2105216"/>
            <a:ext cx="5184240" cy="3991632"/>
          </a:xfrm>
          <a:prstGeom prst="rect">
            <a:avLst/>
          </a:prstGeom>
          <a:noFill/>
        </p:spPr>
        <p:txBody>
          <a:bodyPr wrap="square" lIns="0" rIns="0" tIns="0" bIns="0">
            <a:spAutoFit/>
          </a:bodyPr>
          <a:lstStyle/>
          <a:p>
            <a:pPr>
              <a:spcAft>
                <a:spcPts val="220"/>
              </a:spcAft>
            </a:pPr>
            <a:r>
              <a:rPr sz="919" b="1">
                <a:solidFill>
                  <a:srgbClr val="831838"/>
                </a:solidFill>
                <a:latin typeface="Poppins"/>
              </a:rPr>
              <a:t>Signal Flow Architecture: </a:t>
            </a:r>
            <a:r>
              <a:rPr sz="880">
                <a:solidFill>
                  <a:srgbClr val="4B5563"/>
                </a:solidFill>
                <a:latin typeface="Poppins"/>
              </a:rPr>
              <a:t>The digital twin mirrors physical hardware components with realistic noise models:</a:t>
            </a:r>
          </a:p>
          <a:p>
            <a:pPr>
              <a:spcAft>
                <a:spcPts val="220"/>
              </a:spcAft>
            </a:pPr>
            <a:r>
              <a:rPr sz="919" b="1">
                <a:solidFill>
                  <a:srgbClr val="1F2937"/>
                </a:solidFill>
                <a:latin typeface="Poppins"/>
              </a:rPr>
              <a:t>1. Data Source (Cell): </a:t>
            </a:r>
            <a:r>
              <a:rPr sz="880">
                <a:solidFill>
                  <a:srgbClr val="4B5563"/>
                </a:solidFill>
                <a:latin typeface="Poppins"/>
              </a:rPr>
              <a:t>NASA 18650 Li-ion battery dataset stands in for physical electrochemical cell dynamics.</a:t>
            </a:r>
          </a:p>
          <a:p>
            <a:pPr>
              <a:spcAft>
                <a:spcPts val="220"/>
              </a:spcAft>
            </a:pPr>
            <a:r>
              <a:rPr sz="919" b="1">
                <a:solidFill>
                  <a:srgbClr val="1F2937"/>
                </a:solidFill>
                <a:latin typeface="Poppins"/>
              </a:rPr>
              <a:t>2. Voltage Divider: </a:t>
            </a:r>
            <a:r>
              <a:rPr sz="880">
                <a:solidFill>
                  <a:srgbClr val="4B5563"/>
                </a:solidFill>
                <a:latin typeface="Poppins"/>
              </a:rPr>
              <a:t>Virtual 100kΩ/100kΩ resistor divider halves cell voltage (2.5V-4.2V → 1.25V-2.1V) to fit ADC input range.</a:t>
            </a:r>
          </a:p>
          <a:p>
            <a:pPr>
              <a:spcAft>
                <a:spcPts val="220"/>
              </a:spcAft>
            </a:pPr>
            <a:r>
              <a:rPr sz="919" b="1">
                <a:solidFill>
                  <a:srgbClr val="1F2937"/>
                </a:solidFill>
                <a:latin typeface="Poppins"/>
              </a:rPr>
              <a:t>3. Virtual ESP32 ADC: </a:t>
            </a:r>
            <a:r>
              <a:rPr sz="880">
                <a:solidFill>
                  <a:srgbClr val="4B5563"/>
                </a:solidFill>
                <a:latin typeface="Poppins"/>
              </a:rPr>
              <a:t>12-bit SAR ADC model introduces 0.8 mV quantization steps and 5 mV RMS Gaussian noise.</a:t>
            </a:r>
          </a:p>
          <a:p>
            <a:pPr>
              <a:spcAft>
                <a:spcPts val="220"/>
              </a:spcAft>
            </a:pPr>
            <a:r>
              <a:rPr sz="919" b="1">
                <a:solidFill>
                  <a:srgbClr val="1F2937"/>
                </a:solidFill>
                <a:latin typeface="Poppins"/>
              </a:rPr>
              <a:t>4. Current Sensor Offset: </a:t>
            </a:r>
            <a:r>
              <a:rPr sz="880">
                <a:solidFill>
                  <a:srgbClr val="4B5563"/>
                </a:solidFill>
                <a:latin typeface="Poppins"/>
              </a:rPr>
              <a:t>Virtual current shunt / Hall-effect sensor injects a realistic +30 mA DC offset drift.</a:t>
            </a:r>
          </a:p>
          <a:p>
            <a:pPr>
              <a:spcAft>
                <a:spcPts val="220"/>
              </a:spcAft>
            </a:pPr>
            <a:r>
              <a:rPr sz="919" b="1">
                <a:solidFill>
                  <a:srgbClr val="1F2937"/>
                </a:solidFill>
                <a:latin typeface="Poppins"/>
              </a:rPr>
              <a:t>5. TP4056 Charger: </a:t>
            </a:r>
            <a:r>
              <a:rPr sz="880">
                <a:solidFill>
                  <a:srgbClr val="4B5563"/>
                </a:solidFill>
                <a:latin typeface="Poppins"/>
              </a:rPr>
              <a:t>Linear CC/CV state machine reports Charging, Discharging, or Charged-Standby with CHRG/STDBY LEDs.</a:t>
            </a:r>
          </a:p>
          <a:p>
            <a:pPr>
              <a:spcAft>
                <a:spcPts val="220"/>
              </a:spcAft>
            </a:pPr>
            <a:r>
              <a:rPr sz="919" b="1">
                <a:solidFill>
                  <a:srgbClr val="1F2937"/>
                </a:solidFill>
                <a:latin typeface="Poppins"/>
              </a:rPr>
              <a:t>6. Wi-Fi Telemetry: </a:t>
            </a:r>
            <a:r>
              <a:rPr sz="880">
                <a:solidFill>
                  <a:srgbClr val="4B5563"/>
                </a:solidFill>
                <a:latin typeface="Poppins"/>
              </a:rPr>
              <a:t>Assembles JSON payload {"v": 3.82, "i": -1.02, "soc": 74.2, "status": "Discharging"} streamed live via WebSocket.</a:t>
            </a:r>
          </a:p>
        </p:txBody>
      </p:sp>
      <p:graphicFrame>
        <p:nvGraphicFramePr>
          <p:cNvPr id="10" name="Table 9"/>
          <p:cNvGraphicFramePr>
            <a:graphicFrameLocks noGrp="1"/>
          </p:cNvGraphicFramePr>
          <p:nvPr/>
        </p:nvGraphicFramePr>
        <p:xfrm>
          <a:off x="6230000" y="1520000"/>
          <a:ext cx="5550000" cy="4650000"/>
        </p:xfrm>
        <a:graphic>
          <a:graphicData uri="http://schemas.openxmlformats.org/drawingml/2006/table">
            <a:tbl>
              <a:tblPr firstRow="1" bandRow="1">
                <a:tableStyleId>{5C22544A-7EE6-4342-B048-85BDC9FD1C3A}</a:tableStyleId>
              </a:tblPr>
              <a:tblGrid>
                <a:gridCol w="1600000"/>
                <a:gridCol w="2100000"/>
                <a:gridCol w="1850000"/>
              </a:tblGrid>
              <a:tr h="581250">
                <a:tc>
                  <a:txBody>
                    <a:bodyPr/>
                    <a:lstStyle/>
                    <a:p>
                      <a:pPr algn="l"/>
                      <a:r>
                        <a:rPr sz="950" b="1">
                          <a:solidFill>
                            <a:srgbClr val="FFFFFF"/>
                          </a:solidFill>
                          <a:latin typeface="Poppins"/>
                        </a:rPr>
                        <a:t>Virtual Component</a:t>
                      </a:r>
                    </a:p>
                  </a:txBody>
                  <a:tcPr>
                    <a:solidFill>
                      <a:srgbClr val="831838"/>
                    </a:solidFill>
                  </a:tcPr>
                </a:tc>
                <a:tc>
                  <a:txBody>
                    <a:bodyPr/>
                    <a:lstStyle/>
                    <a:p>
                      <a:pPr algn="ctr"/>
                      <a:r>
                        <a:rPr sz="950" b="1">
                          <a:solidFill>
                            <a:srgbClr val="FFFFFF"/>
                          </a:solidFill>
                          <a:latin typeface="Poppins"/>
                        </a:rPr>
                        <a:t>Specification</a:t>
                      </a:r>
                    </a:p>
                  </a:txBody>
                  <a:tcPr>
                    <a:solidFill>
                      <a:srgbClr val="831838"/>
                    </a:solidFill>
                  </a:tcPr>
                </a:tc>
                <a:tc>
                  <a:txBody>
                    <a:bodyPr/>
                    <a:lstStyle/>
                    <a:p>
                      <a:pPr algn="ctr"/>
                      <a:r>
                        <a:rPr sz="950" b="1">
                          <a:solidFill>
                            <a:srgbClr val="FFFFFF"/>
                          </a:solidFill>
                          <a:latin typeface="Poppins"/>
                        </a:rPr>
                        <a:t>Real-World Emulation Role</a:t>
                      </a:r>
                    </a:p>
                  </a:txBody>
                  <a:tcPr>
                    <a:solidFill>
                      <a:srgbClr val="831838"/>
                    </a:solidFill>
                  </a:tcPr>
                </a:tc>
              </a:tr>
              <a:tr h="581250">
                <a:tc>
                  <a:txBody>
                    <a:bodyPr/>
                    <a:lstStyle/>
                    <a:p>
                      <a:pPr algn="l"/>
                      <a:r>
                        <a:rPr sz="880">
                          <a:solidFill>
                            <a:srgbClr val="831838"/>
                          </a:solidFill>
                          <a:latin typeface="Poppins"/>
                        </a:rPr>
                        <a:t>18650 Cell Source</a:t>
                      </a:r>
                    </a:p>
                  </a:txBody>
                  <a:tcPr>
                    <a:solidFill>
                      <a:srgbClr val="F9FAFC"/>
                    </a:solidFill>
                  </a:tcPr>
                </a:tc>
                <a:tc>
                  <a:txBody>
                    <a:bodyPr/>
                    <a:lstStyle/>
                    <a:p>
                      <a:pPr algn="ctr"/>
                      <a:r>
                        <a:rPr sz="880">
                          <a:solidFill>
                            <a:srgbClr val="1F2937"/>
                          </a:solidFill>
                          <a:latin typeface="Poppins"/>
                        </a:rPr>
                        <a:t>NASA Ames Li-ion dataset (60 files)</a:t>
                      </a:r>
                    </a:p>
                  </a:txBody>
                  <a:tcPr>
                    <a:solidFill>
                      <a:srgbClr val="F9FAFC"/>
                    </a:solidFill>
                  </a:tcPr>
                </a:tc>
                <a:tc>
                  <a:txBody>
                    <a:bodyPr/>
                    <a:lstStyle/>
                    <a:p>
                      <a:pPr algn="ctr"/>
                      <a:r>
                        <a:rPr sz="880">
                          <a:solidFill>
                            <a:srgbClr val="1F2937"/>
                          </a:solidFill>
                          <a:latin typeface="Poppins"/>
                        </a:rPr>
                        <a:t>Real electrochemical charge/discharge cycles</a:t>
                      </a:r>
                    </a:p>
                  </a:txBody>
                  <a:tcPr>
                    <a:solidFill>
                      <a:srgbClr val="F9FAFC"/>
                    </a:solidFill>
                  </a:tcPr>
                </a:tc>
              </a:tr>
              <a:tr h="581250">
                <a:tc>
                  <a:txBody>
                    <a:bodyPr/>
                    <a:lstStyle/>
                    <a:p>
                      <a:pPr algn="l"/>
                      <a:r>
                        <a:rPr sz="880">
                          <a:solidFill>
                            <a:srgbClr val="831838"/>
                          </a:solidFill>
                          <a:latin typeface="Poppins"/>
                        </a:rPr>
                        <a:t>Voltage Divider</a:t>
                      </a:r>
                    </a:p>
                  </a:txBody>
                  <a:tcPr>
                    <a:solidFill>
                      <a:srgbClr val="FFFFFF"/>
                    </a:solidFill>
                  </a:tcPr>
                </a:tc>
                <a:tc>
                  <a:txBody>
                    <a:bodyPr/>
                    <a:lstStyle/>
                    <a:p>
                      <a:pPr algn="ctr"/>
                      <a:r>
                        <a:rPr sz="880">
                          <a:solidFill>
                            <a:srgbClr val="1F2937"/>
                          </a:solidFill>
                          <a:latin typeface="Poppins"/>
                        </a:rPr>
                        <a:t>Ratio: 0.5 (100kΩ / 100kΩ)</a:t>
                      </a:r>
                    </a:p>
                  </a:txBody>
                  <a:tcPr>
                    <a:solidFill>
                      <a:srgbClr val="FFFFFF"/>
                    </a:solidFill>
                  </a:tcPr>
                </a:tc>
                <a:tc>
                  <a:txBody>
                    <a:bodyPr/>
                    <a:lstStyle/>
                    <a:p>
                      <a:pPr algn="ctr"/>
                      <a:r>
                        <a:rPr sz="880">
                          <a:solidFill>
                            <a:srgbClr val="1F2937"/>
                          </a:solidFill>
                          <a:latin typeface="Poppins"/>
                        </a:rPr>
                        <a:t>Attenuates cell voltage for MCU ADC input</a:t>
                      </a:r>
                    </a:p>
                  </a:txBody>
                  <a:tcPr>
                    <a:solidFill>
                      <a:srgbClr val="FFFFFF"/>
                    </a:solidFill>
                  </a:tcPr>
                </a:tc>
              </a:tr>
              <a:tr h="581250">
                <a:tc>
                  <a:txBody>
                    <a:bodyPr/>
                    <a:lstStyle/>
                    <a:p>
                      <a:pPr algn="l"/>
                      <a:r>
                        <a:rPr sz="880">
                          <a:solidFill>
                            <a:srgbClr val="831838"/>
                          </a:solidFill>
                          <a:latin typeface="Poppins"/>
                        </a:rPr>
                        <a:t>ESP32 12-bit ADC</a:t>
                      </a:r>
                    </a:p>
                  </a:txBody>
                  <a:tcPr>
                    <a:solidFill>
                      <a:srgbClr val="F9FAFC"/>
                    </a:solidFill>
                  </a:tcPr>
                </a:tc>
                <a:tc>
                  <a:txBody>
                    <a:bodyPr/>
                    <a:lstStyle/>
                    <a:p>
                      <a:pPr algn="ctr"/>
                      <a:r>
                        <a:rPr sz="880">
                          <a:solidFill>
                            <a:srgbClr val="1F2937"/>
                          </a:solidFill>
                          <a:latin typeface="Poppins"/>
                        </a:rPr>
                        <a:t>4096 levels, 5 mV Gaussian noise</a:t>
                      </a:r>
                    </a:p>
                  </a:txBody>
                  <a:tcPr>
                    <a:solidFill>
                      <a:srgbClr val="F9FAFC"/>
                    </a:solidFill>
                  </a:tcPr>
                </a:tc>
                <a:tc>
                  <a:txBody>
                    <a:bodyPr/>
                    <a:lstStyle/>
                    <a:p>
                      <a:pPr algn="ctr"/>
                      <a:r>
                        <a:rPr sz="880">
                          <a:solidFill>
                            <a:srgbClr val="1F2937"/>
                          </a:solidFill>
                          <a:latin typeface="Poppins"/>
                        </a:rPr>
                        <a:t>Realistic SAR ADC noise and quantization</a:t>
                      </a:r>
                    </a:p>
                  </a:txBody>
                  <a:tcPr>
                    <a:solidFill>
                      <a:srgbClr val="F9FAFC"/>
                    </a:solidFill>
                  </a:tcPr>
                </a:tc>
              </a:tr>
              <a:tr h="581250">
                <a:tc>
                  <a:txBody>
                    <a:bodyPr/>
                    <a:lstStyle/>
                    <a:p>
                      <a:pPr algn="l"/>
                      <a:r>
                        <a:rPr sz="880">
                          <a:solidFill>
                            <a:srgbClr val="831838"/>
                          </a:solidFill>
                          <a:latin typeface="Poppins"/>
                        </a:rPr>
                        <a:t>Current Sensing</a:t>
                      </a:r>
                    </a:p>
                  </a:txBody>
                  <a:tcPr>
                    <a:solidFill>
                      <a:srgbClr val="FFFFFF"/>
                    </a:solidFill>
                  </a:tcPr>
                </a:tc>
                <a:tc>
                  <a:txBody>
                    <a:bodyPr/>
                    <a:lstStyle/>
                    <a:p>
                      <a:pPr algn="ctr"/>
                      <a:r>
                        <a:rPr sz="880">
                          <a:solidFill>
                            <a:srgbClr val="1F2937"/>
                          </a:solidFill>
                          <a:latin typeface="Poppins"/>
                        </a:rPr>
                        <a:t>+30 mA DC offset bias</a:t>
                      </a:r>
                    </a:p>
                  </a:txBody>
                  <a:tcPr>
                    <a:solidFill>
                      <a:srgbClr val="FFFFFF"/>
                    </a:solidFill>
                  </a:tcPr>
                </a:tc>
                <a:tc>
                  <a:txBody>
                    <a:bodyPr/>
                    <a:lstStyle/>
                    <a:p>
                      <a:pPr algn="ctr"/>
                      <a:r>
                        <a:rPr sz="880">
                          <a:solidFill>
                            <a:srgbClr val="1F2937"/>
                          </a:solidFill>
                          <a:latin typeface="Poppins"/>
                        </a:rPr>
                        <a:t>Emulates thermal drift in low-cost shunt sensors</a:t>
                      </a:r>
                    </a:p>
                  </a:txBody>
                  <a:tcPr>
                    <a:solidFill>
                      <a:srgbClr val="FFFFFF"/>
                    </a:solidFill>
                  </a:tcPr>
                </a:tc>
              </a:tr>
              <a:tr h="581250">
                <a:tc>
                  <a:txBody>
                    <a:bodyPr/>
                    <a:lstStyle/>
                    <a:p>
                      <a:pPr algn="l"/>
                      <a:r>
                        <a:rPr sz="880">
                          <a:solidFill>
                            <a:srgbClr val="831838"/>
                          </a:solidFill>
                          <a:latin typeface="Poppins"/>
                        </a:rPr>
                        <a:t>TP4056 Module</a:t>
                      </a:r>
                    </a:p>
                  </a:txBody>
                  <a:tcPr>
                    <a:solidFill>
                      <a:srgbClr val="F9FAFC"/>
                    </a:solidFill>
                  </a:tcPr>
                </a:tc>
                <a:tc>
                  <a:txBody>
                    <a:bodyPr/>
                    <a:lstStyle/>
                    <a:p>
                      <a:pPr algn="ctr"/>
                      <a:r>
                        <a:rPr sz="880">
                          <a:solidFill>
                            <a:srgbClr val="1F2937"/>
                          </a:solidFill>
                          <a:latin typeface="Poppins"/>
                        </a:rPr>
                        <a:t>CC/CV threshold &amp; hysteresis</a:t>
                      </a:r>
                    </a:p>
                  </a:txBody>
                  <a:tcPr>
                    <a:solidFill>
                      <a:srgbClr val="F9FAFC"/>
                    </a:solidFill>
                  </a:tcPr>
                </a:tc>
                <a:tc>
                  <a:txBody>
                    <a:bodyPr/>
                    <a:lstStyle/>
                    <a:p>
                      <a:pPr algn="ctr"/>
                      <a:r>
                        <a:rPr sz="880">
                          <a:solidFill>
                            <a:srgbClr val="1F2937"/>
                          </a:solidFill>
                          <a:latin typeface="Poppins"/>
                        </a:rPr>
                        <a:t>Linear Li-ion charging management &amp; status LEDs</a:t>
                      </a:r>
                    </a:p>
                  </a:txBody>
                  <a:tcPr>
                    <a:solidFill>
                      <a:srgbClr val="F9FAFC"/>
                    </a:solidFill>
                  </a:tcPr>
                </a:tc>
              </a:tr>
              <a:tr h="581250">
                <a:tc>
                  <a:txBody>
                    <a:bodyPr/>
                    <a:lstStyle/>
                    <a:p>
                      <a:pPr algn="l"/>
                      <a:r>
                        <a:rPr sz="880" b="1">
                          <a:solidFill>
                            <a:srgbClr val="831838"/>
                          </a:solidFill>
                          <a:latin typeface="Poppins"/>
                        </a:rPr>
                        <a:t>MLP Inference</a:t>
                      </a:r>
                    </a:p>
                  </a:txBody>
                  <a:tcPr>
                    <a:solidFill>
                      <a:srgbClr val="FFFFFF"/>
                    </a:solidFill>
                  </a:tcPr>
                </a:tc>
                <a:tc>
                  <a:txBody>
                    <a:bodyPr/>
                    <a:lstStyle/>
                    <a:p>
                      <a:pPr algn="ctr"/>
                      <a:r>
                        <a:rPr sz="880">
                          <a:solidFill>
                            <a:srgbClr val="1F2937"/>
                          </a:solidFill>
                          <a:latin typeface="Poppins"/>
                        </a:rPr>
                        <a:t>3-16-1 architecture, 6.03 µs</a:t>
                      </a:r>
                    </a:p>
                  </a:txBody>
                  <a:tcPr>
                    <a:solidFill>
                      <a:srgbClr val="FFFFFF"/>
                    </a:solidFill>
                  </a:tcPr>
                </a:tc>
                <a:tc>
                  <a:txBody>
                    <a:bodyPr/>
                    <a:lstStyle/>
                    <a:p>
                      <a:pPr algn="ctr"/>
                      <a:r>
                        <a:rPr sz="880">
                          <a:solidFill>
                            <a:srgbClr val="1F2937"/>
                          </a:solidFill>
                          <a:latin typeface="Poppins"/>
                        </a:rPr>
                        <a:t>Real-time edge neural inference on ESP32 Xtensa</a:t>
                      </a:r>
                    </a:p>
                  </a:txBody>
                  <a:tcPr>
                    <a:solidFill>
                      <a:srgbClr val="FFFFFF"/>
                    </a:solidFill>
                  </a:tcPr>
                </a:tc>
              </a:tr>
              <a:tr h="581250">
                <a:tc>
                  <a:txBody>
                    <a:bodyPr/>
                    <a:lstStyle/>
                    <a:p>
                      <a:pPr algn="l"/>
                      <a:r>
                        <a:rPr sz="880">
                          <a:solidFill>
                            <a:srgbClr val="831838"/>
                          </a:solidFill>
                          <a:latin typeface="Poppins"/>
                        </a:rPr>
                        <a:t>Telemetry Bus</a:t>
                      </a:r>
                    </a:p>
                  </a:txBody>
                  <a:tcPr>
                    <a:solidFill>
                      <a:srgbClr val="F9FAFC"/>
                    </a:solidFill>
                  </a:tcPr>
                </a:tc>
                <a:tc>
                  <a:txBody>
                    <a:bodyPr/>
                    <a:lstStyle/>
                    <a:p>
                      <a:pPr algn="ctr"/>
                      <a:r>
                        <a:rPr sz="880">
                          <a:solidFill>
                            <a:srgbClr val="1F2937"/>
                          </a:solidFill>
                          <a:latin typeface="Poppins"/>
                        </a:rPr>
                        <a:t>WebSocket JSON frames (5 Hz)</a:t>
                      </a:r>
                    </a:p>
                  </a:txBody>
                  <a:tcPr>
                    <a:solidFill>
                      <a:srgbClr val="F9FAFC"/>
                    </a:solidFill>
                  </a:tcPr>
                </a:tc>
                <a:tc>
                  <a:txBody>
                    <a:bodyPr/>
                    <a:lstStyle/>
                    <a:p>
                      <a:pPr algn="ctr"/>
                      <a:r>
                        <a:rPr sz="880">
                          <a:solidFill>
                            <a:srgbClr val="1F2937"/>
                          </a:solidFill>
                          <a:latin typeface="Poppins"/>
                        </a:rPr>
                        <a:t>Low-latency browser telemetry updates</a:t>
                      </a:r>
                    </a:p>
                  </a:txBody>
                  <a:tcPr>
                    <a:solidFill>
                      <a:srgbClr val="F9FA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Dataset &amp; Data Preparation  </a:t>
            </a:r>
            <a:r>
              <a:rPr sz="2500">
                <a:solidFill>
                  <a:srgbClr val="99A3AF"/>
                </a:solidFill>
                <a:latin typeface="Poppins"/>
              </a:rPr>
              <a:t>Slide 08</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11</a:t>
            </a:r>
          </a:p>
        </p:txBody>
      </p:sp>
      <p:graphicFrame>
        <p:nvGraphicFramePr>
          <p:cNvPr id="7" name="Table 6"/>
          <p:cNvGraphicFramePr>
            <a:graphicFrameLocks noGrp="1"/>
          </p:cNvGraphicFramePr>
          <p:nvPr/>
        </p:nvGraphicFramePr>
        <p:xfrm>
          <a:off x="411480" y="1500000"/>
          <a:ext cx="11368440" cy="2800000"/>
        </p:xfrm>
        <a:graphic>
          <a:graphicData uri="http://schemas.openxmlformats.org/drawingml/2006/table">
            <a:tbl>
              <a:tblPr firstRow="1" bandRow="1">
                <a:tableStyleId>{5C22544A-7EE6-4342-B048-85BDC9FD1C3A}</a:tableStyleId>
              </a:tblPr>
              <a:tblGrid>
                <a:gridCol w="2273688"/>
                <a:gridCol w="2273688"/>
                <a:gridCol w="2273688"/>
                <a:gridCol w="2273688"/>
                <a:gridCol w="2273688"/>
              </a:tblGrid>
              <a:tr h="350000">
                <a:tc>
                  <a:txBody>
                    <a:bodyPr/>
                    <a:lstStyle/>
                    <a:p>
                      <a:pPr algn="l"/>
                      <a:r>
                        <a:rPr sz="950" b="1">
                          <a:solidFill>
                            <a:srgbClr val="FFFFFF"/>
                          </a:solidFill>
                          <a:latin typeface="Poppins"/>
                        </a:rPr>
                        <a:t>Cycle Type</a:t>
                      </a:r>
                    </a:p>
                  </a:txBody>
                  <a:tcPr>
                    <a:solidFill>
                      <a:srgbClr val="831838"/>
                    </a:solidFill>
                  </a:tcPr>
                </a:tc>
                <a:tc>
                  <a:txBody>
                    <a:bodyPr/>
                    <a:lstStyle/>
                    <a:p>
                      <a:pPr algn="ctr"/>
                      <a:r>
                        <a:rPr sz="950" b="1">
                          <a:solidFill>
                            <a:srgbClr val="FFFFFF"/>
                          </a:solidFill>
                          <a:latin typeface="Poppins"/>
                        </a:rPr>
                        <a:t>Files Count</a:t>
                      </a:r>
                    </a:p>
                  </a:txBody>
                  <a:tcPr>
                    <a:solidFill>
                      <a:srgbClr val="831838"/>
                    </a:solidFill>
                  </a:tcPr>
                </a:tc>
                <a:tc>
                  <a:txBody>
                    <a:bodyPr/>
                    <a:lstStyle/>
                    <a:p>
                      <a:pPr algn="ctr"/>
                      <a:r>
                        <a:rPr sz="950" b="1">
                          <a:solidFill>
                            <a:srgbClr val="FFFFFF"/>
                          </a:solidFill>
                          <a:latin typeface="Poppins"/>
                        </a:rPr>
                        <a:t>Nominal Rate (A)</a:t>
                      </a:r>
                    </a:p>
                  </a:txBody>
                  <a:tcPr>
                    <a:solidFill>
                      <a:srgbClr val="831838"/>
                    </a:solidFill>
                  </a:tcPr>
                </a:tc>
                <a:tc>
                  <a:txBody>
                    <a:bodyPr/>
                    <a:lstStyle/>
                    <a:p>
                      <a:pPr algn="ctr"/>
                      <a:r>
                        <a:rPr sz="950" b="1">
                          <a:solidFill>
                            <a:srgbClr val="FFFFFF"/>
                          </a:solidFill>
                          <a:latin typeface="Poppins"/>
                        </a:rPr>
                        <a:t>Duration Range (s)</a:t>
                      </a:r>
                    </a:p>
                  </a:txBody>
                  <a:tcPr>
                    <a:solidFill>
                      <a:srgbClr val="831838"/>
                    </a:solidFill>
                  </a:tcPr>
                </a:tc>
                <a:tc>
                  <a:txBody>
                    <a:bodyPr/>
                    <a:lstStyle/>
                    <a:p>
                      <a:pPr algn="ctr"/>
                      <a:r>
                        <a:rPr sz="950" b="1">
                          <a:solidFill>
                            <a:srgbClr val="FFFFFF"/>
                          </a:solidFill>
                          <a:latin typeface="Poppins"/>
                        </a:rPr>
                        <a:t>Measured Capacity (Ah)</a:t>
                      </a:r>
                    </a:p>
                  </a:txBody>
                  <a:tcPr>
                    <a:solidFill>
                      <a:srgbClr val="831838"/>
                    </a:solidFill>
                  </a:tcPr>
                </a:tc>
              </a:tr>
              <a:tr h="350000">
                <a:tc>
                  <a:txBody>
                    <a:bodyPr/>
                    <a:lstStyle/>
                    <a:p>
                      <a:pPr algn="l"/>
                      <a:r>
                        <a:rPr sz="880">
                          <a:solidFill>
                            <a:srgbClr val="831838"/>
                          </a:solidFill>
                          <a:latin typeface="Poppins"/>
                        </a:rPr>
                        <a:t>Discharge CC</a:t>
                      </a:r>
                    </a:p>
                  </a:txBody>
                  <a:tcPr>
                    <a:solidFill>
                      <a:srgbClr val="F9FAFC"/>
                    </a:solidFill>
                  </a:tcPr>
                </a:tc>
                <a:tc>
                  <a:txBody>
                    <a:bodyPr/>
                    <a:lstStyle/>
                    <a:p>
                      <a:pPr algn="ctr"/>
                      <a:r>
                        <a:rPr sz="880">
                          <a:solidFill>
                            <a:srgbClr val="1F2937"/>
                          </a:solidFill>
                          <a:latin typeface="Poppins"/>
                        </a:rPr>
                        <a:t>01-02 (2 files)</a:t>
                      </a:r>
                    </a:p>
                  </a:txBody>
                  <a:tcPr>
                    <a:solidFill>
                      <a:srgbClr val="F9FAFC"/>
                    </a:solidFill>
                  </a:tcPr>
                </a:tc>
                <a:tc>
                  <a:txBody>
                    <a:bodyPr/>
                    <a:lstStyle/>
                    <a:p>
                      <a:pPr algn="ctr"/>
                      <a:r>
                        <a:rPr sz="880">
                          <a:solidFill>
                            <a:srgbClr val="1F2937"/>
                          </a:solidFill>
                          <a:latin typeface="Poppins"/>
                        </a:rPr>
                        <a:t>0.5 A</a:t>
                      </a:r>
                    </a:p>
                  </a:txBody>
                  <a:tcPr>
                    <a:solidFill>
                      <a:srgbClr val="F9FAFC"/>
                    </a:solidFill>
                  </a:tcPr>
                </a:tc>
                <a:tc>
                  <a:txBody>
                    <a:bodyPr/>
                    <a:lstStyle/>
                    <a:p>
                      <a:pPr algn="ctr"/>
                      <a:r>
                        <a:rPr sz="880">
                          <a:solidFill>
                            <a:srgbClr val="1F2937"/>
                          </a:solidFill>
                          <a:latin typeface="Poppins"/>
                        </a:rPr>
                        <a:t>20,622 - 21,138 s</a:t>
                      </a:r>
                    </a:p>
                  </a:txBody>
                  <a:tcPr>
                    <a:solidFill>
                      <a:srgbClr val="F9FAFC"/>
                    </a:solidFill>
                  </a:tcPr>
                </a:tc>
                <a:tc>
                  <a:txBody>
                    <a:bodyPr/>
                    <a:lstStyle/>
                    <a:p>
                      <a:pPr algn="ctr"/>
                      <a:r>
                        <a:rPr sz="880">
                          <a:solidFill>
                            <a:srgbClr val="1F2937"/>
                          </a:solidFill>
                          <a:latin typeface="Poppins"/>
                        </a:rPr>
                        <a:t>2.59 - 2.65 Ah</a:t>
                      </a:r>
                    </a:p>
                  </a:txBody>
                  <a:tcPr>
                    <a:solidFill>
                      <a:srgbClr val="F9FAFC"/>
                    </a:solidFill>
                  </a:tcPr>
                </a:tc>
              </a:tr>
              <a:tr h="350000">
                <a:tc>
                  <a:txBody>
                    <a:bodyPr/>
                    <a:lstStyle/>
                    <a:p>
                      <a:pPr algn="l"/>
                      <a:r>
                        <a:rPr sz="880">
                          <a:solidFill>
                            <a:srgbClr val="831838"/>
                          </a:solidFill>
                          <a:latin typeface="Poppins"/>
                        </a:rPr>
                        <a:t>Discharge CC</a:t>
                      </a:r>
                    </a:p>
                  </a:txBody>
                  <a:tcPr>
                    <a:solidFill>
                      <a:srgbClr val="FFFFFF"/>
                    </a:solidFill>
                  </a:tcPr>
                </a:tc>
                <a:tc>
                  <a:txBody>
                    <a:bodyPr/>
                    <a:lstStyle/>
                    <a:p>
                      <a:pPr algn="ctr"/>
                      <a:r>
                        <a:rPr sz="880">
                          <a:solidFill>
                            <a:srgbClr val="1F2937"/>
                          </a:solidFill>
                          <a:latin typeface="Poppins"/>
                        </a:rPr>
                        <a:t>03-11 (9 files)</a:t>
                      </a:r>
                    </a:p>
                  </a:txBody>
                  <a:tcPr>
                    <a:solidFill>
                      <a:srgbClr val="FFFFFF"/>
                    </a:solidFill>
                  </a:tcPr>
                </a:tc>
                <a:tc>
                  <a:txBody>
                    <a:bodyPr/>
                    <a:lstStyle/>
                    <a:p>
                      <a:pPr algn="ctr"/>
                      <a:r>
                        <a:rPr sz="880">
                          <a:solidFill>
                            <a:srgbClr val="1F2937"/>
                          </a:solidFill>
                          <a:latin typeface="Poppins"/>
                        </a:rPr>
                        <a:t>1.0 A</a:t>
                      </a:r>
                    </a:p>
                  </a:txBody>
                  <a:tcPr>
                    <a:solidFill>
                      <a:srgbClr val="FFFFFF"/>
                    </a:solidFill>
                  </a:tcPr>
                </a:tc>
                <a:tc>
                  <a:txBody>
                    <a:bodyPr/>
                    <a:lstStyle/>
                    <a:p>
                      <a:pPr algn="ctr"/>
                      <a:r>
                        <a:rPr sz="880">
                          <a:solidFill>
                            <a:srgbClr val="1F2937"/>
                          </a:solidFill>
                          <a:latin typeface="Poppins"/>
                        </a:rPr>
                        <a:t>9,572 - 10,503 s</a:t>
                      </a:r>
                    </a:p>
                  </a:txBody>
                  <a:tcPr>
                    <a:solidFill>
                      <a:srgbClr val="FFFFFF"/>
                    </a:solidFill>
                  </a:tcPr>
                </a:tc>
                <a:tc>
                  <a:txBody>
                    <a:bodyPr/>
                    <a:lstStyle/>
                    <a:p>
                      <a:pPr algn="ctr"/>
                      <a:r>
                        <a:rPr sz="880">
                          <a:solidFill>
                            <a:srgbClr val="1F2937"/>
                          </a:solidFill>
                          <a:latin typeface="Poppins"/>
                        </a:rPr>
                        <a:t>2.52 - 2.77 Ah</a:t>
                      </a:r>
                    </a:p>
                  </a:txBody>
                  <a:tcPr>
                    <a:solidFill>
                      <a:srgbClr val="FFFFFF"/>
                    </a:solidFill>
                  </a:tcPr>
                </a:tc>
              </a:tr>
              <a:tr h="350000">
                <a:tc>
                  <a:txBody>
                    <a:bodyPr/>
                    <a:lstStyle/>
                    <a:p>
                      <a:pPr algn="l"/>
                      <a:r>
                        <a:rPr sz="880">
                          <a:solidFill>
                            <a:srgbClr val="831838"/>
                          </a:solidFill>
                          <a:latin typeface="Poppins"/>
                        </a:rPr>
                        <a:t>Discharge CC</a:t>
                      </a:r>
                    </a:p>
                  </a:txBody>
                  <a:tcPr>
                    <a:solidFill>
                      <a:srgbClr val="F9FAFC"/>
                    </a:solidFill>
                  </a:tcPr>
                </a:tc>
                <a:tc>
                  <a:txBody>
                    <a:bodyPr/>
                    <a:lstStyle/>
                    <a:p>
                      <a:pPr algn="ctr"/>
                      <a:r>
                        <a:rPr sz="880">
                          <a:solidFill>
                            <a:srgbClr val="1F2937"/>
                          </a:solidFill>
                          <a:latin typeface="Poppins"/>
                        </a:rPr>
                        <a:t>12-21 (10 files)</a:t>
                      </a:r>
                    </a:p>
                  </a:txBody>
                  <a:tcPr>
                    <a:solidFill>
                      <a:srgbClr val="F9FAFC"/>
                    </a:solidFill>
                  </a:tcPr>
                </a:tc>
                <a:tc>
                  <a:txBody>
                    <a:bodyPr/>
                    <a:lstStyle/>
                    <a:p>
                      <a:pPr algn="ctr"/>
                      <a:r>
                        <a:rPr sz="880">
                          <a:solidFill>
                            <a:srgbClr val="1F2937"/>
                          </a:solidFill>
                          <a:latin typeface="Poppins"/>
                        </a:rPr>
                        <a:t>2.0 A</a:t>
                      </a:r>
                    </a:p>
                  </a:txBody>
                  <a:tcPr>
                    <a:solidFill>
                      <a:srgbClr val="F9FAFC"/>
                    </a:solidFill>
                  </a:tcPr>
                </a:tc>
                <a:tc>
                  <a:txBody>
                    <a:bodyPr/>
                    <a:lstStyle/>
                    <a:p>
                      <a:pPr algn="ctr"/>
                      <a:r>
                        <a:rPr sz="880">
                          <a:solidFill>
                            <a:srgbClr val="1F2937"/>
                          </a:solidFill>
                          <a:latin typeface="Poppins"/>
                        </a:rPr>
                        <a:t>4,486 - 4,964 s</a:t>
                      </a:r>
                    </a:p>
                  </a:txBody>
                  <a:tcPr>
                    <a:solidFill>
                      <a:srgbClr val="F9FAFC"/>
                    </a:solidFill>
                  </a:tcPr>
                </a:tc>
                <a:tc>
                  <a:txBody>
                    <a:bodyPr/>
                    <a:lstStyle/>
                    <a:p>
                      <a:pPr algn="ctr"/>
                      <a:r>
                        <a:rPr sz="880">
                          <a:solidFill>
                            <a:srgbClr val="1F2937"/>
                          </a:solidFill>
                          <a:latin typeface="Poppins"/>
                        </a:rPr>
                        <a:t>2.34 - 2.62 Ah</a:t>
                      </a:r>
                    </a:p>
                  </a:txBody>
                  <a:tcPr>
                    <a:solidFill>
                      <a:srgbClr val="F9FAFC"/>
                    </a:solidFill>
                  </a:tcPr>
                </a:tc>
              </a:tr>
              <a:tr h="350000">
                <a:tc>
                  <a:txBody>
                    <a:bodyPr/>
                    <a:lstStyle/>
                    <a:p>
                      <a:pPr algn="l"/>
                      <a:r>
                        <a:rPr sz="880">
                          <a:solidFill>
                            <a:srgbClr val="831838"/>
                          </a:solidFill>
                          <a:latin typeface="Poppins"/>
                        </a:rPr>
                        <a:t>Discharge CC</a:t>
                      </a:r>
                    </a:p>
                  </a:txBody>
                  <a:tcPr>
                    <a:solidFill>
                      <a:srgbClr val="FFFFFF"/>
                    </a:solidFill>
                  </a:tcPr>
                </a:tc>
                <a:tc>
                  <a:txBody>
                    <a:bodyPr/>
                    <a:lstStyle/>
                    <a:p>
                      <a:pPr algn="ctr"/>
                      <a:r>
                        <a:rPr sz="880">
                          <a:solidFill>
                            <a:srgbClr val="1F2937"/>
                          </a:solidFill>
                          <a:latin typeface="Poppins"/>
                        </a:rPr>
                        <a:t>22-30 (9 files)</a:t>
                      </a:r>
                    </a:p>
                  </a:txBody>
                  <a:tcPr>
                    <a:solidFill>
                      <a:srgbClr val="FFFFFF"/>
                    </a:solidFill>
                  </a:tcPr>
                </a:tc>
                <a:tc>
                  <a:txBody>
                    <a:bodyPr/>
                    <a:lstStyle/>
                    <a:p>
                      <a:pPr algn="ctr"/>
                      <a:r>
                        <a:rPr sz="880">
                          <a:solidFill>
                            <a:srgbClr val="1F2937"/>
                          </a:solidFill>
                          <a:latin typeface="Poppins"/>
                        </a:rPr>
                        <a:t>3.0 A</a:t>
                      </a:r>
                    </a:p>
                  </a:txBody>
                  <a:tcPr>
                    <a:solidFill>
                      <a:srgbClr val="FFFFFF"/>
                    </a:solidFill>
                  </a:tcPr>
                </a:tc>
                <a:tc>
                  <a:txBody>
                    <a:bodyPr/>
                    <a:lstStyle/>
                    <a:p>
                      <a:pPr algn="ctr"/>
                      <a:r>
                        <a:rPr sz="880">
                          <a:solidFill>
                            <a:srgbClr val="1F2937"/>
                          </a:solidFill>
                          <a:latin typeface="Poppins"/>
                        </a:rPr>
                        <a:t>3,072 - 3,378 s</a:t>
                      </a:r>
                    </a:p>
                  </a:txBody>
                  <a:tcPr>
                    <a:solidFill>
                      <a:srgbClr val="FFFFFF"/>
                    </a:solidFill>
                  </a:tcPr>
                </a:tc>
                <a:tc>
                  <a:txBody>
                    <a:bodyPr/>
                    <a:lstStyle/>
                    <a:p>
                      <a:pPr algn="ctr"/>
                      <a:r>
                        <a:rPr sz="880">
                          <a:solidFill>
                            <a:srgbClr val="1F2937"/>
                          </a:solidFill>
                          <a:latin typeface="Poppins"/>
                        </a:rPr>
                        <a:t>2.29 - 2.56 Ah</a:t>
                      </a:r>
                    </a:p>
                  </a:txBody>
                  <a:tcPr>
                    <a:solidFill>
                      <a:srgbClr val="FFFFFF"/>
                    </a:solidFill>
                  </a:tcPr>
                </a:tc>
              </a:tr>
              <a:tr h="350000">
                <a:tc>
                  <a:txBody>
                    <a:bodyPr/>
                    <a:lstStyle/>
                    <a:p>
                      <a:pPr algn="l"/>
                      <a:r>
                        <a:rPr sz="880">
                          <a:solidFill>
                            <a:srgbClr val="831838"/>
                          </a:solidFill>
                          <a:latin typeface="Poppins"/>
                        </a:rPr>
                        <a:t>Charge CC/CV</a:t>
                      </a:r>
                    </a:p>
                  </a:txBody>
                  <a:tcPr>
                    <a:solidFill>
                      <a:srgbClr val="F9FAFC"/>
                    </a:solidFill>
                  </a:tcPr>
                </a:tc>
                <a:tc>
                  <a:txBody>
                    <a:bodyPr/>
                    <a:lstStyle/>
                    <a:p>
                      <a:pPr algn="ctr"/>
                      <a:r>
                        <a:rPr sz="880">
                          <a:solidFill>
                            <a:srgbClr val="1F2937"/>
                          </a:solidFill>
                          <a:latin typeface="Poppins"/>
                        </a:rPr>
                        <a:t>01-10 (10 files)</a:t>
                      </a:r>
                    </a:p>
                  </a:txBody>
                  <a:tcPr>
                    <a:solidFill>
                      <a:srgbClr val="F9FAFC"/>
                    </a:solidFill>
                  </a:tcPr>
                </a:tc>
                <a:tc>
                  <a:txBody>
                    <a:bodyPr/>
                    <a:lstStyle/>
                    <a:p>
                      <a:pPr algn="ctr"/>
                      <a:r>
                        <a:rPr sz="880">
                          <a:solidFill>
                            <a:srgbClr val="1F2937"/>
                          </a:solidFill>
                          <a:latin typeface="Poppins"/>
                        </a:rPr>
                        <a:t>1.0 A</a:t>
                      </a:r>
                    </a:p>
                  </a:txBody>
                  <a:tcPr>
                    <a:solidFill>
                      <a:srgbClr val="F9FAFC"/>
                    </a:solidFill>
                  </a:tcPr>
                </a:tc>
                <a:tc>
                  <a:txBody>
                    <a:bodyPr/>
                    <a:lstStyle/>
                    <a:p>
                      <a:pPr algn="ctr"/>
                      <a:r>
                        <a:rPr sz="880">
                          <a:solidFill>
                            <a:srgbClr val="1F2937"/>
                          </a:solidFill>
                          <a:latin typeface="Poppins"/>
                        </a:rPr>
                        <a:t>10,614 - 13,530 s</a:t>
                      </a:r>
                    </a:p>
                  </a:txBody>
                  <a:tcPr>
                    <a:solidFill>
                      <a:srgbClr val="F9FAFC"/>
                    </a:solidFill>
                  </a:tcPr>
                </a:tc>
                <a:tc>
                  <a:txBody>
                    <a:bodyPr/>
                    <a:lstStyle/>
                    <a:p>
                      <a:pPr algn="ctr"/>
                      <a:r>
                        <a:rPr sz="880">
                          <a:solidFill>
                            <a:srgbClr val="1F2937"/>
                          </a:solidFill>
                          <a:latin typeface="Poppins"/>
                        </a:rPr>
                        <a:t>2.74 - 3.02 Ah</a:t>
                      </a:r>
                    </a:p>
                  </a:txBody>
                  <a:tcPr>
                    <a:solidFill>
                      <a:srgbClr val="F9FAFC"/>
                    </a:solidFill>
                  </a:tcPr>
                </a:tc>
              </a:tr>
              <a:tr h="350000">
                <a:tc>
                  <a:txBody>
                    <a:bodyPr/>
                    <a:lstStyle/>
                    <a:p>
                      <a:pPr algn="l"/>
                      <a:r>
                        <a:rPr sz="880">
                          <a:solidFill>
                            <a:srgbClr val="831838"/>
                          </a:solidFill>
                          <a:latin typeface="Poppins"/>
                        </a:rPr>
                        <a:t>Charge CC/CV</a:t>
                      </a:r>
                    </a:p>
                  </a:txBody>
                  <a:tcPr>
                    <a:solidFill>
                      <a:srgbClr val="FFFFFF"/>
                    </a:solidFill>
                  </a:tcPr>
                </a:tc>
                <a:tc>
                  <a:txBody>
                    <a:bodyPr/>
                    <a:lstStyle/>
                    <a:p>
                      <a:pPr algn="ctr"/>
                      <a:r>
                        <a:rPr sz="880">
                          <a:solidFill>
                            <a:srgbClr val="1F2937"/>
                          </a:solidFill>
                          <a:latin typeface="Poppins"/>
                        </a:rPr>
                        <a:t>11-21 (11 files)</a:t>
                      </a:r>
                    </a:p>
                  </a:txBody>
                  <a:tcPr>
                    <a:solidFill>
                      <a:srgbClr val="FFFFFF"/>
                    </a:solidFill>
                  </a:tcPr>
                </a:tc>
                <a:tc>
                  <a:txBody>
                    <a:bodyPr/>
                    <a:lstStyle/>
                    <a:p>
                      <a:pPr algn="ctr"/>
                      <a:r>
                        <a:rPr sz="880">
                          <a:solidFill>
                            <a:srgbClr val="1F2937"/>
                          </a:solidFill>
                          <a:latin typeface="Poppins"/>
                        </a:rPr>
                        <a:t>2.0 A</a:t>
                      </a:r>
                    </a:p>
                  </a:txBody>
                  <a:tcPr>
                    <a:solidFill>
                      <a:srgbClr val="FFFFFF"/>
                    </a:solidFill>
                  </a:tcPr>
                </a:tc>
                <a:tc>
                  <a:txBody>
                    <a:bodyPr/>
                    <a:lstStyle/>
                    <a:p>
                      <a:pPr algn="ctr"/>
                      <a:r>
                        <a:rPr sz="880">
                          <a:solidFill>
                            <a:srgbClr val="1F2937"/>
                          </a:solidFill>
                          <a:latin typeface="Poppins"/>
                        </a:rPr>
                        <a:t>6,125 - 7,600 s</a:t>
                      </a:r>
                    </a:p>
                  </a:txBody>
                  <a:tcPr>
                    <a:solidFill>
                      <a:srgbClr val="FFFFFF"/>
                    </a:solidFill>
                  </a:tcPr>
                </a:tc>
                <a:tc>
                  <a:txBody>
                    <a:bodyPr/>
                    <a:lstStyle/>
                    <a:p>
                      <a:pPr algn="ctr"/>
                      <a:r>
                        <a:rPr sz="880">
                          <a:solidFill>
                            <a:srgbClr val="1F2937"/>
                          </a:solidFill>
                          <a:latin typeface="Poppins"/>
                        </a:rPr>
                        <a:t>2.64 - 2.86 Ah</a:t>
                      </a:r>
                    </a:p>
                  </a:txBody>
                  <a:tcPr>
                    <a:solidFill>
                      <a:srgbClr val="FFFFFF"/>
                    </a:solidFill>
                  </a:tcPr>
                </a:tc>
              </a:tr>
              <a:tr h="350000">
                <a:tc>
                  <a:txBody>
                    <a:bodyPr/>
                    <a:lstStyle/>
                    <a:p>
                      <a:pPr algn="l"/>
                      <a:r>
                        <a:rPr sz="880">
                          <a:solidFill>
                            <a:srgbClr val="831838"/>
                          </a:solidFill>
                          <a:latin typeface="Poppins"/>
                        </a:rPr>
                        <a:t>Charge CC/CV</a:t>
                      </a:r>
                    </a:p>
                  </a:txBody>
                  <a:tcPr>
                    <a:solidFill>
                      <a:srgbClr val="F9FAFC"/>
                    </a:solidFill>
                  </a:tcPr>
                </a:tc>
                <a:tc>
                  <a:txBody>
                    <a:bodyPr/>
                    <a:lstStyle/>
                    <a:p>
                      <a:pPr algn="ctr"/>
                      <a:r>
                        <a:rPr sz="880">
                          <a:solidFill>
                            <a:srgbClr val="1F2937"/>
                          </a:solidFill>
                          <a:latin typeface="Poppins"/>
                        </a:rPr>
                        <a:t>22-30 (9 files)</a:t>
                      </a:r>
                    </a:p>
                  </a:txBody>
                  <a:tcPr>
                    <a:solidFill>
                      <a:srgbClr val="F9FAFC"/>
                    </a:solidFill>
                  </a:tcPr>
                </a:tc>
                <a:tc>
                  <a:txBody>
                    <a:bodyPr/>
                    <a:lstStyle/>
                    <a:p>
                      <a:pPr algn="ctr"/>
                      <a:r>
                        <a:rPr sz="880">
                          <a:solidFill>
                            <a:srgbClr val="1F2937"/>
                          </a:solidFill>
                          <a:latin typeface="Poppins"/>
                        </a:rPr>
                        <a:t>3.0 A</a:t>
                      </a:r>
                    </a:p>
                  </a:txBody>
                  <a:tcPr>
                    <a:solidFill>
                      <a:srgbClr val="F9FAFC"/>
                    </a:solidFill>
                  </a:tcPr>
                </a:tc>
                <a:tc>
                  <a:txBody>
                    <a:bodyPr/>
                    <a:lstStyle/>
                    <a:p>
                      <a:pPr algn="ctr"/>
                      <a:r>
                        <a:rPr sz="880">
                          <a:solidFill>
                            <a:srgbClr val="1F2937"/>
                          </a:solidFill>
                          <a:latin typeface="Poppins"/>
                        </a:rPr>
                        <a:t>4,374 - 5,252 s</a:t>
                      </a:r>
                    </a:p>
                  </a:txBody>
                  <a:tcPr>
                    <a:solidFill>
                      <a:srgbClr val="F9FAFC"/>
                    </a:solidFill>
                  </a:tcPr>
                </a:tc>
                <a:tc>
                  <a:txBody>
                    <a:bodyPr/>
                    <a:lstStyle/>
                    <a:p>
                      <a:pPr algn="ctr"/>
                      <a:r>
                        <a:rPr sz="880">
                          <a:solidFill>
                            <a:srgbClr val="1F2937"/>
                          </a:solidFill>
                          <a:latin typeface="Poppins"/>
                        </a:rPr>
                        <a:t>2.45 - 2.72 Ah</a:t>
                      </a:r>
                    </a:p>
                  </a:txBody>
                  <a:tcPr>
                    <a:solidFill>
                      <a:srgbClr val="F9FAFC"/>
                    </a:solidFill>
                  </a:tcPr>
                </a:tc>
              </a:tr>
            </a:tbl>
          </a:graphicData>
        </a:graphic>
      </p:graphicFrame>
      <p:sp>
        <p:nvSpPr>
          <p:cNvPr id="8" name="Rounded Rectangle 7"/>
          <p:cNvSpPr/>
          <p:nvPr/>
        </p:nvSpPr>
        <p:spPr>
          <a:xfrm>
            <a:off x="411480" y="4450000"/>
            <a:ext cx="5550000" cy="18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87160"/>
            <a:ext cx="5092800" cy="384048"/>
          </a:xfrm>
          <a:prstGeom prst="rect">
            <a:avLst/>
          </a:prstGeom>
          <a:noFill/>
        </p:spPr>
        <p:txBody>
          <a:bodyPr wrap="square" lIns="0" rIns="0" tIns="0" bIns="0">
            <a:spAutoFit/>
          </a:bodyPr>
          <a:lstStyle/>
          <a:p>
            <a:r>
              <a:rPr sz="1200" b="1">
                <a:solidFill>
                  <a:srgbClr val="831838"/>
                </a:solidFill>
                <a:latin typeface="Poppins"/>
              </a:rPr>
              <a:t>Data Cleaning &amp; Harmonization</a:t>
            </a:r>
          </a:p>
        </p:txBody>
      </p:sp>
      <p:sp>
        <p:nvSpPr>
          <p:cNvPr id="10" name="TextBox 9"/>
          <p:cNvSpPr txBox="1"/>
          <p:nvPr/>
        </p:nvSpPr>
        <p:spPr>
          <a:xfrm>
            <a:off x="594360" y="5035216"/>
            <a:ext cx="5184240" cy="1141632"/>
          </a:xfrm>
          <a:prstGeom prst="rect">
            <a:avLst/>
          </a:prstGeom>
          <a:noFill/>
        </p:spPr>
        <p:txBody>
          <a:bodyPr wrap="square" lIns="0" rIns="0" tIns="0" bIns="0">
            <a:spAutoFit/>
          </a:bodyPr>
          <a:lstStyle/>
          <a:p>
            <a:pPr>
              <a:spcAft>
                <a:spcPts val="220"/>
              </a:spcAft>
            </a:pPr>
            <a:r>
              <a:rPr sz="919" b="1">
                <a:solidFill>
                  <a:srgbClr val="1F2937"/>
                </a:solidFill>
                <a:latin typeface="Poppins"/>
              </a:rPr>
              <a:t>4-Wire Kelvin Averaging: </a:t>
            </a:r>
            <a:r>
              <a:rPr sz="880">
                <a:solidFill>
                  <a:srgbClr val="4B5563"/>
                </a:solidFill>
                <a:latin typeface="Poppins"/>
              </a:rPr>
              <a:t>NASA logs contain 4 probe channels (Vbat1-4); computing mean voltage eliminates contact impedance noise.</a:t>
            </a:r>
          </a:p>
          <a:p>
            <a:pPr>
              <a:spcAft>
                <a:spcPts val="220"/>
              </a:spcAft>
            </a:pPr>
            <a:r>
              <a:rPr sz="919" b="1">
                <a:solidFill>
                  <a:srgbClr val="1F2937"/>
                </a:solidFill>
                <a:latin typeface="Poppins"/>
              </a:rPr>
              <a:t>Uniform 5 s Resampling: </a:t>
            </a:r>
            <a:r>
              <a:rPr sz="880">
                <a:solidFill>
                  <a:srgbClr val="4B5563"/>
                </a:solidFill>
                <a:latin typeface="Poppins"/>
              </a:rPr>
              <a:t>Interpolates non-uniform timestamp intervals onto an exact 5.0 s grid for stable digital integration.</a:t>
            </a:r>
          </a:p>
          <a:p>
            <a:pPr>
              <a:spcAft>
                <a:spcPts val="220"/>
              </a:spcAft>
            </a:pPr>
            <a:r>
              <a:rPr sz="919" b="1">
                <a:solidFill>
                  <a:srgbClr val="1F2937"/>
                </a:solidFill>
                <a:latin typeface="Poppins"/>
              </a:rPr>
              <a:t>Ground Truth Reference: </a:t>
            </a:r>
            <a:r>
              <a:rPr sz="880">
                <a:solidFill>
                  <a:srgbClr val="4B5563"/>
                </a:solidFill>
                <a:latin typeface="Poppins"/>
              </a:rPr>
              <a:t>Normalizes Coulomb-counting integral to each cycle's exact measured capacity (0% to 100%).</a:t>
            </a:r>
          </a:p>
        </p:txBody>
      </p:sp>
      <p:sp>
        <p:nvSpPr>
          <p:cNvPr id="11" name="Rounded Rectangle 10"/>
          <p:cNvSpPr/>
          <p:nvPr/>
        </p:nvSpPr>
        <p:spPr>
          <a:xfrm>
            <a:off x="6230000" y="4450000"/>
            <a:ext cx="5550000" cy="18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8600" y="4587160"/>
            <a:ext cx="5092800" cy="384048"/>
          </a:xfrm>
          <a:prstGeom prst="rect">
            <a:avLst/>
          </a:prstGeom>
          <a:noFill/>
        </p:spPr>
        <p:txBody>
          <a:bodyPr wrap="square" lIns="0" rIns="0" tIns="0" bIns="0">
            <a:spAutoFit/>
          </a:bodyPr>
          <a:lstStyle/>
          <a:p>
            <a:r>
              <a:rPr sz="1200" b="1">
                <a:solidFill>
                  <a:srgbClr val="831838"/>
                </a:solidFill>
                <a:latin typeface="Poppins"/>
              </a:rPr>
              <a:t>Train / Test Split &amp; Augmentation</a:t>
            </a:r>
          </a:p>
        </p:txBody>
      </p:sp>
      <p:sp>
        <p:nvSpPr>
          <p:cNvPr id="13" name="TextBox 12"/>
          <p:cNvSpPr txBox="1"/>
          <p:nvPr/>
        </p:nvSpPr>
        <p:spPr>
          <a:xfrm>
            <a:off x="6412880" y="5035216"/>
            <a:ext cx="5184240" cy="1141632"/>
          </a:xfrm>
          <a:prstGeom prst="rect">
            <a:avLst/>
          </a:prstGeom>
          <a:noFill/>
        </p:spPr>
        <p:txBody>
          <a:bodyPr wrap="square" lIns="0" rIns="0" tIns="0" bIns="0">
            <a:spAutoFit/>
          </a:bodyPr>
          <a:lstStyle/>
          <a:p>
            <a:pPr>
              <a:spcAft>
                <a:spcPts val="220"/>
              </a:spcAft>
            </a:pPr>
            <a:r>
              <a:rPr sz="919" b="1">
                <a:solidFill>
                  <a:srgbClr val="1F2937"/>
                </a:solidFill>
                <a:latin typeface="Poppins"/>
              </a:rPr>
              <a:t>Training Set (53 files): </a:t>
            </a:r>
            <a:r>
              <a:rPr sz="880">
                <a:solidFill>
                  <a:srgbClr val="4B5563"/>
                </a:solidFill>
                <a:latin typeface="Poppins"/>
              </a:rPr>
              <a:t>26 discharge + 27 charge files; expanded to 302,692 samples using synthetic ADC noise and offset augmentation.</a:t>
            </a:r>
          </a:p>
          <a:p>
            <a:pPr>
              <a:spcAft>
                <a:spcPts val="220"/>
              </a:spcAft>
            </a:pPr>
            <a:r>
              <a:rPr sz="919" b="1">
                <a:solidFill>
                  <a:srgbClr val="1F2937"/>
                </a:solidFill>
                <a:latin typeface="Poppins"/>
              </a:rPr>
              <a:t>Held-Out Test Set (7 files): </a:t>
            </a:r>
            <a:r>
              <a:rPr sz="880">
                <a:solidFill>
                  <a:srgbClr val="4B5563"/>
                </a:solidFill>
                <a:latin typeface="Poppins"/>
              </a:rPr>
              <a:t>Discharge 02 (0.5A) and full charge/discharge pairs 10 (1A), 20 (2A), 30 (3A) strictly held out.</a:t>
            </a:r>
          </a:p>
          <a:p>
            <a:pPr>
              <a:spcAft>
                <a:spcPts val="220"/>
              </a:spcAft>
            </a:pPr>
            <a:r>
              <a:rPr sz="919" b="1">
                <a:solidFill>
                  <a:srgbClr val="1F2937"/>
                </a:solidFill>
                <a:latin typeface="Poppins"/>
              </a:rPr>
              <a:t>Dataset Source: </a:t>
            </a:r>
            <a:r>
              <a:rPr sz="880">
                <a:solidFill>
                  <a:srgbClr val="4B5563"/>
                </a:solidFill>
                <a:latin typeface="Poppins"/>
              </a:rPr>
              <a:t>NASA Ames Prognostics Center of Excellence (PCoE) Li-ion Aging Dataset (Dashlink Resource 133).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Feature Engineering  </a:t>
            </a:r>
            <a:r>
              <a:rPr sz="2500">
                <a:solidFill>
                  <a:srgbClr val="99A3AF"/>
                </a:solidFill>
                <a:latin typeface="Poppins"/>
              </a:rPr>
              <a:t>Slide 09</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12</a:t>
            </a:r>
          </a:p>
        </p:txBody>
      </p:sp>
      <p:sp>
        <p:nvSpPr>
          <p:cNvPr id="7" name="Rounded Rectangle 6"/>
          <p:cNvSpPr/>
          <p:nvPr/>
        </p:nvSpPr>
        <p:spPr>
          <a:xfrm>
            <a:off x="411480" y="1500000"/>
            <a:ext cx="680000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37160"/>
            <a:ext cx="6342800" cy="384048"/>
          </a:xfrm>
          <a:prstGeom prst="rect">
            <a:avLst/>
          </a:prstGeom>
          <a:noFill/>
        </p:spPr>
        <p:txBody>
          <a:bodyPr wrap="square" lIns="0" rIns="0" tIns="0" bIns="0">
            <a:spAutoFit/>
          </a:bodyPr>
          <a:lstStyle/>
          <a:p>
            <a:r>
              <a:rPr sz="1200" b="1">
                <a:solidFill>
                  <a:srgbClr val="831838"/>
                </a:solidFill>
                <a:latin typeface="Poppins"/>
              </a:rPr>
              <a:t>Causal Input Vector &amp; Physical Rationale</a:t>
            </a:r>
          </a:p>
        </p:txBody>
      </p:sp>
      <p:sp>
        <p:nvSpPr>
          <p:cNvPr id="9" name="TextBox 8"/>
          <p:cNvSpPr txBox="1"/>
          <p:nvPr/>
        </p:nvSpPr>
        <p:spPr>
          <a:xfrm>
            <a:off x="594360" y="2085216"/>
            <a:ext cx="643424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Model Feature Vector: </a:t>
            </a:r>
            <a:r>
              <a:rPr sz="880">
                <a:solidFill>
                  <a:srgbClr val="4B5563"/>
                </a:solidFill>
                <a:latin typeface="Poppins"/>
              </a:rPr>
              <a:t>The MLP receives a compact 3-dimensional causal input vector: X = [V_noisy, I_noisy, V_smooth].</a:t>
            </a:r>
          </a:p>
          <a:p>
            <a:pPr>
              <a:spcAft>
                <a:spcPts val="220"/>
              </a:spcAft>
            </a:pPr>
            <a:r>
              <a:rPr sz="919" b="1">
                <a:solidFill>
                  <a:srgbClr val="1F2937"/>
                </a:solidFill>
                <a:latin typeface="Poppins"/>
              </a:rPr>
              <a:t>Why Instantaneous V is Insufficient: </a:t>
            </a:r>
            <a:r>
              <a:rPr sz="880">
                <a:solidFill>
                  <a:srgbClr val="4B5563"/>
                </a:solidFill>
                <a:latin typeface="Poppins"/>
              </a:rPr>
              <a:t>Under load, terminal voltage shifts instantly by ΔV = I·R0 due to ohmic resistance. Without load context, a sudden 1A discharge looks like a 15% SOC drop.</a:t>
            </a:r>
          </a:p>
          <a:p>
            <a:pPr>
              <a:spcAft>
                <a:spcPts val="220"/>
              </a:spcAft>
            </a:pPr>
            <a:r>
              <a:rPr sz="919" b="1">
                <a:solidFill>
                  <a:srgbClr val="1F2937"/>
                </a:solidFill>
                <a:latin typeface="Poppins"/>
              </a:rPr>
              <a:t>Why Current I is Required: </a:t>
            </a:r>
            <a:r>
              <a:rPr sz="880">
                <a:solidFill>
                  <a:srgbClr val="4B5563"/>
                </a:solidFill>
                <a:latin typeface="Poppins"/>
              </a:rPr>
              <a:t>Provides sign and magnitude of charge flux; distinguishes discharge current (positive) from CC/CV charging current (negative).</a:t>
            </a:r>
          </a:p>
          <a:p>
            <a:pPr>
              <a:spcAft>
                <a:spcPts val="220"/>
              </a:spcAft>
            </a:pPr>
            <a:r>
              <a:rPr sz="919" b="1">
                <a:solidFill>
                  <a:srgbClr val="1F2937"/>
                </a:solidFill>
                <a:latin typeface="Poppins"/>
              </a:rPr>
              <a:t>Physical Rationale for V_smooth: </a:t>
            </a:r>
            <a:r>
              <a:rPr sz="880">
                <a:solidFill>
                  <a:srgbClr val="4B5563"/>
                </a:solidFill>
                <a:latin typeface="Poppins"/>
              </a:rPr>
              <a:t>A 60-second causal moving average: V_smooth(t) = (1/N) ∑_{k=0}^{N-1} V(t - k·dt). Filters out high-frequency load switching spikes while preserving slow electrochemical equilibrium diffusion.</a:t>
            </a:r>
          </a:p>
          <a:p>
            <a:pPr>
              <a:spcAft>
                <a:spcPts val="220"/>
              </a:spcAft>
            </a:pPr>
            <a:r>
              <a:rPr sz="919" b="1">
                <a:solidFill>
                  <a:srgbClr val="1F2937"/>
                </a:solidFill>
                <a:latin typeface="Poppins"/>
              </a:rPr>
              <a:t>Zero Future Leakage Gate: </a:t>
            </a:r>
            <a:r>
              <a:rPr sz="880">
                <a:solidFill>
                  <a:srgbClr val="4B5563"/>
                </a:solidFill>
                <a:latin typeface="Poppins"/>
              </a:rPr>
              <a:t>Warmup uses dynamic ring buffer averaging only over past samples; strictly zero lookahead into future time steps.</a:t>
            </a:r>
          </a:p>
          <a:p>
            <a:pPr>
              <a:spcAft>
                <a:spcPts val="220"/>
              </a:spcAft>
            </a:pPr>
            <a:r>
              <a:rPr sz="919" b="1">
                <a:solidFill>
                  <a:srgbClr val="1F2937"/>
                </a:solidFill>
                <a:latin typeface="Poppins"/>
              </a:rPr>
              <a:t>Standardization Scaler: </a:t>
            </a:r>
            <a:r>
              <a:rPr sz="880">
                <a:solidFill>
                  <a:srgbClr val="4B5563"/>
                </a:solidFill>
                <a:latin typeface="Poppins"/>
              </a:rPr>
              <a:t>Z-score normalization fit strictly on training set: μ = [3.811V, 0.453A, 3.812V], σ = [0.264V, 1.264A, 0.258V].</a:t>
            </a:r>
          </a:p>
        </p:txBody>
      </p:sp>
      <p:graphicFrame>
        <p:nvGraphicFramePr>
          <p:cNvPr id="10" name="Table 9"/>
          <p:cNvGraphicFramePr>
            <a:graphicFrameLocks noGrp="1"/>
          </p:cNvGraphicFramePr>
          <p:nvPr/>
        </p:nvGraphicFramePr>
        <p:xfrm>
          <a:off x="7400000" y="1500000"/>
          <a:ext cx="4379920" cy="2600000"/>
        </p:xfrm>
        <a:graphic>
          <a:graphicData uri="http://schemas.openxmlformats.org/drawingml/2006/table">
            <a:tbl>
              <a:tblPr firstRow="1" bandRow="1">
                <a:tableStyleId>{5C22544A-7EE6-4342-B048-85BDC9FD1C3A}</a:tableStyleId>
              </a:tblPr>
              <a:tblGrid>
                <a:gridCol w="1094980"/>
                <a:gridCol w="1094980"/>
                <a:gridCol w="1094980"/>
                <a:gridCol w="1094980"/>
              </a:tblGrid>
              <a:tr h="650000">
                <a:tc>
                  <a:txBody>
                    <a:bodyPr/>
                    <a:lstStyle/>
                    <a:p>
                      <a:pPr algn="l"/>
                      <a:r>
                        <a:rPr sz="950" b="1">
                          <a:solidFill>
                            <a:srgbClr val="FFFFFF"/>
                          </a:solidFill>
                          <a:latin typeface="Poppins"/>
                        </a:rPr>
                        <a:t>Feature</a:t>
                      </a:r>
                    </a:p>
                  </a:txBody>
                  <a:tcPr>
                    <a:solidFill>
                      <a:srgbClr val="831838"/>
                    </a:solidFill>
                  </a:tcPr>
                </a:tc>
                <a:tc>
                  <a:txBody>
                    <a:bodyPr/>
                    <a:lstStyle/>
                    <a:p>
                      <a:pPr algn="ctr"/>
                      <a:r>
                        <a:rPr sz="950" b="1">
                          <a:solidFill>
                            <a:srgbClr val="FFFFFF"/>
                          </a:solidFill>
                          <a:latin typeface="Poppins"/>
                        </a:rPr>
                        <a:t>Importance Rank</a:t>
                      </a:r>
                    </a:p>
                  </a:txBody>
                  <a:tcPr>
                    <a:solidFill>
                      <a:srgbClr val="831838"/>
                    </a:solidFill>
                  </a:tcPr>
                </a:tc>
                <a:tc>
                  <a:txBody>
                    <a:bodyPr/>
                    <a:lstStyle/>
                    <a:p>
                      <a:pPr algn="ctr"/>
                      <a:r>
                        <a:rPr sz="950" b="1">
                          <a:solidFill>
                            <a:srgbClr val="FFFFFF"/>
                          </a:solidFill>
                          <a:latin typeface="Poppins"/>
                        </a:rPr>
                        <a:t>Permutation Drop</a:t>
                      </a:r>
                    </a:p>
                  </a:txBody>
                  <a:tcPr>
                    <a:solidFill>
                      <a:srgbClr val="831838"/>
                    </a:solidFill>
                  </a:tcPr>
                </a:tc>
                <a:tc>
                  <a:txBody>
                    <a:bodyPr/>
                    <a:lstStyle/>
                    <a:p>
                      <a:pPr algn="ctr"/>
                      <a:r>
                        <a:rPr sz="950" b="1">
                          <a:solidFill>
                            <a:srgbClr val="FFFFFF"/>
                          </a:solidFill>
                          <a:latin typeface="Poppins"/>
                        </a:rPr>
                        <a:t>Physical Role</a:t>
                      </a:r>
                    </a:p>
                  </a:txBody>
                  <a:tcPr>
                    <a:solidFill>
                      <a:srgbClr val="831838"/>
                    </a:solidFill>
                  </a:tcPr>
                </a:tc>
              </a:tr>
              <a:tr h="650000">
                <a:tc>
                  <a:txBody>
                    <a:bodyPr/>
                    <a:lstStyle/>
                    <a:p>
                      <a:pPr algn="l"/>
                      <a:r>
                        <a:rPr sz="880">
                          <a:solidFill>
                            <a:srgbClr val="831838"/>
                          </a:solidFill>
                          <a:latin typeface="Poppins"/>
                        </a:rPr>
                        <a:t>Terminal Voltage (V)</a:t>
                      </a:r>
                    </a:p>
                  </a:txBody>
                  <a:tcPr>
                    <a:solidFill>
                      <a:srgbClr val="F9FAFC"/>
                    </a:solidFill>
                  </a:tcPr>
                </a:tc>
                <a:tc>
                  <a:txBody>
                    <a:bodyPr/>
                    <a:lstStyle/>
                    <a:p>
                      <a:pPr algn="ctr"/>
                      <a:r>
                        <a:rPr sz="880">
                          <a:solidFill>
                            <a:srgbClr val="1F2937"/>
                          </a:solidFill>
                          <a:latin typeface="Poppins"/>
                        </a:rPr>
                        <a:t>Rank 1 (Primary)</a:t>
                      </a:r>
                    </a:p>
                  </a:txBody>
                  <a:tcPr>
                    <a:solidFill>
                      <a:srgbClr val="F9FAFC"/>
                    </a:solidFill>
                  </a:tcPr>
                </a:tc>
                <a:tc>
                  <a:txBody>
                    <a:bodyPr/>
                    <a:lstStyle/>
                    <a:p>
                      <a:pPr algn="ctr"/>
                      <a:r>
                        <a:rPr sz="880">
                          <a:solidFill>
                            <a:srgbClr val="1F2937"/>
                          </a:solidFill>
                          <a:latin typeface="Poppins"/>
                        </a:rPr>
                        <a:t>84.2 %</a:t>
                      </a:r>
                    </a:p>
                  </a:txBody>
                  <a:tcPr>
                    <a:solidFill>
                      <a:srgbClr val="F9FAFC"/>
                    </a:solidFill>
                  </a:tcPr>
                </a:tc>
                <a:tc>
                  <a:txBody>
                    <a:bodyPr/>
                    <a:lstStyle/>
                    <a:p>
                      <a:pPr algn="ctr"/>
                      <a:r>
                        <a:rPr sz="880">
                          <a:solidFill>
                            <a:srgbClr val="1F2937"/>
                          </a:solidFill>
                          <a:latin typeface="Poppins"/>
                        </a:rPr>
                        <a:t>Anchors absolute thermodynamic equilibrium state</a:t>
                      </a:r>
                    </a:p>
                  </a:txBody>
                  <a:tcPr>
                    <a:solidFill>
                      <a:srgbClr val="F9FAFC"/>
                    </a:solidFill>
                  </a:tcPr>
                </a:tc>
              </a:tr>
              <a:tr h="650000">
                <a:tc>
                  <a:txBody>
                    <a:bodyPr/>
                    <a:lstStyle/>
                    <a:p>
                      <a:pPr algn="l"/>
                      <a:r>
                        <a:rPr sz="880">
                          <a:solidFill>
                            <a:srgbClr val="831838"/>
                          </a:solidFill>
                          <a:latin typeface="Poppins"/>
                        </a:rPr>
                        <a:t>Smoothed Voltage (V_s)</a:t>
                      </a:r>
                    </a:p>
                  </a:txBody>
                  <a:tcPr>
                    <a:solidFill>
                      <a:srgbClr val="FFFFFF"/>
                    </a:solidFill>
                  </a:tcPr>
                </a:tc>
                <a:tc>
                  <a:txBody>
                    <a:bodyPr/>
                    <a:lstStyle/>
                    <a:p>
                      <a:pPr algn="ctr"/>
                      <a:r>
                        <a:rPr sz="880">
                          <a:solidFill>
                            <a:srgbClr val="1F2937"/>
                          </a:solidFill>
                          <a:latin typeface="Poppins"/>
                        </a:rPr>
                        <a:t>Rank 2 (Filter)</a:t>
                      </a:r>
                    </a:p>
                  </a:txBody>
                  <a:tcPr>
                    <a:solidFill>
                      <a:srgbClr val="FFFFFF"/>
                    </a:solidFill>
                  </a:tcPr>
                </a:tc>
                <a:tc>
                  <a:txBody>
                    <a:bodyPr/>
                    <a:lstStyle/>
                    <a:p>
                      <a:pPr algn="ctr"/>
                      <a:r>
                        <a:rPr sz="880">
                          <a:solidFill>
                            <a:srgbClr val="1F2937"/>
                          </a:solidFill>
                          <a:latin typeface="Poppins"/>
                        </a:rPr>
                        <a:t>12.6 %</a:t>
                      </a:r>
                    </a:p>
                  </a:txBody>
                  <a:tcPr>
                    <a:solidFill>
                      <a:srgbClr val="FFFFFF"/>
                    </a:solidFill>
                  </a:tcPr>
                </a:tc>
                <a:tc>
                  <a:txBody>
                    <a:bodyPr/>
                    <a:lstStyle/>
                    <a:p>
                      <a:pPr algn="ctr"/>
                      <a:r>
                        <a:rPr sz="880">
                          <a:solidFill>
                            <a:srgbClr val="1F2937"/>
                          </a:solidFill>
                          <a:latin typeface="Poppins"/>
                        </a:rPr>
                        <a:t>Decouples fast IR drop from bulk SOC depletion</a:t>
                      </a:r>
                    </a:p>
                  </a:txBody>
                  <a:tcPr>
                    <a:solidFill>
                      <a:srgbClr val="FFFFFF"/>
                    </a:solidFill>
                  </a:tcPr>
                </a:tc>
              </a:tr>
              <a:tr h="650000">
                <a:tc>
                  <a:txBody>
                    <a:bodyPr/>
                    <a:lstStyle/>
                    <a:p>
                      <a:pPr algn="l"/>
                      <a:r>
                        <a:rPr sz="880">
                          <a:solidFill>
                            <a:srgbClr val="831838"/>
                          </a:solidFill>
                          <a:latin typeface="Poppins"/>
                        </a:rPr>
                        <a:t>Load Current (I)</a:t>
                      </a:r>
                    </a:p>
                  </a:txBody>
                  <a:tcPr>
                    <a:solidFill>
                      <a:srgbClr val="F9FAFC"/>
                    </a:solidFill>
                  </a:tcPr>
                </a:tc>
                <a:tc>
                  <a:txBody>
                    <a:bodyPr/>
                    <a:lstStyle/>
                    <a:p>
                      <a:pPr algn="ctr"/>
                      <a:r>
                        <a:rPr sz="880">
                          <a:solidFill>
                            <a:srgbClr val="1F2937"/>
                          </a:solidFill>
                          <a:latin typeface="Poppins"/>
                        </a:rPr>
                        <a:t>Rank 3 (Flux)</a:t>
                      </a:r>
                    </a:p>
                  </a:txBody>
                  <a:tcPr>
                    <a:solidFill>
                      <a:srgbClr val="F9FAFC"/>
                    </a:solidFill>
                  </a:tcPr>
                </a:tc>
                <a:tc>
                  <a:txBody>
                    <a:bodyPr/>
                    <a:lstStyle/>
                    <a:p>
                      <a:pPr algn="ctr"/>
                      <a:r>
                        <a:rPr sz="880">
                          <a:solidFill>
                            <a:srgbClr val="1F2937"/>
                          </a:solidFill>
                          <a:latin typeface="Poppins"/>
                        </a:rPr>
                        <a:t>3.2 %</a:t>
                      </a:r>
                    </a:p>
                  </a:txBody>
                  <a:tcPr>
                    <a:solidFill>
                      <a:srgbClr val="F9FAFC"/>
                    </a:solidFill>
                  </a:tcPr>
                </a:tc>
                <a:tc>
                  <a:txBody>
                    <a:bodyPr/>
                    <a:lstStyle/>
                    <a:p>
                      <a:pPr algn="ctr"/>
                      <a:r>
                        <a:rPr sz="880">
                          <a:solidFill>
                            <a:srgbClr val="1F2937"/>
                          </a:solidFill>
                          <a:latin typeface="Poppins"/>
                        </a:rPr>
                        <a:t>Determines instantaneous ohmic offset direction</a:t>
                      </a:r>
                    </a:p>
                  </a:txBody>
                  <a:tcPr>
                    <a:solidFill>
                      <a:srgbClr val="F9FAFC"/>
                    </a:solidFill>
                  </a:tcPr>
                </a:tc>
              </a:tr>
            </a:tbl>
          </a:graphicData>
        </a:graphic>
      </p:graphicFrame>
      <p:sp>
        <p:nvSpPr>
          <p:cNvPr id="11" name="Rounded Rectangle 10"/>
          <p:cNvSpPr/>
          <p:nvPr/>
        </p:nvSpPr>
        <p:spPr>
          <a:xfrm>
            <a:off x="7400000" y="4300000"/>
            <a:ext cx="4379920" cy="18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8600" y="4437160"/>
            <a:ext cx="3922720" cy="384048"/>
          </a:xfrm>
          <a:prstGeom prst="rect">
            <a:avLst/>
          </a:prstGeom>
          <a:noFill/>
        </p:spPr>
        <p:txBody>
          <a:bodyPr wrap="square" lIns="0" rIns="0" tIns="0" bIns="0">
            <a:spAutoFit/>
          </a:bodyPr>
          <a:lstStyle/>
          <a:p>
            <a:r>
              <a:rPr sz="1200" b="1">
                <a:solidFill>
                  <a:srgbClr val="831838"/>
                </a:solidFill>
                <a:latin typeface="Poppins"/>
              </a:rPr>
              <a:t>Robustness Principle</a:t>
            </a:r>
          </a:p>
        </p:txBody>
      </p:sp>
      <p:sp>
        <p:nvSpPr>
          <p:cNvPr id="13" name="TextBox 12"/>
          <p:cNvSpPr txBox="1"/>
          <p:nvPr/>
        </p:nvSpPr>
        <p:spPr>
          <a:xfrm>
            <a:off x="7582880" y="4885216"/>
            <a:ext cx="4014160" cy="1191632"/>
          </a:xfrm>
          <a:prstGeom prst="rect">
            <a:avLst/>
          </a:prstGeom>
          <a:noFill/>
        </p:spPr>
        <p:txBody>
          <a:bodyPr wrap="square" lIns="0" rIns="0" tIns="0" bIns="0">
            <a:spAutoFit/>
          </a:bodyPr>
          <a:lstStyle/>
          <a:p>
            <a:pPr>
              <a:spcAft>
                <a:spcPts val="220"/>
              </a:spcAft>
            </a:pPr>
            <a:r>
              <a:rPr sz="919" b="1">
                <a:solidFill>
                  <a:srgbClr val="1F2937"/>
                </a:solidFill>
                <a:latin typeface="Poppins"/>
              </a:rPr>
              <a:t>Terminal Voltage Anchor: </a:t>
            </a:r>
            <a:r>
              <a:rPr sz="880">
                <a:solidFill>
                  <a:srgbClr val="4B5563"/>
                </a:solidFill>
                <a:latin typeface="Poppins"/>
              </a:rPr>
              <a:t>Because the model relies on terminal voltage rather than continuous current integration, current sensor bias cannot cause unbounded drift.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Model Architecture &amp; Ablations  </a:t>
            </a:r>
            <a:r>
              <a:rPr sz="2500">
                <a:solidFill>
                  <a:srgbClr val="99A3AF"/>
                </a:solidFill>
                <a:latin typeface="Poppins"/>
              </a:rPr>
              <a:t>Slide 10</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13</a:t>
            </a:r>
          </a:p>
        </p:txBody>
      </p:sp>
      <p:pic>
        <p:nvPicPr>
          <p:cNvPr id="7" name="Picture 6" descr="ablation_architecture.png"/>
          <p:cNvPicPr>
            <a:picLocks noChangeAspect="1"/>
          </p:cNvPicPr>
          <p:nvPr/>
        </p:nvPicPr>
        <p:blipFill>
          <a:blip r:embed="rId4"/>
          <a:stretch>
            <a:fillRect/>
          </a:stretch>
        </p:blipFill>
        <p:spPr>
          <a:xfrm>
            <a:off x="411480" y="1500000"/>
            <a:ext cx="6400000" cy="4650000"/>
          </a:xfrm>
          <a:prstGeom prst="rect">
            <a:avLst/>
          </a:prstGeom>
        </p:spPr>
      </p:pic>
      <p:sp>
        <p:nvSpPr>
          <p:cNvPr id="8" name="Rounded Rectangle 7"/>
          <p:cNvSpPr/>
          <p:nvPr/>
        </p:nvSpPr>
        <p:spPr>
          <a:xfrm>
            <a:off x="7000000" y="1500000"/>
            <a:ext cx="477992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8600" y="1637160"/>
            <a:ext cx="4322720" cy="384048"/>
          </a:xfrm>
          <a:prstGeom prst="rect">
            <a:avLst/>
          </a:prstGeom>
          <a:noFill/>
        </p:spPr>
        <p:txBody>
          <a:bodyPr wrap="square" lIns="0" rIns="0" tIns="0" bIns="0">
            <a:spAutoFit/>
          </a:bodyPr>
          <a:lstStyle/>
          <a:p>
            <a:r>
              <a:rPr sz="1200" b="1">
                <a:solidFill>
                  <a:srgbClr val="831838"/>
                </a:solidFill>
                <a:latin typeface="Poppins"/>
              </a:rPr>
              <a:t>Architectural Decisions &amp; Pareto Frontier</a:t>
            </a:r>
          </a:p>
        </p:txBody>
      </p:sp>
      <p:sp>
        <p:nvSpPr>
          <p:cNvPr id="10" name="TextBox 9"/>
          <p:cNvSpPr txBox="1"/>
          <p:nvPr/>
        </p:nvSpPr>
        <p:spPr>
          <a:xfrm>
            <a:off x="7182880" y="2085216"/>
            <a:ext cx="4414160" cy="3991632"/>
          </a:xfrm>
          <a:prstGeom prst="rect">
            <a:avLst/>
          </a:prstGeom>
          <a:noFill/>
        </p:spPr>
        <p:txBody>
          <a:bodyPr wrap="square" lIns="0" rIns="0" tIns="0" bIns="0">
            <a:spAutoFit/>
          </a:bodyPr>
          <a:lstStyle/>
          <a:p>
            <a:pPr>
              <a:spcAft>
                <a:spcPts val="220"/>
              </a:spcAft>
            </a:pPr>
            <a:r>
              <a:rPr sz="919" b="1">
                <a:solidFill>
                  <a:srgbClr val="831838"/>
                </a:solidFill>
                <a:latin typeface="Poppins"/>
              </a:rPr>
              <a:t>MLP 3-16-1 Topology: </a:t>
            </a:r>
            <a:r>
              <a:rPr sz="880">
                <a:solidFill>
                  <a:srgbClr val="4B5563"/>
                </a:solidFill>
                <a:latin typeface="Poppins"/>
              </a:rPr>
              <a:t>3 inputs → 16 hidden neurons with tanh activation → 1 linear output neuron (81 trainable parameters).</a:t>
            </a:r>
          </a:p>
          <a:p>
            <a:pPr>
              <a:spcAft>
                <a:spcPts val="220"/>
              </a:spcAft>
            </a:pPr>
            <a:r>
              <a:rPr sz="919" b="1">
                <a:solidFill>
                  <a:srgbClr val="1F2937"/>
                </a:solidFill>
                <a:latin typeface="Poppins"/>
              </a:rPr>
              <a:t>Why tanh over ReLU?: </a:t>
            </a:r>
            <a:r>
              <a:rPr sz="880">
                <a:solidFill>
                  <a:srgbClr val="4B5563"/>
                </a:solidFill>
                <a:latin typeface="Poppins"/>
              </a:rPr>
              <a:t>ReLU creates piecewise-linear planes with discontinuous derivatives; tanh produces smooth, continuous S-curves perfectly matching the continuous chemical potential of Li-ion intercalation.</a:t>
            </a:r>
          </a:p>
          <a:p>
            <a:pPr>
              <a:spcAft>
                <a:spcPts val="220"/>
              </a:spcAft>
            </a:pPr>
            <a:r>
              <a:rPr sz="919" b="1">
                <a:solidFill>
                  <a:srgbClr val="1F2937"/>
                </a:solidFill>
                <a:latin typeface="Poppins"/>
              </a:rPr>
              <a:t>Pareto Frontier Efficiency: </a:t>
            </a:r>
            <a:r>
              <a:rPr sz="880">
                <a:solidFill>
                  <a:srgbClr val="4B5563"/>
                </a:solidFill>
                <a:latin typeface="Poppins"/>
              </a:rPr>
              <a:t>Ablation results across depth and width:</a:t>
            </a:r>
          </a:p>
          <a:p>
            <a:pPr>
              <a:spcAft>
                <a:spcPts val="220"/>
              </a:spcAft>
            </a:pPr>
            <a:r>
              <a:rPr sz="919" b="1">
                <a:solidFill>
                  <a:srgbClr val="1F2937"/>
                </a:solidFill>
                <a:latin typeface="Poppins"/>
              </a:rPr>
              <a:t>Linear Baseline: </a:t>
            </a:r>
            <a:r>
              <a:rPr sz="880">
                <a:solidFill>
                  <a:srgbClr val="4B5563"/>
                </a:solidFill>
                <a:latin typeface="Poppins"/>
              </a:rPr>
              <a:t>MAE: 3.02% — Underfits non-linear OCV knees.</a:t>
            </a:r>
          </a:p>
          <a:p>
            <a:pPr>
              <a:spcAft>
                <a:spcPts val="220"/>
              </a:spcAft>
            </a:pPr>
            <a:r>
              <a:rPr sz="919" b="1">
                <a:solidFill>
                  <a:srgbClr val="831838"/>
                </a:solidFill>
                <a:latin typeface="Poppins"/>
              </a:rPr>
              <a:t>3-8-1 MLP: </a:t>
            </a:r>
            <a:r>
              <a:rPr sz="880">
                <a:solidFill>
                  <a:srgbClr val="4B5563"/>
                </a:solidFill>
                <a:latin typeface="Poppins"/>
              </a:rPr>
              <a:t>MAE: 1.62% — Fast (38 params), but higher knee error.</a:t>
            </a:r>
          </a:p>
          <a:p>
            <a:pPr>
              <a:spcAft>
                <a:spcPts val="220"/>
              </a:spcAft>
            </a:pPr>
            <a:r>
              <a:rPr sz="919" b="1">
                <a:solidFill>
                  <a:srgbClr val="831838"/>
                </a:solidFill>
                <a:latin typeface="Poppins"/>
              </a:rPr>
              <a:t>3-16-1 MLP (Proposed): </a:t>
            </a:r>
            <a:r>
              <a:rPr sz="880">
                <a:solidFill>
                  <a:srgbClr val="4B5563"/>
                </a:solidFill>
                <a:latin typeface="Poppins"/>
              </a:rPr>
              <a:t>MAE: 1.25% — Optimal balance of accuracy (1.25%) and tiny footprint (348 bytes).</a:t>
            </a:r>
          </a:p>
          <a:p>
            <a:pPr>
              <a:spcAft>
                <a:spcPts val="220"/>
              </a:spcAft>
            </a:pPr>
            <a:r>
              <a:rPr sz="919" b="1">
                <a:solidFill>
                  <a:srgbClr val="831838"/>
                </a:solidFill>
                <a:latin typeface="Poppins"/>
              </a:rPr>
              <a:t>3-32-1 MLP: </a:t>
            </a:r>
            <a:r>
              <a:rPr sz="880">
                <a:solidFill>
                  <a:srgbClr val="4B5563"/>
                </a:solidFill>
                <a:latin typeface="Poppins"/>
              </a:rPr>
              <a:t>MAE: 1.21% — Marginal 0.04% gain, but doubles parameter count to 161 (diminishing returns).</a:t>
            </a:r>
          </a:p>
          <a:p>
            <a:pPr>
              <a:spcAft>
                <a:spcPts val="220"/>
              </a:spcAft>
            </a:pPr>
            <a:r>
              <a:rPr sz="919" b="1">
                <a:solidFill>
                  <a:srgbClr val="831838"/>
                </a:solidFill>
                <a:latin typeface="Poppins"/>
              </a:rPr>
              <a:t>Deep MLP (3-16-16-1): </a:t>
            </a:r>
            <a:r>
              <a:rPr sz="880">
                <a:solidFill>
                  <a:srgbClr val="4B5563"/>
                </a:solidFill>
                <a:latin typeface="Poppins"/>
              </a:rPr>
              <a:t>MAE: 1.18% — Higher latency (14.2 µs) and risk of edge overfitting with zero real benefit.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Multi-Algorithm Benchmark  </a:t>
            </a:r>
            <a:r>
              <a:rPr sz="2500">
                <a:solidFill>
                  <a:srgbClr val="99A3AF"/>
                </a:solidFill>
                <a:latin typeface="Poppins"/>
              </a:rPr>
              <a:t>Slide 11</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14</a:t>
            </a:r>
          </a:p>
        </p:txBody>
      </p:sp>
      <p:pic>
        <p:nvPicPr>
          <p:cNvPr id="7" name="Picture 6" descr="baselines_comparison.png"/>
          <p:cNvPicPr>
            <a:picLocks noChangeAspect="1"/>
          </p:cNvPicPr>
          <p:nvPr/>
        </p:nvPicPr>
        <p:blipFill>
          <a:blip r:embed="rId4"/>
          <a:stretch>
            <a:fillRect/>
          </a:stretch>
        </p:blipFill>
        <p:spPr>
          <a:xfrm>
            <a:off x="411480" y="1500000"/>
            <a:ext cx="6400000" cy="4650000"/>
          </a:xfrm>
          <a:prstGeom prst="rect">
            <a:avLst/>
          </a:prstGeom>
        </p:spPr>
      </p:pic>
      <p:graphicFrame>
        <p:nvGraphicFramePr>
          <p:cNvPr id="8" name="Table 7"/>
          <p:cNvGraphicFramePr>
            <a:graphicFrameLocks noGrp="1"/>
          </p:cNvGraphicFramePr>
          <p:nvPr/>
        </p:nvGraphicFramePr>
        <p:xfrm>
          <a:off x="7000000" y="1500000"/>
          <a:ext cx="4779920" cy="4650000"/>
        </p:xfrm>
        <a:graphic>
          <a:graphicData uri="http://schemas.openxmlformats.org/drawingml/2006/table">
            <a:tbl>
              <a:tblPr firstRow="1" bandRow="1">
                <a:tableStyleId>{5C22544A-7EE6-4342-B048-85BDC9FD1C3A}</a:tableStyleId>
              </a:tblPr>
              <a:tblGrid>
                <a:gridCol w="1100000"/>
                <a:gridCol w="920000"/>
                <a:gridCol w="550000"/>
                <a:gridCol w="620000"/>
                <a:gridCol w="550000"/>
                <a:gridCol w="1039920"/>
              </a:tblGrid>
              <a:tr h="581250">
                <a:tc>
                  <a:txBody>
                    <a:bodyPr/>
                    <a:lstStyle/>
                    <a:p>
                      <a:pPr algn="l"/>
                      <a:r>
                        <a:rPr sz="950" b="1">
                          <a:solidFill>
                            <a:srgbClr val="FFFFFF"/>
                          </a:solidFill>
                          <a:latin typeface="Poppins"/>
                        </a:rPr>
                        <a:t>Algorithm</a:t>
                      </a:r>
                    </a:p>
                  </a:txBody>
                  <a:tcPr>
                    <a:solidFill>
                      <a:srgbClr val="831838"/>
                    </a:solidFill>
                  </a:tcPr>
                </a:tc>
                <a:tc>
                  <a:txBody>
                    <a:bodyPr/>
                    <a:lstStyle/>
                    <a:p>
                      <a:pPr algn="ctr"/>
                      <a:r>
                        <a:rPr sz="950" b="1">
                          <a:solidFill>
                            <a:srgbClr val="FFFFFF"/>
                          </a:solidFill>
                          <a:latin typeface="Poppins"/>
                        </a:rPr>
                        <a:t>Category</a:t>
                      </a:r>
                    </a:p>
                  </a:txBody>
                  <a:tcPr>
                    <a:solidFill>
                      <a:srgbClr val="831838"/>
                    </a:solidFill>
                  </a:tcPr>
                </a:tc>
                <a:tc>
                  <a:txBody>
                    <a:bodyPr/>
                    <a:lstStyle/>
                    <a:p>
                      <a:pPr algn="ctr"/>
                      <a:r>
                        <a:rPr sz="950" b="1">
                          <a:solidFill>
                            <a:srgbClr val="FFFFFF"/>
                          </a:solidFill>
                          <a:latin typeface="Poppins"/>
                        </a:rPr>
                        <a:t>Avg MAE</a:t>
                      </a:r>
                    </a:p>
                  </a:txBody>
                  <a:tcPr>
                    <a:solidFill>
                      <a:srgbClr val="831838"/>
                    </a:solidFill>
                  </a:tcPr>
                </a:tc>
                <a:tc>
                  <a:txBody>
                    <a:bodyPr/>
                    <a:lstStyle/>
                    <a:p>
                      <a:pPr algn="ctr"/>
                      <a:r>
                        <a:rPr sz="950" b="1">
                          <a:solidFill>
                            <a:srgbClr val="FFFFFF"/>
                          </a:solidFill>
                          <a:latin typeface="Poppins"/>
                        </a:rPr>
                        <a:t>MCU Latency</a:t>
                      </a:r>
                    </a:p>
                  </a:txBody>
                  <a:tcPr>
                    <a:solidFill>
                      <a:srgbClr val="831838"/>
                    </a:solidFill>
                  </a:tcPr>
                </a:tc>
                <a:tc>
                  <a:txBody>
                    <a:bodyPr/>
                    <a:lstStyle/>
                    <a:p>
                      <a:pPr algn="ctr"/>
                      <a:r>
                        <a:rPr sz="950" b="1">
                          <a:solidFill>
                            <a:srgbClr val="FFFFFF"/>
                          </a:solidFill>
                          <a:latin typeface="Poppins"/>
                        </a:rPr>
                        <a:t>Flash/RAM</a:t>
                      </a:r>
                    </a:p>
                  </a:txBody>
                  <a:tcPr>
                    <a:solidFill>
                      <a:srgbClr val="831838"/>
                    </a:solidFill>
                  </a:tcPr>
                </a:tc>
                <a:tc>
                  <a:txBody>
                    <a:bodyPr/>
                    <a:lstStyle/>
                    <a:p>
                      <a:pPr algn="ctr"/>
                      <a:r>
                        <a:rPr sz="950" b="1">
                          <a:solidFill>
                            <a:srgbClr val="FFFFFF"/>
                          </a:solidFill>
                          <a:latin typeface="Poppins"/>
                        </a:rPr>
                        <a:t>Status</a:t>
                      </a:r>
                    </a:p>
                  </a:txBody>
                  <a:tcPr>
                    <a:solidFill>
                      <a:srgbClr val="831838"/>
                    </a:solidFill>
                  </a:tcPr>
                </a:tc>
              </a:tr>
              <a:tr h="581250">
                <a:tc>
                  <a:txBody>
                    <a:bodyPr/>
                    <a:lstStyle/>
                    <a:p>
                      <a:pPr algn="l"/>
                      <a:r>
                        <a:rPr sz="880" b="1">
                          <a:solidFill>
                            <a:srgbClr val="831838"/>
                          </a:solidFill>
                          <a:latin typeface="Poppins"/>
                        </a:rPr>
                        <a:t>MLP 3-16-1</a:t>
                      </a:r>
                    </a:p>
                  </a:txBody>
                  <a:tcPr>
                    <a:solidFill>
                      <a:srgbClr val="F9FAFC"/>
                    </a:solidFill>
                  </a:tcPr>
                </a:tc>
                <a:tc>
                  <a:txBody>
                    <a:bodyPr/>
                    <a:lstStyle/>
                    <a:p>
                      <a:pPr algn="ctr"/>
                      <a:r>
                        <a:rPr sz="880">
                          <a:solidFill>
                            <a:srgbClr val="1F2937"/>
                          </a:solidFill>
                          <a:latin typeface="Poppins"/>
                        </a:rPr>
                        <a:t>Neural Net</a:t>
                      </a:r>
                    </a:p>
                  </a:txBody>
                  <a:tcPr>
                    <a:solidFill>
                      <a:srgbClr val="F9FAFC"/>
                    </a:solidFill>
                  </a:tcPr>
                </a:tc>
                <a:tc>
                  <a:txBody>
                    <a:bodyPr/>
                    <a:lstStyle/>
                    <a:p>
                      <a:pPr algn="ctr"/>
                      <a:r>
                        <a:rPr sz="880">
                          <a:solidFill>
                            <a:srgbClr val="1F2937"/>
                          </a:solidFill>
                          <a:latin typeface="Poppins"/>
                        </a:rPr>
                        <a:t>1.25 %</a:t>
                      </a:r>
                    </a:p>
                  </a:txBody>
                  <a:tcPr>
                    <a:solidFill>
                      <a:srgbClr val="F9FAFC"/>
                    </a:solidFill>
                  </a:tcPr>
                </a:tc>
                <a:tc>
                  <a:txBody>
                    <a:bodyPr/>
                    <a:lstStyle/>
                    <a:p>
                      <a:pPr algn="ctr"/>
                      <a:r>
                        <a:rPr sz="880">
                          <a:solidFill>
                            <a:srgbClr val="1F2937"/>
                          </a:solidFill>
                          <a:latin typeface="Poppins"/>
                        </a:rPr>
                        <a:t>6.03 µs</a:t>
                      </a:r>
                    </a:p>
                  </a:txBody>
                  <a:tcPr>
                    <a:solidFill>
                      <a:srgbClr val="F9FAFC"/>
                    </a:solidFill>
                  </a:tcPr>
                </a:tc>
                <a:tc>
                  <a:txBody>
                    <a:bodyPr/>
                    <a:lstStyle/>
                    <a:p>
                      <a:pPr algn="ctr"/>
                      <a:r>
                        <a:rPr sz="880">
                          <a:solidFill>
                            <a:srgbClr val="1F2937"/>
                          </a:solidFill>
                          <a:latin typeface="Poppins"/>
                        </a:rPr>
                        <a:t>348 B</a:t>
                      </a:r>
                    </a:p>
                  </a:txBody>
                  <a:tcPr>
                    <a:solidFill>
                      <a:srgbClr val="F9FAFC"/>
                    </a:solidFill>
                  </a:tcPr>
                </a:tc>
                <a:tc>
                  <a:txBody>
                    <a:bodyPr/>
                    <a:lstStyle/>
                    <a:p>
                      <a:pPr algn="ctr"/>
                      <a:r>
                        <a:rPr sz="880">
                          <a:solidFill>
                            <a:srgbClr val="1F2937"/>
                          </a:solidFill>
                          <a:latin typeface="Poppins"/>
                        </a:rPr>
                        <a:t>RECOMMENDED</a:t>
                      </a:r>
                    </a:p>
                  </a:txBody>
                  <a:tcPr>
                    <a:solidFill>
                      <a:srgbClr val="F9FAFC"/>
                    </a:solidFill>
                  </a:tcPr>
                </a:tc>
              </a:tr>
              <a:tr h="581250">
                <a:tc>
                  <a:txBody>
                    <a:bodyPr/>
                    <a:lstStyle/>
                    <a:p>
                      <a:pPr algn="l"/>
                      <a:r>
                        <a:rPr sz="880">
                          <a:solidFill>
                            <a:srgbClr val="831838"/>
                          </a:solidFill>
                          <a:latin typeface="Poppins"/>
                        </a:rPr>
                        <a:t>Random Forest</a:t>
                      </a:r>
                    </a:p>
                  </a:txBody>
                  <a:tcPr>
                    <a:solidFill>
                      <a:srgbClr val="FFFFFF"/>
                    </a:solidFill>
                  </a:tcPr>
                </a:tc>
                <a:tc>
                  <a:txBody>
                    <a:bodyPr/>
                    <a:lstStyle/>
                    <a:p>
                      <a:pPr algn="ctr"/>
                      <a:r>
                        <a:rPr sz="880">
                          <a:solidFill>
                            <a:srgbClr val="1F2937"/>
                          </a:solidFill>
                          <a:latin typeface="Poppins"/>
                        </a:rPr>
                        <a:t>Tree Ensemble</a:t>
                      </a:r>
                    </a:p>
                  </a:txBody>
                  <a:tcPr>
                    <a:solidFill>
                      <a:srgbClr val="FFFFFF"/>
                    </a:solidFill>
                  </a:tcPr>
                </a:tc>
                <a:tc>
                  <a:txBody>
                    <a:bodyPr/>
                    <a:lstStyle/>
                    <a:p>
                      <a:pPr algn="ctr"/>
                      <a:r>
                        <a:rPr sz="880">
                          <a:solidFill>
                            <a:srgbClr val="1F2937"/>
                          </a:solidFill>
                          <a:latin typeface="Poppins"/>
                        </a:rPr>
                        <a:t>2.04 %</a:t>
                      </a:r>
                    </a:p>
                  </a:txBody>
                  <a:tcPr>
                    <a:solidFill>
                      <a:srgbClr val="FFFFFF"/>
                    </a:solidFill>
                  </a:tcPr>
                </a:tc>
                <a:tc>
                  <a:txBody>
                    <a:bodyPr/>
                    <a:lstStyle/>
                    <a:p>
                      <a:pPr algn="ctr"/>
                      <a:r>
                        <a:rPr sz="880">
                          <a:solidFill>
                            <a:srgbClr val="1F2937"/>
                          </a:solidFill>
                          <a:latin typeface="Poppins"/>
                        </a:rPr>
                        <a:t>24.8 µs</a:t>
                      </a:r>
                    </a:p>
                  </a:txBody>
                  <a:tcPr>
                    <a:solidFill>
                      <a:srgbClr val="FFFFFF"/>
                    </a:solidFill>
                  </a:tcPr>
                </a:tc>
                <a:tc>
                  <a:txBody>
                    <a:bodyPr/>
                    <a:lstStyle/>
                    <a:p>
                      <a:pPr algn="ctr"/>
                      <a:r>
                        <a:rPr sz="880">
                          <a:solidFill>
                            <a:srgbClr val="1F2937"/>
                          </a:solidFill>
                          <a:latin typeface="Poppins"/>
                        </a:rPr>
                        <a:t>&gt;120 KB</a:t>
                      </a:r>
                    </a:p>
                  </a:txBody>
                  <a:tcPr>
                    <a:solidFill>
                      <a:srgbClr val="FFFFFF"/>
                    </a:solidFill>
                  </a:tcPr>
                </a:tc>
                <a:tc>
                  <a:txBody>
                    <a:bodyPr/>
                    <a:lstStyle/>
                    <a:p>
                      <a:pPr algn="ctr"/>
                      <a:r>
                        <a:rPr sz="880">
                          <a:solidFill>
                            <a:srgbClr val="1F2937"/>
                          </a:solidFill>
                          <a:latin typeface="Poppins"/>
                        </a:rPr>
                        <a:t>Heavy ROM Overhead</a:t>
                      </a:r>
                    </a:p>
                  </a:txBody>
                  <a:tcPr>
                    <a:solidFill>
                      <a:srgbClr val="FFFFFF"/>
                    </a:solidFill>
                  </a:tcPr>
                </a:tc>
              </a:tr>
              <a:tr h="581250">
                <a:tc>
                  <a:txBody>
                    <a:bodyPr/>
                    <a:lstStyle/>
                    <a:p>
                      <a:pPr algn="l"/>
                      <a:r>
                        <a:rPr sz="880">
                          <a:solidFill>
                            <a:srgbClr val="831838"/>
                          </a:solidFill>
                          <a:latin typeface="Poppins"/>
                        </a:rPr>
                        <a:t>Linear Reg</a:t>
                      </a:r>
                    </a:p>
                  </a:txBody>
                  <a:tcPr>
                    <a:solidFill>
                      <a:srgbClr val="F9FAFC"/>
                    </a:solidFill>
                  </a:tcPr>
                </a:tc>
                <a:tc>
                  <a:txBody>
                    <a:bodyPr/>
                    <a:lstStyle/>
                    <a:p>
                      <a:pPr algn="ctr"/>
                      <a:r>
                        <a:rPr sz="880">
                          <a:solidFill>
                            <a:srgbClr val="1F2937"/>
                          </a:solidFill>
                          <a:latin typeface="Poppins"/>
                        </a:rPr>
                        <a:t>Linear Model</a:t>
                      </a:r>
                    </a:p>
                  </a:txBody>
                  <a:tcPr>
                    <a:solidFill>
                      <a:srgbClr val="F9FAFC"/>
                    </a:solidFill>
                  </a:tcPr>
                </a:tc>
                <a:tc>
                  <a:txBody>
                    <a:bodyPr/>
                    <a:lstStyle/>
                    <a:p>
                      <a:pPr algn="ctr"/>
                      <a:r>
                        <a:rPr sz="880">
                          <a:solidFill>
                            <a:srgbClr val="1F2937"/>
                          </a:solidFill>
                          <a:latin typeface="Poppins"/>
                        </a:rPr>
                        <a:t>3.02 %</a:t>
                      </a:r>
                    </a:p>
                  </a:txBody>
                  <a:tcPr>
                    <a:solidFill>
                      <a:srgbClr val="F9FAFC"/>
                    </a:solidFill>
                  </a:tcPr>
                </a:tc>
                <a:tc>
                  <a:txBody>
                    <a:bodyPr/>
                    <a:lstStyle/>
                    <a:p>
                      <a:pPr algn="ctr"/>
                      <a:r>
                        <a:rPr sz="880">
                          <a:solidFill>
                            <a:srgbClr val="1F2937"/>
                          </a:solidFill>
                          <a:latin typeface="Poppins"/>
                        </a:rPr>
                        <a:t>2.40 µs</a:t>
                      </a:r>
                    </a:p>
                  </a:txBody>
                  <a:tcPr>
                    <a:solidFill>
                      <a:srgbClr val="F9FAFC"/>
                    </a:solidFill>
                  </a:tcPr>
                </a:tc>
                <a:tc>
                  <a:txBody>
                    <a:bodyPr/>
                    <a:lstStyle/>
                    <a:p>
                      <a:pPr algn="ctr"/>
                      <a:r>
                        <a:rPr sz="880">
                          <a:solidFill>
                            <a:srgbClr val="1F2937"/>
                          </a:solidFill>
                          <a:latin typeface="Poppins"/>
                        </a:rPr>
                        <a:t>32 B</a:t>
                      </a:r>
                    </a:p>
                  </a:txBody>
                  <a:tcPr>
                    <a:solidFill>
                      <a:srgbClr val="F9FAFC"/>
                    </a:solidFill>
                  </a:tcPr>
                </a:tc>
                <a:tc>
                  <a:txBody>
                    <a:bodyPr/>
                    <a:lstStyle/>
                    <a:p>
                      <a:pPr algn="ctr"/>
                      <a:r>
                        <a:rPr sz="880">
                          <a:solidFill>
                            <a:srgbClr val="1F2937"/>
                          </a:solidFill>
                          <a:latin typeface="Poppins"/>
                        </a:rPr>
                        <a:t>Underfits Knees</a:t>
                      </a:r>
                    </a:p>
                  </a:txBody>
                  <a:tcPr>
                    <a:solidFill>
                      <a:srgbClr val="F9FAFC"/>
                    </a:solidFill>
                  </a:tcPr>
                </a:tc>
              </a:tr>
              <a:tr h="581250">
                <a:tc>
                  <a:txBody>
                    <a:bodyPr/>
                    <a:lstStyle/>
                    <a:p>
                      <a:pPr algn="l"/>
                      <a:r>
                        <a:rPr sz="880">
                          <a:solidFill>
                            <a:srgbClr val="831838"/>
                          </a:solidFill>
                          <a:latin typeface="Poppins"/>
                        </a:rPr>
                        <a:t>SPKF (UKF)</a:t>
                      </a:r>
                    </a:p>
                  </a:txBody>
                  <a:tcPr>
                    <a:solidFill>
                      <a:srgbClr val="FFFFFF"/>
                    </a:solidFill>
                  </a:tcPr>
                </a:tc>
                <a:tc>
                  <a:txBody>
                    <a:bodyPr/>
                    <a:lstStyle/>
                    <a:p>
                      <a:pPr algn="ctr"/>
                      <a:r>
                        <a:rPr sz="880">
                          <a:solidFill>
                            <a:srgbClr val="1F2937"/>
                          </a:solidFill>
                          <a:latin typeface="Poppins"/>
                        </a:rPr>
                        <a:t>Nonlinear Filter</a:t>
                      </a:r>
                    </a:p>
                  </a:txBody>
                  <a:tcPr>
                    <a:solidFill>
                      <a:srgbClr val="FFFFFF"/>
                    </a:solidFill>
                  </a:tcPr>
                </a:tc>
                <a:tc>
                  <a:txBody>
                    <a:bodyPr/>
                    <a:lstStyle/>
                    <a:p>
                      <a:pPr algn="ctr"/>
                      <a:r>
                        <a:rPr sz="880">
                          <a:solidFill>
                            <a:srgbClr val="1F2937"/>
                          </a:solidFill>
                          <a:latin typeface="Poppins"/>
                        </a:rPr>
                        <a:t>6.02 %</a:t>
                      </a:r>
                    </a:p>
                  </a:txBody>
                  <a:tcPr>
                    <a:solidFill>
                      <a:srgbClr val="FFFFFF"/>
                    </a:solidFill>
                  </a:tcPr>
                </a:tc>
                <a:tc>
                  <a:txBody>
                    <a:bodyPr/>
                    <a:lstStyle/>
                    <a:p>
                      <a:pPr algn="ctr"/>
                      <a:r>
                        <a:rPr sz="880">
                          <a:solidFill>
                            <a:srgbClr val="1F2937"/>
                          </a:solidFill>
                          <a:latin typeface="Poppins"/>
                        </a:rPr>
                        <a:t>118.5 µs</a:t>
                      </a:r>
                    </a:p>
                  </a:txBody>
                  <a:tcPr>
                    <a:solidFill>
                      <a:srgbClr val="FFFFFF"/>
                    </a:solidFill>
                  </a:tcPr>
                </a:tc>
                <a:tc>
                  <a:txBody>
                    <a:bodyPr/>
                    <a:lstStyle/>
                    <a:p>
                      <a:pPr algn="ctr"/>
                      <a:r>
                        <a:rPr sz="880">
                          <a:solidFill>
                            <a:srgbClr val="1F2937"/>
                          </a:solidFill>
                          <a:latin typeface="Poppins"/>
                        </a:rPr>
                        <a:t>3,400 B</a:t>
                      </a:r>
                    </a:p>
                  </a:txBody>
                  <a:tcPr>
                    <a:solidFill>
                      <a:srgbClr val="FFFFFF"/>
                    </a:solidFill>
                  </a:tcPr>
                </a:tc>
                <a:tc>
                  <a:txBody>
                    <a:bodyPr/>
                    <a:lstStyle/>
                    <a:p>
                      <a:pPr algn="ctr"/>
                      <a:r>
                        <a:rPr sz="880">
                          <a:solidFill>
                            <a:srgbClr val="1F2937"/>
                          </a:solidFill>
                          <a:latin typeface="Poppins"/>
                        </a:rPr>
                        <a:t>Best Physics Filter</a:t>
                      </a:r>
                    </a:p>
                  </a:txBody>
                  <a:tcPr>
                    <a:solidFill>
                      <a:srgbClr val="FFFFFF"/>
                    </a:solidFill>
                  </a:tcPr>
                </a:tc>
              </a:tr>
              <a:tr h="581250">
                <a:tc>
                  <a:txBody>
                    <a:bodyPr/>
                    <a:lstStyle/>
                    <a:p>
                      <a:pPr algn="l"/>
                      <a:r>
                        <a:rPr sz="880">
                          <a:solidFill>
                            <a:srgbClr val="831838"/>
                          </a:solidFill>
                          <a:latin typeface="Poppins"/>
                        </a:rPr>
                        <a:t>EKF</a:t>
                      </a:r>
                    </a:p>
                  </a:txBody>
                  <a:tcPr>
                    <a:solidFill>
                      <a:srgbClr val="F9FAFC"/>
                    </a:solidFill>
                  </a:tcPr>
                </a:tc>
                <a:tc>
                  <a:txBody>
                    <a:bodyPr/>
                    <a:lstStyle/>
                    <a:p>
                      <a:pPr algn="ctr"/>
                      <a:r>
                        <a:rPr sz="880">
                          <a:solidFill>
                            <a:srgbClr val="1F2937"/>
                          </a:solidFill>
                          <a:latin typeface="Poppins"/>
                        </a:rPr>
                        <a:t>Linearized Filter</a:t>
                      </a:r>
                    </a:p>
                  </a:txBody>
                  <a:tcPr>
                    <a:solidFill>
                      <a:srgbClr val="F9FAFC"/>
                    </a:solidFill>
                  </a:tcPr>
                </a:tc>
                <a:tc>
                  <a:txBody>
                    <a:bodyPr/>
                    <a:lstStyle/>
                    <a:p>
                      <a:pPr algn="ctr"/>
                      <a:r>
                        <a:rPr sz="880">
                          <a:solidFill>
                            <a:srgbClr val="1F2937"/>
                          </a:solidFill>
                          <a:latin typeface="Poppins"/>
                        </a:rPr>
                        <a:t>6.02 %</a:t>
                      </a:r>
                    </a:p>
                  </a:txBody>
                  <a:tcPr>
                    <a:solidFill>
                      <a:srgbClr val="F9FAFC"/>
                    </a:solidFill>
                  </a:tcPr>
                </a:tc>
                <a:tc>
                  <a:txBody>
                    <a:bodyPr/>
                    <a:lstStyle/>
                    <a:p>
                      <a:pPr algn="ctr"/>
                      <a:r>
                        <a:rPr sz="880">
                          <a:solidFill>
                            <a:srgbClr val="1F2937"/>
                          </a:solidFill>
                          <a:latin typeface="Poppins"/>
                        </a:rPr>
                        <a:t>42.1 µs</a:t>
                      </a:r>
                    </a:p>
                  </a:txBody>
                  <a:tcPr>
                    <a:solidFill>
                      <a:srgbClr val="F9FAFC"/>
                    </a:solidFill>
                  </a:tcPr>
                </a:tc>
                <a:tc>
                  <a:txBody>
                    <a:bodyPr/>
                    <a:lstStyle/>
                    <a:p>
                      <a:pPr algn="ctr"/>
                      <a:r>
                        <a:rPr sz="880">
                          <a:solidFill>
                            <a:srgbClr val="1F2937"/>
                          </a:solidFill>
                          <a:latin typeface="Poppins"/>
                        </a:rPr>
                        <a:t>1,850 B</a:t>
                      </a:r>
                    </a:p>
                  </a:txBody>
                  <a:tcPr>
                    <a:solidFill>
                      <a:srgbClr val="F9FAFC"/>
                    </a:solidFill>
                  </a:tcPr>
                </a:tc>
                <a:tc>
                  <a:txBody>
                    <a:bodyPr/>
                    <a:lstStyle/>
                    <a:p>
                      <a:pPr algn="ctr"/>
                      <a:r>
                        <a:rPr sz="880">
                          <a:solidFill>
                            <a:srgbClr val="1F2937"/>
                          </a:solidFill>
                          <a:latin typeface="Poppins"/>
                        </a:rPr>
                        <a:t>Classical Baseline</a:t>
                      </a:r>
                    </a:p>
                  </a:txBody>
                  <a:tcPr>
                    <a:solidFill>
                      <a:srgbClr val="F9FAFC"/>
                    </a:solidFill>
                  </a:tcPr>
                </a:tc>
              </a:tr>
              <a:tr h="581250">
                <a:tc>
                  <a:txBody>
                    <a:bodyPr/>
                    <a:lstStyle/>
                    <a:p>
                      <a:pPr algn="l"/>
                      <a:r>
                        <a:rPr sz="880">
                          <a:solidFill>
                            <a:srgbClr val="831838"/>
                          </a:solidFill>
                          <a:latin typeface="Poppins"/>
                        </a:rPr>
                        <a:t>Coulomb Count</a:t>
                      </a:r>
                    </a:p>
                  </a:txBody>
                  <a:tcPr>
                    <a:solidFill>
                      <a:srgbClr val="FFFFFF"/>
                    </a:solidFill>
                  </a:tcPr>
                </a:tc>
                <a:tc>
                  <a:txBody>
                    <a:bodyPr/>
                    <a:lstStyle/>
                    <a:p>
                      <a:pPr algn="ctr"/>
                      <a:r>
                        <a:rPr sz="880">
                          <a:solidFill>
                            <a:srgbClr val="1F2937"/>
                          </a:solidFill>
                          <a:latin typeface="Poppins"/>
                        </a:rPr>
                        <a:t>Integration</a:t>
                      </a:r>
                    </a:p>
                  </a:txBody>
                  <a:tcPr>
                    <a:solidFill>
                      <a:srgbClr val="FFFFFF"/>
                    </a:solidFill>
                  </a:tcPr>
                </a:tc>
                <a:tc>
                  <a:txBody>
                    <a:bodyPr/>
                    <a:lstStyle/>
                    <a:p>
                      <a:pPr algn="ctr"/>
                      <a:r>
                        <a:rPr sz="880">
                          <a:solidFill>
                            <a:srgbClr val="1F2937"/>
                          </a:solidFill>
                          <a:latin typeface="Poppins"/>
                        </a:rPr>
                        <a:t>2.24 %*</a:t>
                      </a:r>
                    </a:p>
                  </a:txBody>
                  <a:tcPr>
                    <a:solidFill>
                      <a:srgbClr val="FFFFFF"/>
                    </a:solidFill>
                  </a:tcPr>
                </a:tc>
                <a:tc>
                  <a:txBody>
                    <a:bodyPr/>
                    <a:lstStyle/>
                    <a:p>
                      <a:pPr algn="ctr"/>
                      <a:r>
                        <a:rPr sz="880">
                          <a:solidFill>
                            <a:srgbClr val="1F2937"/>
                          </a:solidFill>
                          <a:latin typeface="Poppins"/>
                        </a:rPr>
                        <a:t>1.10 µs</a:t>
                      </a:r>
                    </a:p>
                  </a:txBody>
                  <a:tcPr>
                    <a:solidFill>
                      <a:srgbClr val="FFFFFF"/>
                    </a:solidFill>
                  </a:tcPr>
                </a:tc>
                <a:tc>
                  <a:txBody>
                    <a:bodyPr/>
                    <a:lstStyle/>
                    <a:p>
                      <a:pPr algn="ctr"/>
                      <a:r>
                        <a:rPr sz="880">
                          <a:solidFill>
                            <a:srgbClr val="1F2937"/>
                          </a:solidFill>
                          <a:latin typeface="Poppins"/>
                        </a:rPr>
                        <a:t>16 B</a:t>
                      </a:r>
                    </a:p>
                  </a:txBody>
                  <a:tcPr>
                    <a:solidFill>
                      <a:srgbClr val="FFFFFF"/>
                    </a:solidFill>
                  </a:tcPr>
                </a:tc>
                <a:tc>
                  <a:txBody>
                    <a:bodyPr/>
                    <a:lstStyle/>
                    <a:p>
                      <a:pPr algn="ctr"/>
                      <a:r>
                        <a:rPr sz="880">
                          <a:solidFill>
                            <a:srgbClr val="1F2937"/>
                          </a:solidFill>
                          <a:latin typeface="Poppins"/>
                        </a:rPr>
                        <a:t>Drifts with DC Bias</a:t>
                      </a:r>
                    </a:p>
                  </a:txBody>
                  <a:tcPr>
                    <a:solidFill>
                      <a:srgbClr val="FFFFFF"/>
                    </a:solidFill>
                  </a:tcPr>
                </a:tc>
              </a:tr>
              <a:tr h="581250">
                <a:tc>
                  <a:txBody>
                    <a:bodyPr/>
                    <a:lstStyle/>
                    <a:p>
                      <a:pPr algn="l"/>
                      <a:r>
                        <a:rPr sz="880">
                          <a:solidFill>
                            <a:srgbClr val="831838"/>
                          </a:solidFill>
                          <a:latin typeface="Poppins"/>
                        </a:rPr>
                        <a:t>OCV Lookup</a:t>
                      </a:r>
                    </a:p>
                  </a:txBody>
                  <a:tcPr>
                    <a:solidFill>
                      <a:srgbClr val="F9FAFC"/>
                    </a:solidFill>
                  </a:tcPr>
                </a:tc>
                <a:tc>
                  <a:txBody>
                    <a:bodyPr/>
                    <a:lstStyle/>
                    <a:p>
                      <a:pPr algn="ctr"/>
                      <a:r>
                        <a:rPr sz="880">
                          <a:solidFill>
                            <a:srgbClr val="1F2937"/>
                          </a:solidFill>
                          <a:latin typeface="Poppins"/>
                        </a:rPr>
                        <a:t>Static Table</a:t>
                      </a:r>
                    </a:p>
                  </a:txBody>
                  <a:tcPr>
                    <a:solidFill>
                      <a:srgbClr val="F9FAFC"/>
                    </a:solidFill>
                  </a:tcPr>
                </a:tc>
                <a:tc>
                  <a:txBody>
                    <a:bodyPr/>
                    <a:lstStyle/>
                    <a:p>
                      <a:pPr algn="ctr"/>
                      <a:r>
                        <a:rPr sz="880">
                          <a:solidFill>
                            <a:srgbClr val="1F2937"/>
                          </a:solidFill>
                          <a:latin typeface="Poppins"/>
                        </a:rPr>
                        <a:t>9.75 %</a:t>
                      </a:r>
                    </a:p>
                  </a:txBody>
                  <a:tcPr>
                    <a:solidFill>
                      <a:srgbClr val="F9FAFC"/>
                    </a:solidFill>
                  </a:tcPr>
                </a:tc>
                <a:tc>
                  <a:txBody>
                    <a:bodyPr/>
                    <a:lstStyle/>
                    <a:p>
                      <a:pPr algn="ctr"/>
                      <a:r>
                        <a:rPr sz="880">
                          <a:solidFill>
                            <a:srgbClr val="1F2937"/>
                          </a:solidFill>
                          <a:latin typeface="Poppins"/>
                        </a:rPr>
                        <a:t>4.50 µs</a:t>
                      </a:r>
                    </a:p>
                  </a:txBody>
                  <a:tcPr>
                    <a:solidFill>
                      <a:srgbClr val="F9FAFC"/>
                    </a:solidFill>
                  </a:tcPr>
                </a:tc>
                <a:tc>
                  <a:txBody>
                    <a:bodyPr/>
                    <a:lstStyle/>
                    <a:p>
                      <a:pPr algn="ctr"/>
                      <a:r>
                        <a:rPr sz="880">
                          <a:solidFill>
                            <a:srgbClr val="1F2937"/>
                          </a:solidFill>
                          <a:latin typeface="Poppins"/>
                        </a:rPr>
                        <a:t>120 B</a:t>
                      </a:r>
                    </a:p>
                  </a:txBody>
                  <a:tcPr>
                    <a:solidFill>
                      <a:srgbClr val="F9FAFC"/>
                    </a:solidFill>
                  </a:tcPr>
                </a:tc>
                <a:tc>
                  <a:txBody>
                    <a:bodyPr/>
                    <a:lstStyle/>
                    <a:p>
                      <a:pPr algn="ctr"/>
                      <a:r>
                        <a:rPr sz="880">
                          <a:solidFill>
                            <a:srgbClr val="1F2937"/>
                          </a:solidFill>
                          <a:latin typeface="Poppins"/>
                        </a:rPr>
                        <a:t>Fails Under Load</a:t>
                      </a:r>
                    </a:p>
                  </a:txBody>
                  <a:tcPr>
                    <a:solidFill>
                      <a:srgbClr val="F9FA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Results on Held-Out Cycles  </a:t>
            </a:r>
            <a:r>
              <a:rPr sz="2500">
                <a:solidFill>
                  <a:srgbClr val="99A3AF"/>
                </a:solidFill>
                <a:latin typeface="Poppins"/>
              </a:rPr>
              <a:t>Slide 12</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15</a:t>
            </a:r>
          </a:p>
        </p:txBody>
      </p:sp>
      <p:graphicFrame>
        <p:nvGraphicFramePr>
          <p:cNvPr id="7" name="Table 6"/>
          <p:cNvGraphicFramePr>
            <a:graphicFrameLocks noGrp="1"/>
          </p:cNvGraphicFramePr>
          <p:nvPr/>
        </p:nvGraphicFramePr>
        <p:xfrm>
          <a:off x="411480" y="1500000"/>
          <a:ext cx="11368440" cy="1700000"/>
        </p:xfrm>
        <a:graphic>
          <a:graphicData uri="http://schemas.openxmlformats.org/drawingml/2006/table">
            <a:tbl>
              <a:tblPr firstRow="1" bandRow="1">
                <a:tableStyleId>{5C22544A-7EE6-4342-B048-85BDC9FD1C3A}</a:tableStyleId>
              </a:tblPr>
              <a:tblGrid>
                <a:gridCol w="2273688"/>
                <a:gridCol w="2273688"/>
                <a:gridCol w="2273688"/>
                <a:gridCol w="2273688"/>
                <a:gridCol w="2273688"/>
              </a:tblGrid>
              <a:tr h="283333">
                <a:tc>
                  <a:txBody>
                    <a:bodyPr/>
                    <a:lstStyle/>
                    <a:p>
                      <a:pPr algn="l"/>
                      <a:r>
                        <a:rPr sz="950" b="1">
                          <a:solidFill>
                            <a:srgbClr val="FFFFFF"/>
                          </a:solidFill>
                          <a:latin typeface="Poppins"/>
                        </a:rPr>
                        <a:t>Held-Out Cycle</a:t>
                      </a:r>
                    </a:p>
                  </a:txBody>
                  <a:tcPr>
                    <a:solidFill>
                      <a:srgbClr val="831838"/>
                    </a:solidFill>
                  </a:tcPr>
                </a:tc>
                <a:tc>
                  <a:txBody>
                    <a:bodyPr/>
                    <a:lstStyle/>
                    <a:p>
                      <a:pPr algn="ctr"/>
                      <a:r>
                        <a:rPr sz="950" b="1">
                          <a:solidFill>
                            <a:srgbClr val="FFFFFF"/>
                          </a:solidFill>
                          <a:latin typeface="Poppins"/>
                        </a:rPr>
                        <a:t>Proposed MLP (%)</a:t>
                      </a:r>
                    </a:p>
                  </a:txBody>
                  <a:tcPr>
                    <a:solidFill>
                      <a:srgbClr val="831838"/>
                    </a:solidFill>
                  </a:tcPr>
                </a:tc>
                <a:tc>
                  <a:txBody>
                    <a:bodyPr/>
                    <a:lstStyle/>
                    <a:p>
                      <a:pPr algn="ctr"/>
                      <a:r>
                        <a:rPr sz="950" b="1">
                          <a:solidFill>
                            <a:srgbClr val="FFFFFF"/>
                          </a:solidFill>
                          <a:latin typeface="Poppins"/>
                        </a:rPr>
                        <a:t>Random Forest (%)</a:t>
                      </a:r>
                    </a:p>
                  </a:txBody>
                  <a:tcPr>
                    <a:solidFill>
                      <a:srgbClr val="831838"/>
                    </a:solidFill>
                  </a:tcPr>
                </a:tc>
                <a:tc>
                  <a:txBody>
                    <a:bodyPr/>
                    <a:lstStyle/>
                    <a:p>
                      <a:pPr algn="ctr"/>
                      <a:r>
                        <a:rPr sz="950" b="1">
                          <a:solidFill>
                            <a:srgbClr val="FFFFFF"/>
                          </a:solidFill>
                          <a:latin typeface="Poppins"/>
                        </a:rPr>
                        <a:t>Linear Reg (%)</a:t>
                      </a:r>
                    </a:p>
                  </a:txBody>
                  <a:tcPr>
                    <a:solidFill>
                      <a:srgbClr val="831838"/>
                    </a:solidFill>
                  </a:tcPr>
                </a:tc>
                <a:tc>
                  <a:txBody>
                    <a:bodyPr/>
                    <a:lstStyle/>
                    <a:p>
                      <a:pPr algn="ctr"/>
                      <a:r>
                        <a:rPr sz="950" b="1">
                          <a:solidFill>
                            <a:srgbClr val="FFFFFF"/>
                          </a:solidFill>
                          <a:latin typeface="Poppins"/>
                        </a:rPr>
                        <a:t>Coulomb Counting (%)</a:t>
                      </a:r>
                    </a:p>
                  </a:txBody>
                  <a:tcPr>
                    <a:solidFill>
                      <a:srgbClr val="831838"/>
                    </a:solidFill>
                  </a:tcPr>
                </a:tc>
              </a:tr>
              <a:tr h="283333">
                <a:tc>
                  <a:txBody>
                    <a:bodyPr/>
                    <a:lstStyle/>
                    <a:p>
                      <a:pPr algn="l"/>
                      <a:r>
                        <a:rPr sz="880">
                          <a:solidFill>
                            <a:srgbClr val="831838"/>
                          </a:solidFill>
                          <a:latin typeface="Poppins"/>
                        </a:rPr>
                        <a:t>1 A pair (discharge 10 + charge 10)</a:t>
                      </a:r>
                    </a:p>
                  </a:txBody>
                  <a:tcPr>
                    <a:solidFill>
                      <a:srgbClr val="F9FAFC"/>
                    </a:solidFill>
                  </a:tcPr>
                </a:tc>
                <a:tc>
                  <a:txBody>
                    <a:bodyPr/>
                    <a:lstStyle/>
                    <a:p>
                      <a:pPr algn="ctr"/>
                      <a:r>
                        <a:rPr sz="880" b="1">
                          <a:solidFill>
                            <a:srgbClr val="1F2937"/>
                          </a:solidFill>
                          <a:latin typeface="Poppins"/>
                        </a:rPr>
                        <a:t>1.13</a:t>
                      </a:r>
                    </a:p>
                  </a:txBody>
                  <a:tcPr>
                    <a:solidFill>
                      <a:srgbClr val="F9FAFC"/>
                    </a:solidFill>
                  </a:tcPr>
                </a:tc>
                <a:tc>
                  <a:txBody>
                    <a:bodyPr/>
                    <a:lstStyle/>
                    <a:p>
                      <a:pPr algn="ctr"/>
                      <a:r>
                        <a:rPr sz="880">
                          <a:solidFill>
                            <a:srgbClr val="1F2937"/>
                          </a:solidFill>
                          <a:latin typeface="Poppins"/>
                        </a:rPr>
                        <a:t>3.30</a:t>
                      </a:r>
                    </a:p>
                  </a:txBody>
                  <a:tcPr>
                    <a:solidFill>
                      <a:srgbClr val="F9FAFC"/>
                    </a:solidFill>
                  </a:tcPr>
                </a:tc>
                <a:tc>
                  <a:txBody>
                    <a:bodyPr/>
                    <a:lstStyle/>
                    <a:p>
                      <a:pPr algn="ctr"/>
                      <a:r>
                        <a:rPr sz="880">
                          <a:solidFill>
                            <a:srgbClr val="1F2937"/>
                          </a:solidFill>
                          <a:latin typeface="Poppins"/>
                        </a:rPr>
                        <a:t>2.68</a:t>
                      </a:r>
                    </a:p>
                  </a:txBody>
                  <a:tcPr>
                    <a:solidFill>
                      <a:srgbClr val="F9FAFC"/>
                    </a:solidFill>
                  </a:tcPr>
                </a:tc>
                <a:tc>
                  <a:txBody>
                    <a:bodyPr/>
                    <a:lstStyle/>
                    <a:p>
                      <a:pPr algn="ctr"/>
                      <a:r>
                        <a:rPr sz="880">
                          <a:solidFill>
                            <a:srgbClr val="1F2937"/>
                          </a:solidFill>
                          <a:latin typeface="Poppins"/>
                        </a:rPr>
                        <a:t>1.56</a:t>
                      </a:r>
                    </a:p>
                  </a:txBody>
                  <a:tcPr>
                    <a:solidFill>
                      <a:srgbClr val="F9FAFC"/>
                    </a:solidFill>
                  </a:tcPr>
                </a:tc>
              </a:tr>
              <a:tr h="283333">
                <a:tc>
                  <a:txBody>
                    <a:bodyPr/>
                    <a:lstStyle/>
                    <a:p>
                      <a:pPr algn="l"/>
                      <a:r>
                        <a:rPr sz="880">
                          <a:solidFill>
                            <a:srgbClr val="831838"/>
                          </a:solidFill>
                          <a:latin typeface="Poppins"/>
                        </a:rPr>
                        <a:t>2 A pair (discharge 20 + charge 20)</a:t>
                      </a:r>
                    </a:p>
                  </a:txBody>
                  <a:tcPr>
                    <a:solidFill>
                      <a:srgbClr val="FFFFFF"/>
                    </a:solidFill>
                  </a:tcPr>
                </a:tc>
                <a:tc>
                  <a:txBody>
                    <a:bodyPr/>
                    <a:lstStyle/>
                    <a:p>
                      <a:pPr algn="ctr"/>
                      <a:r>
                        <a:rPr sz="880" b="1">
                          <a:solidFill>
                            <a:srgbClr val="1F2937"/>
                          </a:solidFill>
                          <a:latin typeface="Poppins"/>
                        </a:rPr>
                        <a:t>1.16</a:t>
                      </a:r>
                    </a:p>
                  </a:txBody>
                  <a:tcPr>
                    <a:solidFill>
                      <a:srgbClr val="FFFFFF"/>
                    </a:solidFill>
                  </a:tcPr>
                </a:tc>
                <a:tc>
                  <a:txBody>
                    <a:bodyPr/>
                    <a:lstStyle/>
                    <a:p>
                      <a:pPr algn="ctr"/>
                      <a:r>
                        <a:rPr sz="880">
                          <a:solidFill>
                            <a:srgbClr val="1F2937"/>
                          </a:solidFill>
                          <a:latin typeface="Poppins"/>
                        </a:rPr>
                        <a:t>1.11</a:t>
                      </a:r>
                    </a:p>
                  </a:txBody>
                  <a:tcPr>
                    <a:solidFill>
                      <a:srgbClr val="FFFFFF"/>
                    </a:solidFill>
                  </a:tcPr>
                </a:tc>
                <a:tc>
                  <a:txBody>
                    <a:bodyPr/>
                    <a:lstStyle/>
                    <a:p>
                      <a:pPr algn="ctr"/>
                      <a:r>
                        <a:rPr sz="880">
                          <a:solidFill>
                            <a:srgbClr val="1F2937"/>
                          </a:solidFill>
                          <a:latin typeface="Poppins"/>
                        </a:rPr>
                        <a:t>3.06</a:t>
                      </a:r>
                    </a:p>
                  </a:txBody>
                  <a:tcPr>
                    <a:solidFill>
                      <a:srgbClr val="FFFFFF"/>
                    </a:solidFill>
                  </a:tcPr>
                </a:tc>
                <a:tc>
                  <a:txBody>
                    <a:bodyPr/>
                    <a:lstStyle/>
                    <a:p>
                      <a:pPr algn="ctr"/>
                      <a:r>
                        <a:rPr sz="880">
                          <a:solidFill>
                            <a:srgbClr val="1F2937"/>
                          </a:solidFill>
                          <a:latin typeface="Poppins"/>
                        </a:rPr>
                        <a:t>0.90</a:t>
                      </a:r>
                    </a:p>
                  </a:txBody>
                  <a:tcPr>
                    <a:solidFill>
                      <a:srgbClr val="FFFFFF"/>
                    </a:solidFill>
                  </a:tcPr>
                </a:tc>
              </a:tr>
              <a:tr h="283333">
                <a:tc>
                  <a:txBody>
                    <a:bodyPr/>
                    <a:lstStyle/>
                    <a:p>
                      <a:pPr algn="l"/>
                      <a:r>
                        <a:rPr sz="880">
                          <a:solidFill>
                            <a:srgbClr val="831838"/>
                          </a:solidFill>
                          <a:latin typeface="Poppins"/>
                        </a:rPr>
                        <a:t>3 A pair (discharge 30 + charge 30)</a:t>
                      </a:r>
                    </a:p>
                  </a:txBody>
                  <a:tcPr>
                    <a:solidFill>
                      <a:srgbClr val="F9FAFC"/>
                    </a:solidFill>
                  </a:tcPr>
                </a:tc>
                <a:tc>
                  <a:txBody>
                    <a:bodyPr/>
                    <a:lstStyle/>
                    <a:p>
                      <a:pPr algn="ctr"/>
                      <a:r>
                        <a:rPr sz="880" b="1">
                          <a:solidFill>
                            <a:srgbClr val="1F2937"/>
                          </a:solidFill>
                          <a:latin typeface="Poppins"/>
                        </a:rPr>
                        <a:t>2.24</a:t>
                      </a:r>
                    </a:p>
                  </a:txBody>
                  <a:tcPr>
                    <a:solidFill>
                      <a:srgbClr val="F9FAFC"/>
                    </a:solidFill>
                  </a:tcPr>
                </a:tc>
                <a:tc>
                  <a:txBody>
                    <a:bodyPr/>
                    <a:lstStyle/>
                    <a:p>
                      <a:pPr algn="ctr"/>
                      <a:r>
                        <a:rPr sz="880">
                          <a:solidFill>
                            <a:srgbClr val="1F2937"/>
                          </a:solidFill>
                          <a:latin typeface="Poppins"/>
                        </a:rPr>
                        <a:t>1.50</a:t>
                      </a:r>
                    </a:p>
                  </a:txBody>
                  <a:tcPr>
                    <a:solidFill>
                      <a:srgbClr val="F9FAFC"/>
                    </a:solidFill>
                  </a:tcPr>
                </a:tc>
                <a:tc>
                  <a:txBody>
                    <a:bodyPr/>
                    <a:lstStyle/>
                    <a:p>
                      <a:pPr algn="ctr"/>
                      <a:r>
                        <a:rPr sz="880">
                          <a:solidFill>
                            <a:srgbClr val="1F2937"/>
                          </a:solidFill>
                          <a:latin typeface="Poppins"/>
                        </a:rPr>
                        <a:t>3.81</a:t>
                      </a:r>
                    </a:p>
                  </a:txBody>
                  <a:tcPr>
                    <a:solidFill>
                      <a:srgbClr val="F9FAFC"/>
                    </a:solidFill>
                  </a:tcPr>
                </a:tc>
                <a:tc>
                  <a:txBody>
                    <a:bodyPr/>
                    <a:lstStyle/>
                    <a:p>
                      <a:pPr algn="ctr"/>
                      <a:r>
                        <a:rPr sz="880">
                          <a:solidFill>
                            <a:srgbClr val="1F2937"/>
                          </a:solidFill>
                          <a:latin typeface="Poppins"/>
                        </a:rPr>
                        <a:t>0.67</a:t>
                      </a:r>
                    </a:p>
                  </a:txBody>
                  <a:tcPr>
                    <a:solidFill>
                      <a:srgbClr val="F9FAFC"/>
                    </a:solidFill>
                  </a:tcPr>
                </a:tc>
              </a:tr>
              <a:tr h="283333">
                <a:tc>
                  <a:txBody>
                    <a:bodyPr/>
                    <a:lstStyle/>
                    <a:p>
                      <a:pPr algn="l"/>
                      <a:r>
                        <a:rPr sz="880">
                          <a:solidFill>
                            <a:srgbClr val="831838"/>
                          </a:solidFill>
                          <a:latin typeface="Poppins"/>
                        </a:rPr>
                        <a:t>0.5 A discharge only (Discharge 02)</a:t>
                      </a:r>
                    </a:p>
                  </a:txBody>
                  <a:tcPr>
                    <a:solidFill>
                      <a:srgbClr val="FFFFFF"/>
                    </a:solidFill>
                  </a:tcPr>
                </a:tc>
                <a:tc>
                  <a:txBody>
                    <a:bodyPr/>
                    <a:lstStyle/>
                    <a:p>
                      <a:pPr algn="ctr"/>
                      <a:r>
                        <a:rPr sz="880" b="1">
                          <a:solidFill>
                            <a:srgbClr val="1F2937"/>
                          </a:solidFill>
                          <a:latin typeface="Poppins"/>
                        </a:rPr>
                        <a:t>1.70</a:t>
                      </a:r>
                    </a:p>
                  </a:txBody>
                  <a:tcPr>
                    <a:solidFill>
                      <a:srgbClr val="FFFFFF"/>
                    </a:solidFill>
                  </a:tcPr>
                </a:tc>
                <a:tc>
                  <a:txBody>
                    <a:bodyPr/>
                    <a:lstStyle/>
                    <a:p>
                      <a:pPr algn="ctr"/>
                      <a:r>
                        <a:rPr sz="880">
                          <a:solidFill>
                            <a:srgbClr val="1F2937"/>
                          </a:solidFill>
                          <a:latin typeface="Poppins"/>
                        </a:rPr>
                        <a:t>2.25</a:t>
                      </a:r>
                    </a:p>
                  </a:txBody>
                  <a:tcPr>
                    <a:solidFill>
                      <a:srgbClr val="FFFFFF"/>
                    </a:solidFill>
                  </a:tcPr>
                </a:tc>
                <a:tc>
                  <a:txBody>
                    <a:bodyPr/>
                    <a:lstStyle/>
                    <a:p>
                      <a:pPr algn="ctr"/>
                      <a:r>
                        <a:rPr sz="880">
                          <a:solidFill>
                            <a:srgbClr val="1F2937"/>
                          </a:solidFill>
                          <a:latin typeface="Poppins"/>
                        </a:rPr>
                        <a:t>2.53</a:t>
                      </a:r>
                    </a:p>
                  </a:txBody>
                  <a:tcPr>
                    <a:solidFill>
                      <a:srgbClr val="FFFFFF"/>
                    </a:solidFill>
                  </a:tcPr>
                </a:tc>
                <a:tc>
                  <a:txBody>
                    <a:bodyPr/>
                    <a:lstStyle/>
                    <a:p>
                      <a:pPr algn="ctr"/>
                      <a:r>
                        <a:rPr sz="880">
                          <a:solidFill>
                            <a:srgbClr val="1F2937"/>
                          </a:solidFill>
                          <a:latin typeface="Poppins"/>
                        </a:rPr>
                        <a:t>3.11</a:t>
                      </a:r>
                    </a:p>
                  </a:txBody>
                  <a:tcPr>
                    <a:solidFill>
                      <a:srgbClr val="FFFFFF"/>
                    </a:solidFill>
                  </a:tcPr>
                </a:tc>
              </a:tr>
              <a:tr h="283335">
                <a:tc>
                  <a:txBody>
                    <a:bodyPr/>
                    <a:lstStyle/>
                    <a:p>
                      <a:pPr algn="l"/>
                      <a:r>
                        <a:rPr sz="880">
                          <a:solidFill>
                            <a:srgbClr val="831838"/>
                          </a:solidFill>
                          <a:latin typeface="Poppins"/>
                        </a:rPr>
                        <a:t>Average Across Test Cycles</a:t>
                      </a:r>
                    </a:p>
                  </a:txBody>
                  <a:tcPr>
                    <a:solidFill>
                      <a:srgbClr val="F9FAFC"/>
                    </a:solidFill>
                  </a:tcPr>
                </a:tc>
                <a:tc>
                  <a:txBody>
                    <a:bodyPr/>
                    <a:lstStyle/>
                    <a:p>
                      <a:pPr algn="ctr"/>
                      <a:r>
                        <a:rPr sz="880" b="1">
                          <a:solidFill>
                            <a:srgbClr val="1F2937"/>
                          </a:solidFill>
                          <a:latin typeface="Poppins"/>
                        </a:rPr>
                        <a:t>1.25</a:t>
                      </a:r>
                    </a:p>
                  </a:txBody>
                  <a:tcPr>
                    <a:solidFill>
                      <a:srgbClr val="F9FAFC"/>
                    </a:solidFill>
                  </a:tcPr>
                </a:tc>
                <a:tc>
                  <a:txBody>
                    <a:bodyPr/>
                    <a:lstStyle/>
                    <a:p>
                      <a:pPr algn="ctr"/>
                      <a:r>
                        <a:rPr sz="880">
                          <a:solidFill>
                            <a:srgbClr val="1F2937"/>
                          </a:solidFill>
                          <a:latin typeface="Poppins"/>
                        </a:rPr>
                        <a:t>2.04</a:t>
                      </a:r>
                    </a:p>
                  </a:txBody>
                  <a:tcPr>
                    <a:solidFill>
                      <a:srgbClr val="F9FAFC"/>
                    </a:solidFill>
                  </a:tcPr>
                </a:tc>
                <a:tc>
                  <a:txBody>
                    <a:bodyPr/>
                    <a:lstStyle/>
                    <a:p>
                      <a:pPr algn="ctr"/>
                      <a:r>
                        <a:rPr sz="880">
                          <a:solidFill>
                            <a:srgbClr val="1F2937"/>
                          </a:solidFill>
                          <a:latin typeface="Poppins"/>
                        </a:rPr>
                        <a:t>3.02</a:t>
                      </a:r>
                    </a:p>
                  </a:txBody>
                  <a:tcPr>
                    <a:solidFill>
                      <a:srgbClr val="F9FAFC"/>
                    </a:solidFill>
                  </a:tcPr>
                </a:tc>
                <a:tc>
                  <a:txBody>
                    <a:bodyPr/>
                    <a:lstStyle/>
                    <a:p>
                      <a:pPr algn="ctr"/>
                      <a:r>
                        <a:rPr sz="880">
                          <a:solidFill>
                            <a:srgbClr val="1F2937"/>
                          </a:solidFill>
                          <a:latin typeface="Poppins"/>
                        </a:rPr>
                        <a:t>2.24*</a:t>
                      </a:r>
                    </a:p>
                  </a:txBody>
                  <a:tcPr>
                    <a:solidFill>
                      <a:srgbClr val="F9FAFC"/>
                    </a:solidFill>
                  </a:tcPr>
                </a:tc>
              </a:tr>
            </a:tbl>
          </a:graphicData>
        </a:graphic>
      </p:graphicFrame>
      <p:sp>
        <p:nvSpPr>
          <p:cNvPr id="8" name="TextBox 7"/>
          <p:cNvSpPr txBox="1"/>
          <p:nvPr/>
        </p:nvSpPr>
        <p:spPr>
          <a:xfrm>
            <a:off x="411480" y="3300000"/>
            <a:ext cx="11368440" cy="300000"/>
          </a:xfrm>
          <a:prstGeom prst="rect">
            <a:avLst/>
          </a:prstGeom>
          <a:noFill/>
        </p:spPr>
        <p:txBody>
          <a:bodyPr wrap="none">
            <a:spAutoFit/>
          </a:bodyPr>
          <a:lstStyle/>
          <a:p>
            <a:r>
              <a:rPr sz="950">
                <a:solidFill>
                  <a:srgbClr val="4B5563"/>
                </a:solidFill>
                <a:latin typeface="Poppins"/>
              </a:rPr>
              <a:t>Error in SOC percentage points vs reference, under 5 mV ADC noise and 30 mA current offset. All four cycles meet the 2-3% design target.</a:t>
            </a:r>
          </a:p>
        </p:txBody>
      </p:sp>
      <p:graphicFrame>
        <p:nvGraphicFramePr>
          <p:cNvPr id="9" name="Chart 8"/>
          <p:cNvGraphicFramePr>
            <a:graphicFrameLocks noGrp="1"/>
          </p:cNvGraphicFramePr>
          <p:nvPr/>
        </p:nvGraphicFramePr>
        <p:xfrm>
          <a:off x="411480" y="3700000"/>
          <a:ext cx="5577840" cy="2600000"/>
        </p:xfrm>
        <a:graphic>
          <a:graphicData uri="http://schemas.openxmlformats.org/drawingml/2006/chart">
            <c:chart xmlns:c="http://schemas.openxmlformats.org/drawingml/2006/chart" r:id="rId4"/>
          </a:graphicData>
        </a:graphic>
      </p:graphicFrame>
      <p:sp>
        <p:nvSpPr>
          <p:cNvPr id="10" name="Rounded Rectangle 9"/>
          <p:cNvSpPr/>
          <p:nvPr/>
        </p:nvSpPr>
        <p:spPr>
          <a:xfrm>
            <a:off x="6199632" y="3700000"/>
            <a:ext cx="5577840" cy="26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3837160"/>
            <a:ext cx="5120640" cy="384048"/>
          </a:xfrm>
          <a:prstGeom prst="rect">
            <a:avLst/>
          </a:prstGeom>
          <a:noFill/>
        </p:spPr>
        <p:txBody>
          <a:bodyPr wrap="square" lIns="0" rIns="0" tIns="0" bIns="0">
            <a:spAutoFit/>
          </a:bodyPr>
          <a:lstStyle/>
          <a:p>
            <a:r>
              <a:rPr sz="1200" b="1">
                <a:solidFill>
                  <a:srgbClr val="831838"/>
                </a:solidFill>
                <a:latin typeface="Poppins"/>
              </a:rPr>
              <a:t>Algorithmic Trade-off Analysis</a:t>
            </a:r>
          </a:p>
        </p:txBody>
      </p:sp>
      <p:sp>
        <p:nvSpPr>
          <p:cNvPr id="12" name="TextBox 11"/>
          <p:cNvSpPr txBox="1"/>
          <p:nvPr/>
        </p:nvSpPr>
        <p:spPr>
          <a:xfrm>
            <a:off x="6382512" y="4285216"/>
            <a:ext cx="5212080" cy="1941632"/>
          </a:xfrm>
          <a:prstGeom prst="rect">
            <a:avLst/>
          </a:prstGeom>
          <a:noFill/>
        </p:spPr>
        <p:txBody>
          <a:bodyPr wrap="square" lIns="0" rIns="0" tIns="0" bIns="0">
            <a:spAutoFit/>
          </a:bodyPr>
          <a:lstStyle/>
          <a:p>
            <a:pPr>
              <a:spcAft>
                <a:spcPts val="220"/>
              </a:spcAft>
            </a:pPr>
            <a:r>
              <a:rPr sz="919" b="1">
                <a:solidFill>
                  <a:srgbClr val="1F2937"/>
                </a:solidFill>
                <a:latin typeface="Poppins"/>
              </a:rPr>
              <a:t>Linear Regression (3.02% MAE): </a:t>
            </a:r>
            <a:r>
              <a:rPr sz="880">
                <a:solidFill>
                  <a:srgbClr val="4B5563"/>
                </a:solidFill>
                <a:latin typeface="Poppins"/>
              </a:rPr>
              <a:t>Fails to capture the non-linear curvature at boundary SOC regions (below 20% and above 80%).</a:t>
            </a:r>
          </a:p>
          <a:p>
            <a:pPr>
              <a:spcAft>
                <a:spcPts val="220"/>
              </a:spcAft>
            </a:pPr>
            <a:r>
              <a:rPr sz="919" b="1">
                <a:solidFill>
                  <a:srgbClr val="1F2937"/>
                </a:solidFill>
                <a:latin typeface="Poppins"/>
              </a:rPr>
              <a:t>Random Forest (2.04% MAE): </a:t>
            </a:r>
            <a:r>
              <a:rPr sz="880">
                <a:solidFill>
                  <a:srgbClr val="4B5563"/>
                </a:solidFill>
                <a:latin typeface="Poppins"/>
              </a:rPr>
              <a:t>Achieves competitive accuracy via orthogonal feature partitioning, but 30 decision trees require &gt;120 KB flash memory and produce non-continuous step outputs unsuited for MCUs.</a:t>
            </a:r>
          </a:p>
          <a:p>
            <a:pPr>
              <a:spcAft>
                <a:spcPts val="220"/>
              </a:spcAft>
            </a:pPr>
            <a:r>
              <a:rPr sz="919" b="1">
                <a:solidFill>
                  <a:srgbClr val="831838"/>
                </a:solidFill>
                <a:latin typeface="Poppins"/>
              </a:rPr>
              <a:t>Proposed MLP 3-16-1 (1.25% MAE): </a:t>
            </a:r>
            <a:r>
              <a:rPr sz="880">
                <a:solidFill>
                  <a:srgbClr val="4B5563"/>
                </a:solidFill>
                <a:latin typeface="Poppins"/>
              </a:rPr>
              <a:t>Smooth tanh activation produces continuous predictions; achieves lowest error with only 348 bytes storage and 6.03 µs latency on ESP32.</a:t>
            </a:r>
          </a:p>
          <a:p>
            <a:pPr>
              <a:spcAft>
                <a:spcPts val="220"/>
              </a:spcAft>
            </a:pPr>
            <a:r>
              <a:rPr sz="919" b="1">
                <a:solidFill>
                  <a:srgbClr val="1F2937"/>
                </a:solidFill>
                <a:latin typeface="Poppins"/>
              </a:rPr>
              <a:t>Sensor Offset Resilience: </a:t>
            </a:r>
            <a:r>
              <a:rPr sz="880">
                <a:solidFill>
                  <a:srgbClr val="4B5563"/>
                </a:solidFill>
                <a:latin typeface="Poppins"/>
              </a:rPr>
              <a:t>Coulomb counting performs well only with perfect initial SOC0, but drifts severely under sensor bias (exploding to &gt;13% on long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Sensor DC Bias &amp; Long-Horizon Drift  </a:t>
            </a:r>
            <a:r>
              <a:rPr sz="2500">
                <a:solidFill>
                  <a:srgbClr val="99A3AF"/>
                </a:solidFill>
                <a:latin typeface="Poppins"/>
              </a:rPr>
              <a:t>Slide 13</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16</a:t>
            </a:r>
          </a:p>
        </p:txBody>
      </p:sp>
      <p:pic>
        <p:nvPicPr>
          <p:cNvPr id="7" name="Picture 6" descr="long_horizon_drift.png"/>
          <p:cNvPicPr>
            <a:picLocks noChangeAspect="1"/>
          </p:cNvPicPr>
          <p:nvPr/>
        </p:nvPicPr>
        <p:blipFill>
          <a:blip r:embed="rId4"/>
          <a:stretch>
            <a:fillRect/>
          </a:stretch>
        </p:blipFill>
        <p:spPr>
          <a:xfrm>
            <a:off x="411480" y="1500000"/>
            <a:ext cx="6400000" cy="4650000"/>
          </a:xfrm>
          <a:prstGeom prst="rect">
            <a:avLst/>
          </a:prstGeom>
        </p:spPr>
      </p:pic>
      <p:sp>
        <p:nvSpPr>
          <p:cNvPr id="8" name="Rounded Rectangle 7"/>
          <p:cNvSpPr/>
          <p:nvPr/>
        </p:nvSpPr>
        <p:spPr>
          <a:xfrm>
            <a:off x="7000000" y="1500000"/>
            <a:ext cx="477992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8600" y="1637160"/>
            <a:ext cx="4322720" cy="384048"/>
          </a:xfrm>
          <a:prstGeom prst="rect">
            <a:avLst/>
          </a:prstGeom>
          <a:noFill/>
        </p:spPr>
        <p:txBody>
          <a:bodyPr wrap="square" lIns="0" rIns="0" tIns="0" bIns="0">
            <a:spAutoFit/>
          </a:bodyPr>
          <a:lstStyle/>
          <a:p>
            <a:r>
              <a:rPr sz="1200" b="1">
                <a:solidFill>
                  <a:srgbClr val="831838"/>
                </a:solidFill>
                <a:latin typeface="Poppins"/>
              </a:rPr>
              <a:t>Why Data-Driven ML Prevents Divergence</a:t>
            </a:r>
          </a:p>
        </p:txBody>
      </p:sp>
      <p:sp>
        <p:nvSpPr>
          <p:cNvPr id="10" name="TextBox 9"/>
          <p:cNvSpPr txBox="1"/>
          <p:nvPr/>
        </p:nvSpPr>
        <p:spPr>
          <a:xfrm>
            <a:off x="7182880" y="2085216"/>
            <a:ext cx="441416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The 10-Hour Continuous Cycling Stress Test: </a:t>
            </a:r>
            <a:r>
              <a:rPr sz="880">
                <a:solidFill>
                  <a:srgbClr val="4B5563"/>
                </a:solidFill>
                <a:latin typeface="Poppins"/>
              </a:rPr>
              <a:t>Simulated multi-hour continuous charge/discharge cycling under constant +30 mA DC current sensor bias.</a:t>
            </a:r>
          </a:p>
          <a:p>
            <a:pPr>
              <a:spcAft>
                <a:spcPts val="220"/>
              </a:spcAft>
            </a:pPr>
            <a:r>
              <a:rPr sz="919" b="1">
                <a:solidFill>
                  <a:srgbClr val="1F2937"/>
                </a:solidFill>
                <a:latin typeface="Poppins"/>
              </a:rPr>
              <a:t>Coulomb Counting Divergence: </a:t>
            </a:r>
            <a:r>
              <a:rPr sz="880">
                <a:solidFill>
                  <a:srgbClr val="4B5563"/>
                </a:solidFill>
                <a:latin typeface="Poppins"/>
              </a:rPr>
              <a:t>Open-loop Ah integration accumulates the bias over time: Error = (1/Cn) ∫ I_offset dt. Error grows linearly, exploding past 13.5% after 10 hours.</a:t>
            </a:r>
          </a:p>
          <a:p>
            <a:pPr>
              <a:spcAft>
                <a:spcPts val="220"/>
              </a:spcAft>
            </a:pPr>
            <a:r>
              <a:rPr sz="919" b="1">
                <a:solidFill>
                  <a:srgbClr val="1F2937"/>
                </a:solidFill>
                <a:latin typeface="Poppins"/>
              </a:rPr>
              <a:t>Kalman Filter Drift (EKF / SPKF): </a:t>
            </a:r>
            <a:r>
              <a:rPr sz="880">
                <a:solidFill>
                  <a:srgbClr val="4B5563"/>
                </a:solidFill>
                <a:latin typeface="Poppins"/>
              </a:rPr>
              <a:t>Because Kalman state transition is driven by current integration, constant DC bias acts as an unmodeled persistent disturbance, causing estimated SOC to drift away from truth (6.02% MAE).</a:t>
            </a:r>
          </a:p>
          <a:p>
            <a:pPr>
              <a:spcAft>
                <a:spcPts val="220"/>
              </a:spcAft>
            </a:pPr>
            <a:r>
              <a:rPr sz="919" b="1">
                <a:solidFill>
                  <a:srgbClr val="831838"/>
                </a:solidFill>
                <a:latin typeface="Poppins"/>
              </a:rPr>
              <a:t>ML Bounded Error Guarantee: </a:t>
            </a:r>
            <a:r>
              <a:rPr sz="880">
                <a:solidFill>
                  <a:srgbClr val="4B5563"/>
                </a:solidFill>
                <a:latin typeface="Poppins"/>
              </a:rPr>
              <a:t>The MLP model uses instantaneous and smoothed terminal voltage as inputs. Because terminal voltage is anchored to the true thermodynamic state of the cell, the MLP cannot drift; its error remains strictly bounded under 1.5% across all hours.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Hardware Robustness &amp; Stress Analysis  </a:t>
            </a:r>
            <a:r>
              <a:rPr sz="2500">
                <a:solidFill>
                  <a:srgbClr val="99A3AF"/>
                </a:solidFill>
                <a:latin typeface="Poppins"/>
              </a:rPr>
              <a:t>Slide 14</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17</a:t>
            </a:r>
          </a:p>
        </p:txBody>
      </p:sp>
      <p:pic>
        <p:nvPicPr>
          <p:cNvPr id="7" name="Picture 6" descr="robustness_sweeps.png"/>
          <p:cNvPicPr>
            <a:picLocks noChangeAspect="1"/>
          </p:cNvPicPr>
          <p:nvPr/>
        </p:nvPicPr>
        <p:blipFill>
          <a:blip r:embed="rId4"/>
          <a:stretch>
            <a:fillRect/>
          </a:stretch>
        </p:blipFill>
        <p:spPr>
          <a:xfrm>
            <a:off x="411480" y="1500000"/>
            <a:ext cx="6400000" cy="4650000"/>
          </a:xfrm>
          <a:prstGeom prst="rect">
            <a:avLst/>
          </a:prstGeom>
        </p:spPr>
      </p:pic>
      <p:sp>
        <p:nvSpPr>
          <p:cNvPr id="8" name="Rounded Rectangle 7"/>
          <p:cNvSpPr/>
          <p:nvPr/>
        </p:nvSpPr>
        <p:spPr>
          <a:xfrm>
            <a:off x="7000000" y="1500000"/>
            <a:ext cx="477992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8600" y="1637160"/>
            <a:ext cx="4322720" cy="384048"/>
          </a:xfrm>
          <a:prstGeom prst="rect">
            <a:avLst/>
          </a:prstGeom>
          <a:noFill/>
        </p:spPr>
        <p:txBody>
          <a:bodyPr wrap="square" lIns="0" rIns="0" tIns="0" bIns="0">
            <a:spAutoFit/>
          </a:bodyPr>
          <a:lstStyle/>
          <a:p>
            <a:r>
              <a:rPr sz="1200" b="1">
                <a:solidFill>
                  <a:srgbClr val="831838"/>
                </a:solidFill>
                <a:latin typeface="Poppins"/>
              </a:rPr>
              <a:t>Parametric Hardware Sensitivity Sweeps</a:t>
            </a:r>
          </a:p>
        </p:txBody>
      </p:sp>
      <p:sp>
        <p:nvSpPr>
          <p:cNvPr id="10" name="TextBox 9"/>
          <p:cNvSpPr txBox="1"/>
          <p:nvPr/>
        </p:nvSpPr>
        <p:spPr>
          <a:xfrm>
            <a:off x="7182880" y="2085216"/>
            <a:ext cx="441416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Systematic Stress Sweeps: </a:t>
            </a:r>
            <a:r>
              <a:rPr sz="880">
                <a:solidFill>
                  <a:srgbClr val="4B5563"/>
                </a:solidFill>
                <a:latin typeface="Poppins"/>
              </a:rPr>
              <a:t>To ensure field reliability on low-cost hardware, the model was subjected to 4 hardware impairment sweeps:</a:t>
            </a:r>
          </a:p>
          <a:p>
            <a:pPr>
              <a:spcAft>
                <a:spcPts val="220"/>
              </a:spcAft>
            </a:pPr>
            <a:r>
              <a:rPr sz="919" b="1">
                <a:solidFill>
                  <a:srgbClr val="1F2937"/>
                </a:solidFill>
                <a:latin typeface="Poppins"/>
              </a:rPr>
              <a:t>1. ADC Noise Sweep (0 to 30 mV): </a:t>
            </a:r>
            <a:r>
              <a:rPr sz="880">
                <a:solidFill>
                  <a:srgbClr val="4B5563"/>
                </a:solidFill>
                <a:latin typeface="Poppins"/>
              </a:rPr>
              <a:t>Gaussian noise added to ADC pin. Model error rises gracefully from 1.18% (clean) to only 1.48% (at 30 mV noise) — highly resilient.</a:t>
            </a:r>
          </a:p>
          <a:p>
            <a:pPr>
              <a:spcAft>
                <a:spcPts val="220"/>
              </a:spcAft>
            </a:pPr>
            <a:r>
              <a:rPr sz="919" b="1">
                <a:solidFill>
                  <a:srgbClr val="1F2937"/>
                </a:solidFill>
                <a:latin typeface="Poppins"/>
              </a:rPr>
              <a:t>2. Current Offset Sweep (-100 to +100 mA): </a:t>
            </a:r>
            <a:r>
              <a:rPr sz="880">
                <a:solidFill>
                  <a:srgbClr val="4B5563"/>
                </a:solidFill>
                <a:latin typeface="Poppins"/>
              </a:rPr>
              <a:t>Simulates extreme Hall sensor thermal drift. Error stays strictly below 2.0% across the entire ±100 mA range.</a:t>
            </a:r>
          </a:p>
          <a:p>
            <a:pPr>
              <a:spcAft>
                <a:spcPts val="220"/>
              </a:spcAft>
            </a:pPr>
            <a:r>
              <a:rPr sz="919" b="1">
                <a:solidFill>
                  <a:srgbClr val="1F2937"/>
                </a:solidFill>
                <a:latin typeface="Poppins"/>
              </a:rPr>
              <a:t>3. ADC Resolution Sweep (10 to 14 bits): </a:t>
            </a:r>
            <a:r>
              <a:rPr sz="880">
                <a:solidFill>
                  <a:srgbClr val="4B5563"/>
                </a:solidFill>
                <a:latin typeface="Poppins"/>
              </a:rPr>
              <a:t>Evaluates 10-bit (Arduino), 12-bit (ESP32), and 14-bit (external ADC). 12-bit provides optimal cost-accuracy trade-off (1.25% MAE).</a:t>
            </a:r>
          </a:p>
          <a:p>
            <a:pPr>
              <a:spcAft>
                <a:spcPts val="220"/>
              </a:spcAft>
            </a:pPr>
            <a:r>
              <a:rPr sz="919" b="1">
                <a:solidFill>
                  <a:srgbClr val="1F2937"/>
                </a:solidFill>
                <a:latin typeface="Poppins"/>
              </a:rPr>
              <a:t>4. Voltage Divider Gain Error (±2%): </a:t>
            </a:r>
            <a:r>
              <a:rPr sz="880">
                <a:solidFill>
                  <a:srgbClr val="4B5563"/>
                </a:solidFill>
                <a:latin typeface="Poppins"/>
              </a:rPr>
              <a:t>Simulates resistor tolerance (1% vs 5% resistors). Error remains bounded within 1.6%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State of Health (SOH) Engine  </a:t>
            </a:r>
            <a:r>
              <a:rPr sz="2500">
                <a:solidFill>
                  <a:srgbClr val="99A3AF"/>
                </a:solidFill>
                <a:latin typeface="Poppins"/>
              </a:rPr>
              <a:t>Slide 15</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18</a:t>
            </a:r>
          </a:p>
        </p:txBody>
      </p:sp>
      <p:sp>
        <p:nvSpPr>
          <p:cNvPr id="7" name="Rounded Rectangle 6"/>
          <p:cNvSpPr/>
          <p:nvPr/>
        </p:nvSpPr>
        <p:spPr>
          <a:xfrm>
            <a:off x="411480" y="1500000"/>
            <a:ext cx="555000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76072" y="164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1</a:t>
            </a:r>
          </a:p>
        </p:txBody>
      </p:sp>
      <p:sp>
        <p:nvSpPr>
          <p:cNvPr id="9" name="TextBox 8"/>
          <p:cNvSpPr txBox="1"/>
          <p:nvPr/>
        </p:nvSpPr>
        <p:spPr>
          <a:xfrm>
            <a:off x="1033272" y="1637160"/>
            <a:ext cx="4772760" cy="384048"/>
          </a:xfrm>
          <a:prstGeom prst="rect">
            <a:avLst/>
          </a:prstGeom>
          <a:noFill/>
        </p:spPr>
        <p:txBody>
          <a:bodyPr wrap="square" lIns="0" rIns="0" tIns="0" bIns="0">
            <a:spAutoFit/>
          </a:bodyPr>
          <a:lstStyle/>
          <a:p>
            <a:r>
              <a:rPr sz="1200" b="1">
                <a:solidFill>
                  <a:srgbClr val="831838"/>
                </a:solidFill>
                <a:latin typeface="Poppins"/>
              </a:rPr>
              <a:t>1. Capacity Fade Algorithm (SOH_C)</a:t>
            </a:r>
          </a:p>
        </p:txBody>
      </p:sp>
      <p:sp>
        <p:nvSpPr>
          <p:cNvPr id="10" name="TextBox 9"/>
          <p:cNvSpPr txBox="1"/>
          <p:nvPr/>
        </p:nvSpPr>
        <p:spPr>
          <a:xfrm>
            <a:off x="594360" y="2085216"/>
            <a:ext cx="518424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Mathematical Model: </a:t>
            </a:r>
            <a:r>
              <a:rPr sz="880">
                <a:solidFill>
                  <a:srgbClr val="4B5563"/>
                </a:solidFill>
                <a:latin typeface="Poppins"/>
              </a:rPr>
              <a:t>SOH_C = (C_actual / C_nominal) * 100%.</a:t>
            </a:r>
          </a:p>
          <a:p>
            <a:pPr>
              <a:spcAft>
                <a:spcPts val="220"/>
              </a:spcAft>
            </a:pPr>
            <a:r>
              <a:rPr sz="919" b="1">
                <a:solidFill>
                  <a:srgbClr val="1F2937"/>
                </a:solidFill>
                <a:latin typeface="Poppins"/>
              </a:rPr>
              <a:t>Ah-Throughput Power Law: </a:t>
            </a:r>
            <a:r>
              <a:rPr sz="880">
                <a:solidFill>
                  <a:srgbClr val="4B5563"/>
                </a:solidFill>
                <a:latin typeface="Poppins"/>
              </a:rPr>
              <a:t>Models irreversible active lithium loss via Fickian diffusion square-root law: ΔC = α * sqrt(Ah_throughput).</a:t>
            </a:r>
          </a:p>
          <a:p>
            <a:pPr>
              <a:spcAft>
                <a:spcPts val="220"/>
              </a:spcAft>
            </a:pPr>
            <a:r>
              <a:rPr sz="919" b="1">
                <a:solidFill>
                  <a:srgbClr val="1F2937"/>
                </a:solidFill>
                <a:latin typeface="Poppins"/>
              </a:rPr>
              <a:t>NASA Cycle Degradation: </a:t>
            </a:r>
            <a:r>
              <a:rPr sz="880">
                <a:solidFill>
                  <a:srgbClr val="4B5563"/>
                </a:solidFill>
                <a:latin typeface="Poppins"/>
              </a:rPr>
              <a:t>Tracks continuous capacity fade from 2.65 Ah (Cycle 1) down to 2.29 Ah (Cycle 30) across aging logs.</a:t>
            </a:r>
          </a:p>
        </p:txBody>
      </p:sp>
      <p:sp>
        <p:nvSpPr>
          <p:cNvPr id="11" name="Rounded Rectangle 10"/>
          <p:cNvSpPr/>
          <p:nvPr/>
        </p:nvSpPr>
        <p:spPr>
          <a:xfrm>
            <a:off x="6230000" y="1500000"/>
            <a:ext cx="555000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94592" y="164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2</a:t>
            </a:r>
          </a:p>
        </p:txBody>
      </p:sp>
      <p:sp>
        <p:nvSpPr>
          <p:cNvPr id="13" name="TextBox 12"/>
          <p:cNvSpPr txBox="1"/>
          <p:nvPr/>
        </p:nvSpPr>
        <p:spPr>
          <a:xfrm>
            <a:off x="6851792" y="1637160"/>
            <a:ext cx="4772760" cy="384048"/>
          </a:xfrm>
          <a:prstGeom prst="rect">
            <a:avLst/>
          </a:prstGeom>
          <a:noFill/>
        </p:spPr>
        <p:txBody>
          <a:bodyPr wrap="square" lIns="0" rIns="0" tIns="0" bIns="0">
            <a:spAutoFit/>
          </a:bodyPr>
          <a:lstStyle/>
          <a:p>
            <a:r>
              <a:rPr sz="1200" b="1">
                <a:solidFill>
                  <a:srgbClr val="831838"/>
                </a:solidFill>
                <a:latin typeface="Poppins"/>
              </a:rPr>
              <a:t>2. Resistance Growth Algorithm (SOH_R)</a:t>
            </a:r>
          </a:p>
        </p:txBody>
      </p:sp>
      <p:sp>
        <p:nvSpPr>
          <p:cNvPr id="14" name="TextBox 13"/>
          <p:cNvSpPr txBox="1"/>
          <p:nvPr/>
        </p:nvSpPr>
        <p:spPr>
          <a:xfrm>
            <a:off x="6412880" y="2085216"/>
            <a:ext cx="518424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Mathematical Model: </a:t>
            </a:r>
            <a:r>
              <a:rPr sz="880">
                <a:solidFill>
                  <a:srgbClr val="4B5563"/>
                </a:solidFill>
                <a:latin typeface="Poppins"/>
              </a:rPr>
              <a:t>SOH_R = (R_eol - R0_est) / (R_eol - R_fresh) * 100%.</a:t>
            </a:r>
          </a:p>
          <a:p>
            <a:pPr>
              <a:spcAft>
                <a:spcPts val="220"/>
              </a:spcAft>
            </a:pPr>
            <a:r>
              <a:rPr sz="919" b="1">
                <a:solidFill>
                  <a:srgbClr val="1F2937"/>
                </a:solidFill>
                <a:latin typeface="Poppins"/>
              </a:rPr>
              <a:t>SEI Thickening Tracking: </a:t>
            </a:r>
            <a:r>
              <a:rPr sz="880">
                <a:solidFill>
                  <a:srgbClr val="4B5563"/>
                </a:solidFill>
                <a:latin typeface="Poppins"/>
              </a:rPr>
              <a:t>Extracts dynamic ohmic drop ΔV / ΔI during current step transitions (rest to load).</a:t>
            </a:r>
          </a:p>
          <a:p>
            <a:pPr>
              <a:spcAft>
                <a:spcPts val="220"/>
              </a:spcAft>
            </a:pPr>
            <a:r>
              <a:rPr sz="919" b="1">
                <a:solidFill>
                  <a:srgbClr val="1F2937"/>
                </a:solidFill>
                <a:latin typeface="Poppins"/>
              </a:rPr>
              <a:t>Internal Resistance Growth: </a:t>
            </a:r>
            <a:r>
              <a:rPr sz="880">
                <a:solidFill>
                  <a:srgbClr val="4B5563"/>
                </a:solidFill>
                <a:latin typeface="Poppins"/>
              </a:rPr>
              <a:t>Tracks R0 growth from 85 mΩ (fresh cell) toward 200 mΩ (end-of-life threshold).</a:t>
            </a:r>
          </a:p>
        </p:txBody>
      </p:sp>
      <p:sp>
        <p:nvSpPr>
          <p:cNvPr id="15" name="Rounded Rectangle 14"/>
          <p:cNvSpPr/>
          <p:nvPr/>
        </p:nvSpPr>
        <p:spPr>
          <a:xfrm>
            <a:off x="411480" y="3900000"/>
            <a:ext cx="1136844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 y="404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3</a:t>
            </a:r>
          </a:p>
        </p:txBody>
      </p:sp>
      <p:sp>
        <p:nvSpPr>
          <p:cNvPr id="17" name="TextBox 16"/>
          <p:cNvSpPr txBox="1"/>
          <p:nvPr/>
        </p:nvSpPr>
        <p:spPr>
          <a:xfrm>
            <a:off x="1033272" y="4037160"/>
            <a:ext cx="10591200" cy="384048"/>
          </a:xfrm>
          <a:prstGeom prst="rect">
            <a:avLst/>
          </a:prstGeom>
          <a:noFill/>
        </p:spPr>
        <p:txBody>
          <a:bodyPr wrap="square" lIns="0" rIns="0" tIns="0" bIns="0">
            <a:spAutoFit/>
          </a:bodyPr>
          <a:lstStyle/>
          <a:p>
            <a:r>
              <a:rPr sz="1200" b="1">
                <a:solidFill>
                  <a:srgbClr val="831838"/>
                </a:solidFill>
                <a:latin typeface="Poppins"/>
              </a:rPr>
              <a:t>Combined Dual-Metric SOH &amp; Remaining Useful Life (RUL)</a:t>
            </a:r>
          </a:p>
        </p:txBody>
      </p:sp>
      <p:sp>
        <p:nvSpPr>
          <p:cNvPr id="18" name="TextBox 17"/>
          <p:cNvSpPr txBox="1"/>
          <p:nvPr/>
        </p:nvSpPr>
        <p:spPr>
          <a:xfrm>
            <a:off x="594360" y="4485216"/>
            <a:ext cx="1100268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Weighted Composite Metric: </a:t>
            </a:r>
            <a:r>
              <a:rPr sz="880">
                <a:solidFill>
                  <a:srgbClr val="4B5563"/>
                </a:solidFill>
                <a:latin typeface="Poppins"/>
              </a:rPr>
              <a:t>SOH_overall = 0.60 * SOH_C + 0.40 * SOH_R (captures both available energy capacity and power delivery capability).</a:t>
            </a:r>
          </a:p>
          <a:p>
            <a:pPr>
              <a:spcAft>
                <a:spcPts val="220"/>
              </a:spcAft>
            </a:pPr>
            <a:r>
              <a:rPr sz="919" b="1">
                <a:solidFill>
                  <a:srgbClr val="1F2937"/>
                </a:solidFill>
                <a:latin typeface="Poppins"/>
              </a:rPr>
              <a:t>RUL Projection in EFC: </a:t>
            </a:r>
            <a:r>
              <a:rPr sz="880">
                <a:solidFill>
                  <a:srgbClr val="4B5563"/>
                </a:solidFill>
                <a:latin typeface="Poppins"/>
              </a:rPr>
              <a:t>Projects Remaining Useful Life in Equivalent Full Cycles until battery reaches the 80% End-of-Life (EOL) retirement limit.</a:t>
            </a:r>
          </a:p>
          <a:p>
            <a:pPr>
              <a:spcAft>
                <a:spcPts val="220"/>
              </a:spcAft>
            </a:pPr>
            <a:r>
              <a:rPr sz="919" b="1">
                <a:solidFill>
                  <a:srgbClr val="831838"/>
                </a:solidFill>
                <a:latin typeface="Poppins"/>
              </a:rPr>
              <a:t>Connection to Industry-Standard Hybrid Methods: </a:t>
            </a:r>
            <a:r>
              <a:rPr sz="880">
                <a:solidFill>
                  <a:srgbClr val="4B5563"/>
                </a:solidFill>
                <a:latin typeface="Poppins"/>
              </a:rPr>
              <a:t>Integrates periodic EIS impedance characterization with continuous capacity tracking and online Incremental Capacity Analysis (ICA dQ/dV peak tracking).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Embedded Firmware Deployment  </a:t>
            </a:r>
            <a:r>
              <a:rPr sz="2500">
                <a:solidFill>
                  <a:srgbClr val="99A3AF"/>
                </a:solidFill>
                <a:latin typeface="Poppins"/>
              </a:rPr>
              <a:t>Slide 16</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19</a:t>
            </a:r>
          </a:p>
        </p:txBody>
      </p:sp>
      <p:sp>
        <p:nvSpPr>
          <p:cNvPr id="7" name="Rounded Rectangle 6"/>
          <p:cNvSpPr/>
          <p:nvPr/>
        </p:nvSpPr>
        <p:spPr>
          <a:xfrm>
            <a:off x="411480" y="1500000"/>
            <a:ext cx="555000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37160"/>
            <a:ext cx="5092800" cy="384048"/>
          </a:xfrm>
          <a:prstGeom prst="rect">
            <a:avLst/>
          </a:prstGeom>
          <a:noFill/>
        </p:spPr>
        <p:txBody>
          <a:bodyPr wrap="square" lIns="0" rIns="0" tIns="0" bIns="0">
            <a:spAutoFit/>
          </a:bodyPr>
          <a:lstStyle/>
          <a:p>
            <a:r>
              <a:rPr sz="1200" b="1">
                <a:solidFill>
                  <a:srgbClr val="831838"/>
                </a:solidFill>
                <a:latin typeface="Poppins"/>
              </a:rPr>
              <a:t>ESP32 C Implementation Architecture</a:t>
            </a:r>
          </a:p>
        </p:txBody>
      </p:sp>
      <p:sp>
        <p:nvSpPr>
          <p:cNvPr id="9" name="TextBox 8"/>
          <p:cNvSpPr txBox="1"/>
          <p:nvPr/>
        </p:nvSpPr>
        <p:spPr>
          <a:xfrm>
            <a:off x="594360" y="2085216"/>
            <a:ext cx="518424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Direct Porting: </a:t>
            </a:r>
            <a:r>
              <a:rPr sz="880">
                <a:solidFill>
                  <a:srgbClr val="4B5563"/>
                </a:solidFill>
                <a:latin typeface="Poppins"/>
              </a:rPr>
              <a:t>Trained model exported into pure C header files (`mlp.h`, `mlp_weights.h`) with zero external math library dependencies.</a:t>
            </a:r>
          </a:p>
          <a:p>
            <a:pPr>
              <a:spcAft>
                <a:spcPts val="220"/>
              </a:spcAft>
            </a:pPr>
            <a:r>
              <a:rPr sz="919" b="1">
                <a:solidFill>
                  <a:srgbClr val="1F2937"/>
                </a:solidFill>
                <a:latin typeface="Poppins"/>
              </a:rPr>
              <a:t>Xtensa LX6 Micro-Benchmark: </a:t>
            </a:r>
            <a:r>
              <a:rPr sz="880">
                <a:solidFill>
                  <a:srgbClr val="4B5563"/>
                </a:solidFill>
                <a:latin typeface="Poppins"/>
              </a:rPr>
              <a:t>Forward pass executes in only 6.03 µs per inference on a single 240 MHz Xtensa core — leaving 99.9% of MCU processing power for Wi-Fi, BLE, and safety interrupts.</a:t>
            </a:r>
          </a:p>
          <a:p>
            <a:pPr>
              <a:spcAft>
                <a:spcPts val="220"/>
              </a:spcAft>
            </a:pPr>
            <a:r>
              <a:rPr sz="919" b="1">
                <a:solidFill>
                  <a:srgbClr val="1F2937"/>
                </a:solidFill>
                <a:latin typeface="Poppins"/>
              </a:rPr>
              <a:t>Minimal Memory Footprint: </a:t>
            </a:r>
            <a:r>
              <a:rPr sz="880">
                <a:solidFill>
                  <a:srgbClr val="4B5563"/>
                </a:solidFill>
                <a:latin typeface="Poppins"/>
              </a:rPr>
              <a:t>Requires only 348 bytes of flash/RAM (324 B weights + 24 B scaler constants) — 1,000x smaller than typical ML models.</a:t>
            </a:r>
          </a:p>
          <a:p>
            <a:pPr>
              <a:spcAft>
                <a:spcPts val="220"/>
              </a:spcAft>
            </a:pPr>
            <a:r>
              <a:rPr sz="919" b="1">
                <a:solidFill>
                  <a:srgbClr val="1F2937"/>
                </a:solidFill>
                <a:latin typeface="Poppins"/>
              </a:rPr>
              <a:t>Bitwise Parity Verification: </a:t>
            </a:r>
            <a:r>
              <a:rPr sz="880">
                <a:solidFill>
                  <a:srgbClr val="4B5563"/>
                </a:solidFill>
                <a:latin typeface="Poppins"/>
              </a:rPr>
              <a:t>Automated C unit test (`test_c_parity.c`) evaluated against 706 golden test vectors proves Python-to-C numerical parity down to 2.7 * 10^-5 % error.</a:t>
            </a:r>
          </a:p>
          <a:p>
            <a:pPr>
              <a:spcAft>
                <a:spcPts val="220"/>
              </a:spcAft>
            </a:pPr>
            <a:r>
              <a:rPr sz="919" b="1">
                <a:solidFill>
                  <a:srgbClr val="1F2937"/>
                </a:solidFill>
                <a:latin typeface="Poppins"/>
              </a:rPr>
              <a:t>INT8 Quantization Analysis: </a:t>
            </a:r>
            <a:r>
              <a:rPr sz="880">
                <a:solidFill>
                  <a:srgbClr val="4B5563"/>
                </a:solidFill>
                <a:latin typeface="Poppins"/>
              </a:rPr>
              <a:t>Quantizing FP32 weights to 8-bit integers introduces only 0.15% points difference, proving feasibility for ultra-low-cost 8-bit microcontrollers.</a:t>
            </a:r>
          </a:p>
        </p:txBody>
      </p:sp>
      <p:graphicFrame>
        <p:nvGraphicFramePr>
          <p:cNvPr id="10" name="Table 9"/>
          <p:cNvGraphicFramePr>
            <a:graphicFrameLocks noGrp="1"/>
          </p:cNvGraphicFramePr>
          <p:nvPr/>
        </p:nvGraphicFramePr>
        <p:xfrm>
          <a:off x="6230000" y="1500000"/>
          <a:ext cx="5550000" cy="4650000"/>
        </p:xfrm>
        <a:graphic>
          <a:graphicData uri="http://schemas.openxmlformats.org/drawingml/2006/table">
            <a:tbl>
              <a:tblPr firstRow="1" bandRow="1">
                <a:tableStyleId>{5C22544A-7EE6-4342-B048-85BDC9FD1C3A}</a:tableStyleId>
              </a:tblPr>
              <a:tblGrid>
                <a:gridCol w="1800000"/>
                <a:gridCol w="1400000"/>
                <a:gridCol w="2350000"/>
              </a:tblGrid>
              <a:tr h="581250">
                <a:tc>
                  <a:txBody>
                    <a:bodyPr/>
                    <a:lstStyle/>
                    <a:p>
                      <a:pPr algn="l"/>
                      <a:r>
                        <a:rPr sz="950" b="1">
                          <a:solidFill>
                            <a:srgbClr val="FFFFFF"/>
                          </a:solidFill>
                          <a:latin typeface="Poppins"/>
                        </a:rPr>
                        <a:t>Metric</a:t>
                      </a:r>
                    </a:p>
                  </a:txBody>
                  <a:tcPr>
                    <a:solidFill>
                      <a:srgbClr val="831838"/>
                    </a:solidFill>
                  </a:tcPr>
                </a:tc>
                <a:tc>
                  <a:txBody>
                    <a:bodyPr/>
                    <a:lstStyle/>
                    <a:p>
                      <a:pPr algn="ctr"/>
                      <a:r>
                        <a:rPr sz="950" b="1">
                          <a:solidFill>
                            <a:srgbClr val="FFFFFF"/>
                          </a:solidFill>
                          <a:latin typeface="Poppins"/>
                        </a:rPr>
                        <a:t>Measured Value</a:t>
                      </a:r>
                    </a:p>
                  </a:txBody>
                  <a:tcPr>
                    <a:solidFill>
                      <a:srgbClr val="831838"/>
                    </a:solidFill>
                  </a:tcPr>
                </a:tc>
                <a:tc>
                  <a:txBody>
                    <a:bodyPr/>
                    <a:lstStyle/>
                    <a:p>
                      <a:pPr algn="ctr"/>
                      <a:r>
                        <a:rPr sz="950" b="1">
                          <a:solidFill>
                            <a:srgbClr val="FFFFFF"/>
                          </a:solidFill>
                          <a:latin typeface="Poppins"/>
                        </a:rPr>
                        <a:t>Engineering Significance</a:t>
                      </a:r>
                    </a:p>
                  </a:txBody>
                  <a:tcPr>
                    <a:solidFill>
                      <a:srgbClr val="831838"/>
                    </a:solidFill>
                  </a:tcPr>
                </a:tc>
              </a:tr>
              <a:tr h="581250">
                <a:tc>
                  <a:txBody>
                    <a:bodyPr/>
                    <a:lstStyle/>
                    <a:p>
                      <a:pPr algn="l"/>
                      <a:r>
                        <a:rPr sz="880">
                          <a:solidFill>
                            <a:srgbClr val="831838"/>
                          </a:solidFill>
                          <a:latin typeface="Poppins"/>
                        </a:rPr>
                        <a:t>Model Architecture</a:t>
                      </a:r>
                    </a:p>
                  </a:txBody>
                  <a:tcPr>
                    <a:solidFill>
                      <a:srgbClr val="F9FAFC"/>
                    </a:solidFill>
                  </a:tcPr>
                </a:tc>
                <a:tc>
                  <a:txBody>
                    <a:bodyPr/>
                    <a:lstStyle/>
                    <a:p>
                      <a:pPr algn="ctr"/>
                      <a:r>
                        <a:rPr sz="880">
                          <a:solidFill>
                            <a:srgbClr val="1F2937"/>
                          </a:solidFill>
                          <a:latin typeface="Poppins"/>
                        </a:rPr>
                        <a:t>3 → 16 → 1 (tanh)</a:t>
                      </a:r>
                    </a:p>
                  </a:txBody>
                  <a:tcPr>
                    <a:solidFill>
                      <a:srgbClr val="F9FAFC"/>
                    </a:solidFill>
                  </a:tcPr>
                </a:tc>
                <a:tc>
                  <a:txBody>
                    <a:bodyPr/>
                    <a:lstStyle/>
                    <a:p>
                      <a:pPr algn="ctr"/>
                      <a:r>
                        <a:rPr sz="880">
                          <a:solidFill>
                            <a:srgbClr val="1F2937"/>
                          </a:solidFill>
                          <a:latin typeface="Poppins"/>
                        </a:rPr>
                        <a:t>Optimal width for non-linear Li-ion dynamics</a:t>
                      </a:r>
                    </a:p>
                  </a:txBody>
                  <a:tcPr>
                    <a:solidFill>
                      <a:srgbClr val="F9FAFC"/>
                    </a:solidFill>
                  </a:tcPr>
                </a:tc>
              </a:tr>
              <a:tr h="581250">
                <a:tc>
                  <a:txBody>
                    <a:bodyPr/>
                    <a:lstStyle/>
                    <a:p>
                      <a:pPr algn="l"/>
                      <a:r>
                        <a:rPr sz="880">
                          <a:solidFill>
                            <a:srgbClr val="831838"/>
                          </a:solidFill>
                          <a:latin typeface="Poppins"/>
                        </a:rPr>
                        <a:t>Trainable Parameters</a:t>
                      </a:r>
                    </a:p>
                  </a:txBody>
                  <a:tcPr>
                    <a:solidFill>
                      <a:srgbClr val="FFFFFF"/>
                    </a:solidFill>
                  </a:tcPr>
                </a:tc>
                <a:tc>
                  <a:txBody>
                    <a:bodyPr/>
                    <a:lstStyle/>
                    <a:p>
                      <a:pPr algn="ctr"/>
                      <a:r>
                        <a:rPr sz="880">
                          <a:solidFill>
                            <a:srgbClr val="1F2937"/>
                          </a:solidFill>
                          <a:latin typeface="Poppins"/>
                        </a:rPr>
                        <a:t>81 parameters</a:t>
                      </a:r>
                    </a:p>
                  </a:txBody>
                  <a:tcPr>
                    <a:solidFill>
                      <a:srgbClr val="FFFFFF"/>
                    </a:solidFill>
                  </a:tcPr>
                </a:tc>
                <a:tc>
                  <a:txBody>
                    <a:bodyPr/>
                    <a:lstStyle/>
                    <a:p>
                      <a:pPr algn="ctr"/>
                      <a:r>
                        <a:rPr sz="880">
                          <a:solidFill>
                            <a:srgbClr val="1F2937"/>
                          </a:solidFill>
                          <a:latin typeface="Poppins"/>
                        </a:rPr>
                        <a:t>48 weights W1 + 16 b1 + 16 W2 + 1 b2</a:t>
                      </a:r>
                    </a:p>
                  </a:txBody>
                  <a:tcPr>
                    <a:solidFill>
                      <a:srgbClr val="FFFFFF"/>
                    </a:solidFill>
                  </a:tcPr>
                </a:tc>
              </a:tr>
              <a:tr h="581250">
                <a:tc>
                  <a:txBody>
                    <a:bodyPr/>
                    <a:lstStyle/>
                    <a:p>
                      <a:pPr algn="l"/>
                      <a:r>
                        <a:rPr sz="880">
                          <a:solidFill>
                            <a:srgbClr val="831838"/>
                          </a:solidFill>
                          <a:latin typeface="Poppins"/>
                        </a:rPr>
                        <a:t>Memory Footprint</a:t>
                      </a:r>
                    </a:p>
                  </a:txBody>
                  <a:tcPr>
                    <a:solidFill>
                      <a:srgbClr val="F9FAFC"/>
                    </a:solidFill>
                  </a:tcPr>
                </a:tc>
                <a:tc>
                  <a:txBody>
                    <a:bodyPr/>
                    <a:lstStyle/>
                    <a:p>
                      <a:pPr algn="ctr"/>
                      <a:r>
                        <a:rPr sz="880">
                          <a:solidFill>
                            <a:srgbClr val="1F2937"/>
                          </a:solidFill>
                          <a:latin typeface="Poppins"/>
                        </a:rPr>
                        <a:t>348 Bytes</a:t>
                      </a:r>
                    </a:p>
                  </a:txBody>
                  <a:tcPr>
                    <a:solidFill>
                      <a:srgbClr val="F9FAFC"/>
                    </a:solidFill>
                  </a:tcPr>
                </a:tc>
                <a:tc>
                  <a:txBody>
                    <a:bodyPr/>
                    <a:lstStyle/>
                    <a:p>
                      <a:pPr algn="ctr"/>
                      <a:r>
                        <a:rPr sz="880">
                          <a:solidFill>
                            <a:srgbClr val="1F2937"/>
                          </a:solidFill>
                          <a:latin typeface="Poppins"/>
                        </a:rPr>
                        <a:t>Fits in any micro-controller SRAM (0.07% of ESP32)</a:t>
                      </a:r>
                    </a:p>
                  </a:txBody>
                  <a:tcPr>
                    <a:solidFill>
                      <a:srgbClr val="F9FAFC"/>
                    </a:solidFill>
                  </a:tcPr>
                </a:tc>
              </a:tr>
              <a:tr h="581250">
                <a:tc>
                  <a:txBody>
                    <a:bodyPr/>
                    <a:lstStyle/>
                    <a:p>
                      <a:pPr algn="l"/>
                      <a:r>
                        <a:rPr sz="880">
                          <a:solidFill>
                            <a:srgbClr val="831838"/>
                          </a:solidFill>
                          <a:latin typeface="Poppins"/>
                        </a:rPr>
                        <a:t>Inference Latency</a:t>
                      </a:r>
                    </a:p>
                  </a:txBody>
                  <a:tcPr>
                    <a:solidFill>
                      <a:srgbClr val="FFFFFF"/>
                    </a:solidFill>
                  </a:tcPr>
                </a:tc>
                <a:tc>
                  <a:txBody>
                    <a:bodyPr/>
                    <a:lstStyle/>
                    <a:p>
                      <a:pPr algn="ctr"/>
                      <a:r>
                        <a:rPr sz="880">
                          <a:solidFill>
                            <a:srgbClr val="1F2937"/>
                          </a:solidFill>
                          <a:latin typeface="Poppins"/>
                        </a:rPr>
                        <a:t>6.03 µs</a:t>
                      </a:r>
                    </a:p>
                  </a:txBody>
                  <a:tcPr>
                    <a:solidFill>
                      <a:srgbClr val="FFFFFF"/>
                    </a:solidFill>
                  </a:tcPr>
                </a:tc>
                <a:tc>
                  <a:txBody>
                    <a:bodyPr/>
                    <a:lstStyle/>
                    <a:p>
                      <a:pPr algn="ctr"/>
                      <a:r>
                        <a:rPr sz="880">
                          <a:solidFill>
                            <a:srgbClr val="1F2937"/>
                          </a:solidFill>
                          <a:latin typeface="Poppins"/>
                        </a:rPr>
                        <a:t>Allows 165,000 inferences per second</a:t>
                      </a:r>
                    </a:p>
                  </a:txBody>
                  <a:tcPr>
                    <a:solidFill>
                      <a:srgbClr val="FFFFFF"/>
                    </a:solidFill>
                  </a:tcPr>
                </a:tc>
              </a:tr>
              <a:tr h="581250">
                <a:tc>
                  <a:txBody>
                    <a:bodyPr/>
                    <a:lstStyle/>
                    <a:p>
                      <a:pPr algn="l"/>
                      <a:r>
                        <a:rPr sz="880">
                          <a:solidFill>
                            <a:srgbClr val="831838"/>
                          </a:solidFill>
                          <a:latin typeface="Poppins"/>
                        </a:rPr>
                        <a:t>Computational Workload</a:t>
                      </a:r>
                    </a:p>
                  </a:txBody>
                  <a:tcPr>
                    <a:solidFill>
                      <a:srgbClr val="F9FAFC"/>
                    </a:solidFill>
                  </a:tcPr>
                </a:tc>
                <a:tc>
                  <a:txBody>
                    <a:bodyPr/>
                    <a:lstStyle/>
                    <a:p>
                      <a:pPr algn="ctr"/>
                      <a:r>
                        <a:rPr sz="880">
                          <a:solidFill>
                            <a:srgbClr val="1F2937"/>
                          </a:solidFill>
                          <a:latin typeface="Poppins"/>
                        </a:rPr>
                        <a:t>64 MACs</a:t>
                      </a:r>
                    </a:p>
                  </a:txBody>
                  <a:tcPr>
                    <a:solidFill>
                      <a:srgbClr val="F9FAFC"/>
                    </a:solidFill>
                  </a:tcPr>
                </a:tc>
                <a:tc>
                  <a:txBody>
                    <a:bodyPr/>
                    <a:lstStyle/>
                    <a:p>
                      <a:pPr algn="ctr"/>
                      <a:r>
                        <a:rPr sz="880">
                          <a:solidFill>
                            <a:srgbClr val="1F2937"/>
                          </a:solidFill>
                          <a:latin typeface="Poppins"/>
                        </a:rPr>
                        <a:t>Zero matrix inversion; simple fused-multiply-adds</a:t>
                      </a:r>
                    </a:p>
                  </a:txBody>
                  <a:tcPr>
                    <a:solidFill>
                      <a:srgbClr val="F9FAFC"/>
                    </a:solidFill>
                  </a:tcPr>
                </a:tc>
              </a:tr>
              <a:tr h="581250">
                <a:tc>
                  <a:txBody>
                    <a:bodyPr/>
                    <a:lstStyle/>
                    <a:p>
                      <a:pPr algn="l"/>
                      <a:r>
                        <a:rPr sz="880">
                          <a:solidFill>
                            <a:srgbClr val="831838"/>
                          </a:solidFill>
                          <a:latin typeface="Poppins"/>
                        </a:rPr>
                        <a:t>C vs Python Parity</a:t>
                      </a:r>
                    </a:p>
                  </a:txBody>
                  <a:tcPr>
                    <a:solidFill>
                      <a:srgbClr val="FFFFFF"/>
                    </a:solidFill>
                  </a:tcPr>
                </a:tc>
                <a:tc>
                  <a:txBody>
                    <a:bodyPr/>
                    <a:lstStyle/>
                    <a:p>
                      <a:pPr algn="ctr"/>
                      <a:r>
                        <a:rPr sz="880">
                          <a:solidFill>
                            <a:srgbClr val="1F2937"/>
                          </a:solidFill>
                          <a:latin typeface="Poppins"/>
                        </a:rPr>
                        <a:t>0.000027 %</a:t>
                      </a:r>
                    </a:p>
                  </a:txBody>
                  <a:tcPr>
                    <a:solidFill>
                      <a:srgbClr val="FFFFFF"/>
                    </a:solidFill>
                  </a:tcPr>
                </a:tc>
                <a:tc>
                  <a:txBody>
                    <a:bodyPr/>
                    <a:lstStyle/>
                    <a:p>
                      <a:pPr algn="ctr"/>
                      <a:r>
                        <a:rPr sz="880">
                          <a:solidFill>
                            <a:srgbClr val="1F2937"/>
                          </a:solidFill>
                          <a:latin typeface="Poppins"/>
                        </a:rPr>
                        <a:t>Verified across 706 automated test vectors</a:t>
                      </a:r>
                    </a:p>
                  </a:txBody>
                  <a:tcPr>
                    <a:solidFill>
                      <a:srgbClr val="FFFFFF"/>
                    </a:solidFill>
                  </a:tcPr>
                </a:tc>
              </a:tr>
              <a:tr h="581250">
                <a:tc>
                  <a:txBody>
                    <a:bodyPr/>
                    <a:lstStyle/>
                    <a:p>
                      <a:pPr algn="l"/>
                      <a:r>
                        <a:rPr sz="880">
                          <a:solidFill>
                            <a:srgbClr val="831838"/>
                          </a:solidFill>
                          <a:latin typeface="Poppins"/>
                        </a:rPr>
                        <a:t>INT8 Quantization Delta</a:t>
                      </a:r>
                    </a:p>
                  </a:txBody>
                  <a:tcPr>
                    <a:solidFill>
                      <a:srgbClr val="F9FAFC"/>
                    </a:solidFill>
                  </a:tcPr>
                </a:tc>
                <a:tc>
                  <a:txBody>
                    <a:bodyPr/>
                    <a:lstStyle/>
                    <a:p>
                      <a:pPr algn="ctr"/>
                      <a:r>
                        <a:rPr sz="880">
                          <a:solidFill>
                            <a:srgbClr val="1F2937"/>
                          </a:solidFill>
                          <a:latin typeface="Poppins"/>
                        </a:rPr>
                        <a:t>0.15 % points</a:t>
                      </a:r>
                    </a:p>
                  </a:txBody>
                  <a:tcPr>
                    <a:solidFill>
                      <a:srgbClr val="F9FAFC"/>
                    </a:solidFill>
                  </a:tcPr>
                </a:tc>
                <a:tc>
                  <a:txBody>
                    <a:bodyPr/>
                    <a:lstStyle/>
                    <a:p>
                      <a:pPr algn="ctr"/>
                      <a:r>
                        <a:rPr sz="880">
                          <a:solidFill>
                            <a:srgbClr val="1F2937"/>
                          </a:solidFill>
                          <a:latin typeface="Poppins"/>
                        </a:rPr>
                        <a:t>Enables deployment on 8-bit AVR microcontrollers</a:t>
                      </a:r>
                    </a:p>
                  </a:txBody>
                  <a:tcPr>
                    <a:solidFill>
                      <a:srgbClr val="F9FAF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Digital Twin Web Dashboard  </a:t>
            </a:r>
            <a:r>
              <a:rPr sz="2500">
                <a:solidFill>
                  <a:srgbClr val="99A3AF"/>
                </a:solidFill>
                <a:latin typeface="Poppins"/>
              </a:rPr>
              <a:t>Slide 17</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20</a:t>
            </a:r>
          </a:p>
        </p:txBody>
      </p:sp>
      <p:pic>
        <p:nvPicPr>
          <p:cNvPr id="7" name="Picture 6" descr="dashboard_screenshot.png"/>
          <p:cNvPicPr>
            <a:picLocks noChangeAspect="1"/>
          </p:cNvPicPr>
          <p:nvPr/>
        </p:nvPicPr>
        <p:blipFill>
          <a:blip r:embed="rId4"/>
          <a:stretch>
            <a:fillRect/>
          </a:stretch>
        </p:blipFill>
        <p:spPr>
          <a:xfrm>
            <a:off x="411480" y="1500000"/>
            <a:ext cx="6400000" cy="4650000"/>
          </a:xfrm>
          <a:prstGeom prst="rect">
            <a:avLst/>
          </a:prstGeom>
        </p:spPr>
      </p:pic>
      <p:sp>
        <p:nvSpPr>
          <p:cNvPr id="8" name="Rounded Rectangle 7"/>
          <p:cNvSpPr/>
          <p:nvPr/>
        </p:nvSpPr>
        <p:spPr>
          <a:xfrm>
            <a:off x="7000000" y="1500000"/>
            <a:ext cx="477992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8600" y="1637160"/>
            <a:ext cx="4322720" cy="384048"/>
          </a:xfrm>
          <a:prstGeom prst="rect">
            <a:avLst/>
          </a:prstGeom>
          <a:noFill/>
        </p:spPr>
        <p:txBody>
          <a:bodyPr wrap="square" lIns="0" rIns="0" tIns="0" bIns="0">
            <a:spAutoFit/>
          </a:bodyPr>
          <a:lstStyle/>
          <a:p>
            <a:r>
              <a:rPr sz="1200" b="1">
                <a:solidFill>
                  <a:srgbClr val="831838"/>
                </a:solidFill>
                <a:latin typeface="Poppins"/>
              </a:rPr>
              <a:t>Interactive 6-Tab Telemetry UI</a:t>
            </a:r>
          </a:p>
        </p:txBody>
      </p:sp>
      <p:sp>
        <p:nvSpPr>
          <p:cNvPr id="10" name="TextBox 9"/>
          <p:cNvSpPr txBox="1"/>
          <p:nvPr/>
        </p:nvSpPr>
        <p:spPr>
          <a:xfrm>
            <a:off x="7182880" y="2085216"/>
            <a:ext cx="441416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Tab 1: Live Digital Twin: </a:t>
            </a:r>
            <a:r>
              <a:rPr sz="880">
                <a:solidFill>
                  <a:srgbClr val="4B5563"/>
                </a:solidFill>
                <a:latin typeface="Poppins"/>
              </a:rPr>
              <a:t>Dynamic SVG animated SOC ring, dual SOH aging cards, real-time Chart.js tracking plots, virtual TP4056 LEDs, and live Wi-Fi JSON packet inspector.</a:t>
            </a:r>
          </a:p>
          <a:p>
            <a:pPr>
              <a:spcAft>
                <a:spcPts val="220"/>
              </a:spcAft>
            </a:pPr>
            <a:r>
              <a:rPr sz="919" b="1">
                <a:solidFill>
                  <a:srgbClr val="1F2937"/>
                </a:solidFill>
                <a:latin typeface="Poppins"/>
              </a:rPr>
              <a:t>Tab 2: Model Evaluation: </a:t>
            </a:r>
            <a:r>
              <a:rPr sz="880">
                <a:solidFill>
                  <a:srgbClr val="4B5563"/>
                </a:solidFill>
                <a:latin typeface="Poppins"/>
              </a:rPr>
              <a:t>Algorithm recommendation engine, multi-algorithm comparison scorecard, and quantitative held-out cycle error tables.</a:t>
            </a:r>
          </a:p>
          <a:p>
            <a:pPr>
              <a:spcAft>
                <a:spcPts val="220"/>
              </a:spcAft>
            </a:pPr>
            <a:r>
              <a:rPr sz="919" b="1">
                <a:solidFill>
                  <a:srgbClr val="1F2937"/>
                </a:solidFill>
                <a:latin typeface="Poppins"/>
              </a:rPr>
              <a:t>Tab 3: Model Explorer: </a:t>
            </a:r>
            <a:r>
              <a:rPr sz="880">
                <a:solidFill>
                  <a:srgbClr val="4B5563"/>
                </a:solidFill>
                <a:latin typeface="Poppins"/>
              </a:rPr>
              <a:t>Interactive neural network architecture visualizer with real-time neuron activation heatmaps and INT8 analysis.</a:t>
            </a:r>
          </a:p>
          <a:p>
            <a:pPr>
              <a:spcAft>
                <a:spcPts val="220"/>
              </a:spcAft>
            </a:pPr>
            <a:r>
              <a:rPr sz="919" b="1">
                <a:solidFill>
                  <a:srgbClr val="1F2937"/>
                </a:solidFill>
                <a:latin typeface="Poppins"/>
              </a:rPr>
              <a:t>Tab 4: Data Explorer: </a:t>
            </a:r>
            <a:r>
              <a:rPr sz="880">
                <a:solidFill>
                  <a:srgbClr val="4B5563"/>
                </a:solidFill>
                <a:latin typeface="Poppins"/>
              </a:rPr>
              <a:t>Dataset visualizer across all 60 NASA cycling files with Kelvin probe contact resistance spread histograms.</a:t>
            </a:r>
          </a:p>
          <a:p>
            <a:pPr>
              <a:spcAft>
                <a:spcPts val="220"/>
              </a:spcAft>
            </a:pPr>
            <a:r>
              <a:rPr sz="919" b="1">
                <a:solidFill>
                  <a:srgbClr val="1F2937"/>
                </a:solidFill>
                <a:latin typeface="Poppins"/>
              </a:rPr>
              <a:t>Tab 5: Custom Import &amp; Predict: </a:t>
            </a:r>
            <a:r>
              <a:rPr sz="880">
                <a:solidFill>
                  <a:srgbClr val="4B5563"/>
                </a:solidFill>
                <a:latin typeface="Poppins"/>
              </a:rPr>
              <a:t>Drag-and-drop CSV parser with auto delimiter sniffing, Kelvin probe detection, and instantaneous ground-truth error export.</a:t>
            </a:r>
          </a:p>
          <a:p>
            <a:pPr>
              <a:spcAft>
                <a:spcPts val="220"/>
              </a:spcAft>
            </a:pPr>
            <a:r>
              <a:rPr sz="919" b="1">
                <a:solidFill>
                  <a:srgbClr val="1F2937"/>
                </a:solidFill>
                <a:latin typeface="Poppins"/>
              </a:rPr>
              <a:t>Interactive Controls: </a:t>
            </a:r>
            <a:r>
              <a:rPr sz="880">
                <a:solidFill>
                  <a:srgbClr val="4B5563"/>
                </a:solidFill>
                <a:latin typeface="Poppins"/>
              </a:rPr>
              <a:t>1x to 100x replay speed multiplier, adjustable ADC noise (0-30 mV), and live current offset sliders (-100 to +100 mA).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Conclusion  </a:t>
            </a:r>
            <a:r>
              <a:rPr sz="2500">
                <a:solidFill>
                  <a:srgbClr val="99A3AF"/>
                </a:solidFill>
                <a:latin typeface="Poppins"/>
              </a:rPr>
              <a:t>Slide 18</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21</a:t>
            </a:r>
          </a:p>
        </p:txBody>
      </p:sp>
      <p:sp>
        <p:nvSpPr>
          <p:cNvPr id="7" name="Rounded Rectangle 6"/>
          <p:cNvSpPr/>
          <p:nvPr/>
        </p:nvSpPr>
        <p:spPr>
          <a:xfrm>
            <a:off x="411480" y="1500000"/>
            <a:ext cx="555000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37160"/>
            <a:ext cx="5092800" cy="384048"/>
          </a:xfrm>
          <a:prstGeom prst="rect">
            <a:avLst/>
          </a:prstGeom>
          <a:noFill/>
        </p:spPr>
        <p:txBody>
          <a:bodyPr wrap="square" lIns="0" rIns="0" tIns="0" bIns="0">
            <a:spAutoFit/>
          </a:bodyPr>
          <a:lstStyle/>
          <a:p>
            <a:r>
              <a:rPr sz="1200" b="1">
                <a:solidFill>
                  <a:srgbClr val="831838"/>
                </a:solidFill>
                <a:latin typeface="Poppins"/>
              </a:rPr>
              <a:t>Key Achievements &amp; Contributions</a:t>
            </a:r>
          </a:p>
        </p:txBody>
      </p:sp>
      <p:sp>
        <p:nvSpPr>
          <p:cNvPr id="9" name="TextBox 8"/>
          <p:cNvSpPr txBox="1"/>
          <p:nvPr/>
        </p:nvSpPr>
        <p:spPr>
          <a:xfrm>
            <a:off x="594360" y="2085216"/>
            <a:ext cx="518424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Complete Digital Twin Delivered: </a:t>
            </a:r>
            <a:r>
              <a:rPr sz="880">
                <a:solidFill>
                  <a:srgbClr val="4B5563"/>
                </a:solidFill>
                <a:latin typeface="Poppins"/>
              </a:rPr>
              <a:t>A fully working virtual ESP32 + TP4056 + 18650 chain driven by real NASA cycling data with zero hardware risk and zero equipment costs.</a:t>
            </a:r>
          </a:p>
          <a:p>
            <a:pPr>
              <a:spcAft>
                <a:spcPts val="220"/>
              </a:spcAft>
            </a:pPr>
            <a:r>
              <a:rPr sz="919" b="1">
                <a:solidFill>
                  <a:srgbClr val="1F2937"/>
                </a:solidFill>
                <a:latin typeface="Poppins"/>
              </a:rPr>
              <a:t>High Estimation Accuracy: </a:t>
            </a:r>
            <a:r>
              <a:rPr sz="880">
                <a:solidFill>
                  <a:srgbClr val="4B5563"/>
                </a:solidFill>
                <a:latin typeface="Poppins"/>
              </a:rPr>
              <a:t>The proposed 3-16-1 MLP achieved 1.25% average MAE on held-out test cycles, comfortably exceeding the 2-3% engineering accuracy target.</a:t>
            </a:r>
          </a:p>
          <a:p>
            <a:pPr>
              <a:spcAft>
                <a:spcPts val="220"/>
              </a:spcAft>
            </a:pPr>
            <a:r>
              <a:rPr sz="919" b="1">
                <a:solidFill>
                  <a:srgbClr val="1F2937"/>
                </a:solidFill>
                <a:latin typeface="Poppins"/>
              </a:rPr>
              <a:t>Multi-Algorithm Superiority: </a:t>
            </a:r>
            <a:r>
              <a:rPr sz="880">
                <a:solidFill>
                  <a:srgbClr val="4B5563"/>
                </a:solidFill>
                <a:latin typeface="Poppins"/>
              </a:rPr>
              <a:t>Rigorously demonstrated that MLP 3-16-1 outperforms Linear Regression (3.02% MAE) by modeling non-linear knees, and beats Random Forest (2.04% MAE) in embedded viability (348 bytes vs &gt;120 KB).</a:t>
            </a:r>
          </a:p>
          <a:p>
            <a:pPr>
              <a:spcAft>
                <a:spcPts val="220"/>
              </a:spcAft>
            </a:pPr>
            <a:r>
              <a:rPr sz="919" b="1">
                <a:solidFill>
                  <a:srgbClr val="1F2937"/>
                </a:solidFill>
                <a:latin typeface="Poppins"/>
              </a:rPr>
              <a:t>Sensor Bias Immunity: </a:t>
            </a:r>
            <a:r>
              <a:rPr sz="880">
                <a:solidFill>
                  <a:srgbClr val="4B5563"/>
                </a:solidFill>
                <a:latin typeface="Poppins"/>
              </a:rPr>
              <a:t>Terminal-voltage anchoring prevents unbounded error divergence under persistent DC sensor offsets, unlike Coulomb Counting (&gt;13% drift).</a:t>
            </a:r>
          </a:p>
          <a:p>
            <a:pPr>
              <a:spcAft>
                <a:spcPts val="220"/>
              </a:spcAft>
            </a:pPr>
            <a:r>
              <a:rPr sz="919" b="1">
                <a:solidFill>
                  <a:srgbClr val="1F2937"/>
                </a:solidFill>
                <a:latin typeface="Poppins"/>
              </a:rPr>
              <a:t>Ultra-Low Embedded Footprint: </a:t>
            </a:r>
            <a:r>
              <a:rPr sz="880">
                <a:solidFill>
                  <a:srgbClr val="4B5563"/>
                </a:solidFill>
                <a:latin typeface="Poppins"/>
              </a:rPr>
              <a:t>6.03 µs inference latency and 348 bytes RAM/Flash footprint validated in C with golden-vector parity down to 2.7 * 10^-5 %.</a:t>
            </a:r>
          </a:p>
        </p:txBody>
      </p:sp>
      <p:sp>
        <p:nvSpPr>
          <p:cNvPr id="10" name="Rounded Rectangle 9"/>
          <p:cNvSpPr/>
          <p:nvPr/>
        </p:nvSpPr>
        <p:spPr>
          <a:xfrm>
            <a:off x="6230000" y="1500000"/>
            <a:ext cx="5550000" cy="46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8600" y="1637160"/>
            <a:ext cx="5092800" cy="384048"/>
          </a:xfrm>
          <a:prstGeom prst="rect">
            <a:avLst/>
          </a:prstGeom>
          <a:noFill/>
        </p:spPr>
        <p:txBody>
          <a:bodyPr wrap="square" lIns="0" rIns="0" tIns="0" bIns="0">
            <a:spAutoFit/>
          </a:bodyPr>
          <a:lstStyle/>
          <a:p>
            <a:r>
              <a:rPr sz="1200" b="1">
                <a:solidFill>
                  <a:srgbClr val="831838"/>
                </a:solidFill>
                <a:latin typeface="Poppins"/>
              </a:rPr>
              <a:t>Technical Insights &amp; Takeaways</a:t>
            </a:r>
          </a:p>
        </p:txBody>
      </p:sp>
      <p:sp>
        <p:nvSpPr>
          <p:cNvPr id="12" name="TextBox 11"/>
          <p:cNvSpPr txBox="1"/>
          <p:nvPr/>
        </p:nvSpPr>
        <p:spPr>
          <a:xfrm>
            <a:off x="6412880" y="2085216"/>
            <a:ext cx="5184240" cy="3991632"/>
          </a:xfrm>
          <a:prstGeom prst="rect">
            <a:avLst/>
          </a:prstGeom>
          <a:noFill/>
        </p:spPr>
        <p:txBody>
          <a:bodyPr wrap="square" lIns="0" rIns="0" tIns="0" bIns="0">
            <a:spAutoFit/>
          </a:bodyPr>
          <a:lstStyle/>
          <a:p>
            <a:pPr>
              <a:spcAft>
                <a:spcPts val="220"/>
              </a:spcAft>
            </a:pPr>
            <a:r>
              <a:rPr sz="919" b="1">
                <a:solidFill>
                  <a:srgbClr val="1F2937"/>
                </a:solidFill>
                <a:latin typeface="Poppins"/>
              </a:rPr>
              <a:t>Data-Driven vs Physics Filters: </a:t>
            </a:r>
            <a:r>
              <a:rPr sz="880">
                <a:solidFill>
                  <a:srgbClr val="4B5563"/>
                </a:solidFill>
                <a:latin typeface="Poppins"/>
              </a:rPr>
              <a:t>While Kalman filters require tedious laboratory parameter extraction (R0, R1, C1 vs T), neural networks train end-to-end directly from standard cycling logs.</a:t>
            </a:r>
          </a:p>
          <a:p>
            <a:pPr>
              <a:spcAft>
                <a:spcPts val="220"/>
              </a:spcAft>
            </a:pPr>
            <a:r>
              <a:rPr sz="919" b="1">
                <a:solidFill>
                  <a:srgbClr val="1F2937"/>
                </a:solidFill>
                <a:latin typeface="Poppins"/>
              </a:rPr>
              <a:t>Importance of Causal Feature Engineering: </a:t>
            </a:r>
            <a:r>
              <a:rPr sz="880">
                <a:solidFill>
                  <a:srgbClr val="4B5563"/>
                </a:solidFill>
                <a:latin typeface="Poppins"/>
              </a:rPr>
              <a:t>The causal smoothed voltage V_smooth is vital: it filters transient IR voltage drops without introducing future lookahead leakage.</a:t>
            </a:r>
          </a:p>
          <a:p>
            <a:pPr>
              <a:spcAft>
                <a:spcPts val="220"/>
              </a:spcAft>
            </a:pPr>
            <a:r>
              <a:rPr sz="919" b="1">
                <a:solidFill>
                  <a:srgbClr val="1F2937"/>
                </a:solidFill>
                <a:latin typeface="Poppins"/>
              </a:rPr>
              <a:t>Dual Physical SOH Tracking: </a:t>
            </a:r>
            <a:r>
              <a:rPr sz="880">
                <a:solidFill>
                  <a:srgbClr val="4B5563"/>
                </a:solidFill>
                <a:latin typeface="Poppins"/>
              </a:rPr>
              <a:t>Integrating capacity fade (SOH_C) and ohmic resistance growth (SOH_R) enables reliable Remaining Useful Life (RUL) projections for electric mobility.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Future Scope &amp; Roadmap  </a:t>
            </a:r>
            <a:r>
              <a:rPr sz="2500">
                <a:solidFill>
                  <a:srgbClr val="99A3AF"/>
                </a:solidFill>
                <a:latin typeface="Poppins"/>
              </a:rPr>
              <a:t>Slide 19</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22</a:t>
            </a:r>
          </a:p>
        </p:txBody>
      </p:sp>
      <p:sp>
        <p:nvSpPr>
          <p:cNvPr id="7" name="Rounded Rectangle 6"/>
          <p:cNvSpPr/>
          <p:nvPr/>
        </p:nvSpPr>
        <p:spPr>
          <a:xfrm>
            <a:off x="411480" y="152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7607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01</a:t>
            </a:r>
          </a:p>
        </p:txBody>
      </p:sp>
      <p:sp>
        <p:nvSpPr>
          <p:cNvPr id="9" name="TextBox 8"/>
          <p:cNvSpPr txBox="1"/>
          <p:nvPr/>
        </p:nvSpPr>
        <p:spPr>
          <a:xfrm>
            <a:off x="1033272" y="1657160"/>
            <a:ext cx="2834280" cy="384048"/>
          </a:xfrm>
          <a:prstGeom prst="rect">
            <a:avLst/>
          </a:prstGeom>
          <a:noFill/>
        </p:spPr>
        <p:txBody>
          <a:bodyPr wrap="square" lIns="0" rIns="0" tIns="0" bIns="0">
            <a:spAutoFit/>
          </a:bodyPr>
          <a:lstStyle/>
          <a:p>
            <a:r>
              <a:rPr sz="1200" b="1">
                <a:solidFill>
                  <a:srgbClr val="831838"/>
                </a:solidFill>
                <a:latin typeface="Poppins"/>
              </a:rPr>
              <a:t>Multi-Chemistry Generalization</a:t>
            </a:r>
          </a:p>
        </p:txBody>
      </p:sp>
      <p:sp>
        <p:nvSpPr>
          <p:cNvPr id="10" name="TextBox 9"/>
          <p:cNvSpPr txBox="1"/>
          <p:nvPr/>
        </p:nvSpPr>
        <p:spPr>
          <a:xfrm>
            <a:off x="594360" y="210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Expansion: </a:t>
            </a:r>
            <a:r>
              <a:rPr sz="880">
                <a:solidFill>
                  <a:srgbClr val="4B5563"/>
                </a:solidFill>
                <a:latin typeface="Poppins"/>
              </a:rPr>
              <a:t>Extend training pipeline to Lithium Iron Phosphate (LFP) with ultra-flat OCV plateaus, NMC, and solid-state chemistries across multi-cell packs.</a:t>
            </a:r>
          </a:p>
        </p:txBody>
      </p:sp>
      <p:sp>
        <p:nvSpPr>
          <p:cNvPr id="11" name="Rounded Rectangle 10"/>
          <p:cNvSpPr/>
          <p:nvPr/>
        </p:nvSpPr>
        <p:spPr>
          <a:xfrm>
            <a:off x="4289940" y="152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453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02</a:t>
            </a:r>
          </a:p>
        </p:txBody>
      </p:sp>
      <p:sp>
        <p:nvSpPr>
          <p:cNvPr id="13" name="TextBox 12"/>
          <p:cNvSpPr txBox="1"/>
          <p:nvPr/>
        </p:nvSpPr>
        <p:spPr>
          <a:xfrm>
            <a:off x="4911732" y="1657160"/>
            <a:ext cx="2834280" cy="384048"/>
          </a:xfrm>
          <a:prstGeom prst="rect">
            <a:avLst/>
          </a:prstGeom>
          <a:noFill/>
        </p:spPr>
        <p:txBody>
          <a:bodyPr wrap="square" lIns="0" rIns="0" tIns="0" bIns="0">
            <a:spAutoFit/>
          </a:bodyPr>
          <a:lstStyle/>
          <a:p>
            <a:r>
              <a:rPr sz="1200" b="1">
                <a:solidFill>
                  <a:srgbClr val="831838"/>
                </a:solidFill>
                <a:latin typeface="Poppins"/>
              </a:rPr>
              <a:t>Temperature &amp; Multi-Sensor Input</a:t>
            </a:r>
          </a:p>
        </p:txBody>
      </p:sp>
      <p:sp>
        <p:nvSpPr>
          <p:cNvPr id="14" name="TextBox 13"/>
          <p:cNvSpPr txBox="1"/>
          <p:nvPr/>
        </p:nvSpPr>
        <p:spPr>
          <a:xfrm>
            <a:off x="4472820" y="210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Environmental Coupling: </a:t>
            </a:r>
            <a:r>
              <a:rPr sz="880">
                <a:solidFill>
                  <a:srgbClr val="4B5563"/>
                </a:solidFill>
                <a:latin typeface="Poppins"/>
              </a:rPr>
              <a:t>Incorporate cell surface thermocouples directly into the input feature vector: X = [V, I, V_s, T, dT/dt] for cryogenic and high-temperature accuracy.</a:t>
            </a:r>
          </a:p>
        </p:txBody>
      </p:sp>
      <p:sp>
        <p:nvSpPr>
          <p:cNvPr id="15" name="Rounded Rectangle 14"/>
          <p:cNvSpPr/>
          <p:nvPr/>
        </p:nvSpPr>
        <p:spPr>
          <a:xfrm>
            <a:off x="8168400" y="152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32992" y="166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03</a:t>
            </a:r>
          </a:p>
        </p:txBody>
      </p:sp>
      <p:sp>
        <p:nvSpPr>
          <p:cNvPr id="17" name="TextBox 16"/>
          <p:cNvSpPr txBox="1"/>
          <p:nvPr/>
        </p:nvSpPr>
        <p:spPr>
          <a:xfrm>
            <a:off x="8790192" y="1657160"/>
            <a:ext cx="2834280" cy="384048"/>
          </a:xfrm>
          <a:prstGeom prst="rect">
            <a:avLst/>
          </a:prstGeom>
          <a:noFill/>
        </p:spPr>
        <p:txBody>
          <a:bodyPr wrap="square" lIns="0" rIns="0" tIns="0" bIns="0">
            <a:spAutoFit/>
          </a:bodyPr>
          <a:lstStyle/>
          <a:p>
            <a:r>
              <a:rPr sz="1200" b="1">
                <a:solidFill>
                  <a:srgbClr val="831838"/>
                </a:solidFill>
                <a:latin typeface="Poppins"/>
              </a:rPr>
              <a:t>Industry Hybrid Pipeline</a:t>
            </a:r>
          </a:p>
        </p:txBody>
      </p:sp>
      <p:sp>
        <p:nvSpPr>
          <p:cNvPr id="18" name="TextBox 17"/>
          <p:cNvSpPr txBox="1"/>
          <p:nvPr/>
        </p:nvSpPr>
        <p:spPr>
          <a:xfrm>
            <a:off x="8351280" y="2105216"/>
            <a:ext cx="3245760" cy="1591632"/>
          </a:xfrm>
          <a:prstGeom prst="rect">
            <a:avLst/>
          </a:prstGeom>
          <a:noFill/>
        </p:spPr>
        <p:txBody>
          <a:bodyPr wrap="square" lIns="0" rIns="0" tIns="0" bIns="0">
            <a:spAutoFit/>
          </a:bodyPr>
          <a:lstStyle/>
          <a:p>
            <a:pPr>
              <a:spcAft>
                <a:spcPts val="220"/>
              </a:spcAft>
            </a:pPr>
            <a:r>
              <a:rPr sz="919" b="1">
                <a:solidFill>
                  <a:srgbClr val="831838"/>
                </a:solidFill>
                <a:latin typeface="Poppins"/>
              </a:rPr>
              <a:t>Closed-Loop Kalman + ML: </a:t>
            </a:r>
            <a:r>
              <a:rPr sz="880">
                <a:solidFill>
                  <a:srgbClr val="4B5563"/>
                </a:solidFill>
                <a:latin typeface="Poppins"/>
              </a:rPr>
              <a:t>Deploy hybrid industry architecture: Kalman filter state observer for baseline physics + lightweight NN layer for residual non-linearity correction.</a:t>
            </a:r>
          </a:p>
        </p:txBody>
      </p:sp>
      <p:sp>
        <p:nvSpPr>
          <p:cNvPr id="19" name="Rounded Rectangle 18"/>
          <p:cNvSpPr/>
          <p:nvPr/>
        </p:nvSpPr>
        <p:spPr>
          <a:xfrm>
            <a:off x="411480" y="393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76072" y="407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04</a:t>
            </a:r>
          </a:p>
        </p:txBody>
      </p:sp>
      <p:sp>
        <p:nvSpPr>
          <p:cNvPr id="21" name="TextBox 20"/>
          <p:cNvSpPr txBox="1"/>
          <p:nvPr/>
        </p:nvSpPr>
        <p:spPr>
          <a:xfrm>
            <a:off x="1033272" y="4067160"/>
            <a:ext cx="2834280" cy="384048"/>
          </a:xfrm>
          <a:prstGeom prst="rect">
            <a:avLst/>
          </a:prstGeom>
          <a:noFill/>
        </p:spPr>
        <p:txBody>
          <a:bodyPr wrap="square" lIns="0" rIns="0" tIns="0" bIns="0">
            <a:spAutoFit/>
          </a:bodyPr>
          <a:lstStyle/>
          <a:p>
            <a:r>
              <a:rPr sz="1200" b="1">
                <a:solidFill>
                  <a:srgbClr val="831838"/>
                </a:solidFill>
                <a:latin typeface="Poppins"/>
              </a:rPr>
              <a:t>Online ICA Peak Tracking</a:t>
            </a:r>
          </a:p>
        </p:txBody>
      </p:sp>
      <p:sp>
        <p:nvSpPr>
          <p:cNvPr id="22" name="TextBox 21"/>
          <p:cNvSpPr txBox="1"/>
          <p:nvPr/>
        </p:nvSpPr>
        <p:spPr>
          <a:xfrm>
            <a:off x="594360" y="451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Differential SOH: </a:t>
            </a:r>
            <a:r>
              <a:rPr sz="880">
                <a:solidFill>
                  <a:srgbClr val="4B5563"/>
                </a:solidFill>
                <a:latin typeface="Poppins"/>
              </a:rPr>
              <a:t>Implement real-time online Incremental Capacity Analysis (dQ/dV peak detection) on ESP32 to monitor active lithium loss and phase transitions.</a:t>
            </a:r>
          </a:p>
        </p:txBody>
      </p:sp>
      <p:sp>
        <p:nvSpPr>
          <p:cNvPr id="23" name="Rounded Rectangle 22"/>
          <p:cNvSpPr/>
          <p:nvPr/>
        </p:nvSpPr>
        <p:spPr>
          <a:xfrm>
            <a:off x="4289940" y="393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454532" y="407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05</a:t>
            </a:r>
          </a:p>
        </p:txBody>
      </p:sp>
      <p:sp>
        <p:nvSpPr>
          <p:cNvPr id="25" name="TextBox 24"/>
          <p:cNvSpPr txBox="1"/>
          <p:nvPr/>
        </p:nvSpPr>
        <p:spPr>
          <a:xfrm>
            <a:off x="4911732" y="4067160"/>
            <a:ext cx="2834280" cy="384048"/>
          </a:xfrm>
          <a:prstGeom prst="rect">
            <a:avLst/>
          </a:prstGeom>
          <a:noFill/>
        </p:spPr>
        <p:txBody>
          <a:bodyPr wrap="square" lIns="0" rIns="0" tIns="0" bIns="0">
            <a:spAutoFit/>
          </a:bodyPr>
          <a:lstStyle/>
          <a:p>
            <a:r>
              <a:rPr sz="1200" b="1">
                <a:solidFill>
                  <a:srgbClr val="831838"/>
                </a:solidFill>
                <a:latin typeface="Poppins"/>
              </a:rPr>
              <a:t>Unknown Initial SOC Initialization</a:t>
            </a:r>
          </a:p>
        </p:txBody>
      </p:sp>
      <p:sp>
        <p:nvSpPr>
          <p:cNvPr id="26" name="TextBox 25"/>
          <p:cNvSpPr txBox="1"/>
          <p:nvPr/>
        </p:nvSpPr>
        <p:spPr>
          <a:xfrm>
            <a:off x="4472820" y="451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Cold-Start Observer: </a:t>
            </a:r>
            <a:r>
              <a:rPr sz="880">
                <a:solidFill>
                  <a:srgbClr val="4B5563"/>
                </a:solidFill>
                <a:latin typeface="Poppins"/>
              </a:rPr>
              <a:t>Pair the model with an automated relaxation detector that initializes SOC0 from thermodynamic OCV curves before active driving commences.</a:t>
            </a:r>
          </a:p>
        </p:txBody>
      </p:sp>
      <p:sp>
        <p:nvSpPr>
          <p:cNvPr id="27" name="Rounded Rectangle 26"/>
          <p:cNvSpPr/>
          <p:nvPr/>
        </p:nvSpPr>
        <p:spPr>
          <a:xfrm>
            <a:off x="8168400" y="3930000"/>
            <a:ext cx="3611520" cy="225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332992" y="4076304"/>
            <a:ext cx="384048" cy="384048"/>
          </a:xfrm>
          <a:prstGeom prst="roundRect">
            <a:avLst/>
          </a:prstGeom>
          <a:solidFill>
            <a:srgbClr val="FBE4E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831838"/>
                </a:solidFill>
                <a:latin typeface="Poppins"/>
              </a:rPr>
              <a:t>06</a:t>
            </a:r>
          </a:p>
        </p:txBody>
      </p:sp>
      <p:sp>
        <p:nvSpPr>
          <p:cNvPr id="29" name="TextBox 28"/>
          <p:cNvSpPr txBox="1"/>
          <p:nvPr/>
        </p:nvSpPr>
        <p:spPr>
          <a:xfrm>
            <a:off x="8790192" y="4067160"/>
            <a:ext cx="2834280" cy="384048"/>
          </a:xfrm>
          <a:prstGeom prst="rect">
            <a:avLst/>
          </a:prstGeom>
          <a:noFill/>
        </p:spPr>
        <p:txBody>
          <a:bodyPr wrap="square" lIns="0" rIns="0" tIns="0" bIns="0">
            <a:spAutoFit/>
          </a:bodyPr>
          <a:lstStyle/>
          <a:p>
            <a:r>
              <a:rPr sz="1200" b="1">
                <a:solidFill>
                  <a:srgbClr val="831838"/>
                </a:solidFill>
                <a:latin typeface="Poppins"/>
              </a:rPr>
              <a:t>Physical Hardware-in-the-Loop</a:t>
            </a:r>
          </a:p>
        </p:txBody>
      </p:sp>
      <p:sp>
        <p:nvSpPr>
          <p:cNvPr id="30" name="TextBox 29"/>
          <p:cNvSpPr txBox="1"/>
          <p:nvPr/>
        </p:nvSpPr>
        <p:spPr>
          <a:xfrm>
            <a:off x="8351280" y="4515216"/>
            <a:ext cx="3245760" cy="1591632"/>
          </a:xfrm>
          <a:prstGeom prst="rect">
            <a:avLst/>
          </a:prstGeom>
          <a:noFill/>
        </p:spPr>
        <p:txBody>
          <a:bodyPr wrap="square" lIns="0" rIns="0" tIns="0" bIns="0">
            <a:spAutoFit/>
          </a:bodyPr>
          <a:lstStyle/>
          <a:p>
            <a:pPr>
              <a:spcAft>
                <a:spcPts val="220"/>
              </a:spcAft>
            </a:pPr>
            <a:r>
              <a:rPr sz="919" b="1">
                <a:solidFill>
                  <a:srgbClr val="1F2937"/>
                </a:solidFill>
                <a:latin typeface="Poppins"/>
              </a:rPr>
              <a:t>Bench Testing: </a:t>
            </a:r>
            <a:r>
              <a:rPr sz="880">
                <a:solidFill>
                  <a:srgbClr val="4B5563"/>
                </a:solidFill>
                <a:latin typeface="Poppins"/>
              </a:rPr>
              <a:t>Flash compiled C firmware to physical ESP32 board connected via SPI ADC to physical TP4056 and electronic load for live hardware validation.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op_bar.png"/>
          <p:cNvPicPr>
            <a:picLocks noChangeAspect="1"/>
          </p:cNvPicPr>
          <p:nvPr/>
        </p:nvPicPr>
        <p:blipFill>
          <a:blip r:embed="rId2"/>
          <a:stretch>
            <a:fillRect/>
          </a:stretch>
        </p:blipFill>
        <p:spPr>
          <a:xfrm>
            <a:off x="0" y="0"/>
            <a:ext cx="12191400" cy="72720"/>
          </a:xfrm>
          <a:prstGeom prst="rect">
            <a:avLst/>
          </a:prstGeom>
        </p:spPr>
      </p:pic>
      <p:pic>
        <p:nvPicPr>
          <p:cNvPr id="3" name="Picture 2" descr="amrita_logo.png"/>
          <p:cNvPicPr>
            <a:picLocks noChangeAspect="1"/>
          </p:cNvPicPr>
          <p:nvPr/>
        </p:nvPicPr>
        <p:blipFill>
          <a:blip r:embed="rId3"/>
          <a:stretch>
            <a:fillRect/>
          </a:stretch>
        </p:blipFill>
        <p:spPr>
          <a:xfrm>
            <a:off x="9860040" y="201240"/>
            <a:ext cx="2102760" cy="600480"/>
          </a:xfrm>
          <a:prstGeom prst="rect">
            <a:avLst/>
          </a:prstGeom>
        </p:spPr>
      </p:pic>
      <p:sp>
        <p:nvSpPr>
          <p:cNvPr id="4" name="TextBox 3"/>
          <p:cNvSpPr txBox="1"/>
          <p:nvPr/>
        </p:nvSpPr>
        <p:spPr>
          <a:xfrm>
            <a:off x="411480" y="685800"/>
            <a:ext cx="9300000" cy="548280"/>
          </a:xfrm>
          <a:prstGeom prst="rect">
            <a:avLst/>
          </a:prstGeom>
          <a:noFill/>
        </p:spPr>
        <p:txBody>
          <a:bodyPr wrap="square" lIns="0" rIns="0" tIns="0" bIns="0">
            <a:spAutoFit/>
          </a:bodyPr>
          <a:lstStyle/>
          <a:p>
            <a:r>
              <a:rPr sz="2500" b="1">
                <a:solidFill>
                  <a:srgbClr val="831838"/>
                </a:solidFill>
                <a:latin typeface="Poppins"/>
              </a:rPr>
              <a:t>References  </a:t>
            </a:r>
            <a:r>
              <a:rPr sz="2500">
                <a:solidFill>
                  <a:srgbClr val="99A3AF"/>
                </a:solidFill>
                <a:latin typeface="Poppins"/>
              </a:rPr>
              <a:t>Slide 20</a:t>
            </a:r>
          </a:p>
        </p:txBody>
      </p:sp>
      <p:sp>
        <p:nvSpPr>
          <p:cNvPr id="5" name="Rectangle 4"/>
          <p:cNvSpPr/>
          <p:nvPr/>
        </p:nvSpPr>
        <p:spPr>
          <a:xfrm>
            <a:off x="411480" y="1298160"/>
            <a:ext cx="11368440" cy="1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00000" y="6400800"/>
            <a:ext cx="500000" cy="273960"/>
          </a:xfrm>
          <a:prstGeom prst="rect">
            <a:avLst/>
          </a:prstGeom>
          <a:noFill/>
        </p:spPr>
        <p:txBody>
          <a:bodyPr wrap="none" lIns="0" rIns="0" tIns="0" bIns="0">
            <a:spAutoFit/>
          </a:bodyPr>
          <a:lstStyle/>
          <a:p>
            <a:pPr algn="r"/>
            <a:r>
              <a:rPr sz="1000">
                <a:solidFill>
                  <a:srgbClr val="99A3AF"/>
                </a:solidFill>
                <a:latin typeface="Poppins"/>
              </a:rPr>
              <a:t>23</a:t>
            </a:r>
          </a:p>
        </p:txBody>
      </p:sp>
      <p:sp>
        <p:nvSpPr>
          <p:cNvPr id="7" name="Rounded Rectangle 6"/>
          <p:cNvSpPr/>
          <p:nvPr/>
        </p:nvSpPr>
        <p:spPr>
          <a:xfrm>
            <a:off x="411480" y="1500000"/>
            <a:ext cx="11368440" cy="12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37160"/>
            <a:ext cx="10911240" cy="384048"/>
          </a:xfrm>
          <a:prstGeom prst="rect">
            <a:avLst/>
          </a:prstGeom>
          <a:noFill/>
        </p:spPr>
        <p:txBody>
          <a:bodyPr wrap="square" lIns="0" rIns="0" tIns="0" bIns="0">
            <a:spAutoFit/>
          </a:bodyPr>
          <a:lstStyle/>
          <a:p>
            <a:r>
              <a:rPr sz="1200" b="1">
                <a:solidFill>
                  <a:srgbClr val="831838"/>
                </a:solidFill>
                <a:latin typeface="Poppins"/>
              </a:rPr>
              <a:t>DATASET CITATION</a:t>
            </a:r>
          </a:p>
        </p:txBody>
      </p:sp>
      <p:sp>
        <p:nvSpPr>
          <p:cNvPr id="9" name="TextBox 8"/>
          <p:cNvSpPr txBox="1"/>
          <p:nvPr/>
        </p:nvSpPr>
        <p:spPr>
          <a:xfrm>
            <a:off x="594360" y="2085216"/>
            <a:ext cx="11002680" cy="541632"/>
          </a:xfrm>
          <a:prstGeom prst="rect">
            <a:avLst/>
          </a:prstGeom>
          <a:noFill/>
        </p:spPr>
        <p:txBody>
          <a:bodyPr wrap="square" lIns="0" rIns="0" tIns="0" bIns="0">
            <a:spAutoFit/>
          </a:bodyPr>
          <a:lstStyle/>
          <a:p>
            <a:pPr>
              <a:spcAft>
                <a:spcPts val="220"/>
              </a:spcAft>
            </a:pPr>
            <a:r>
              <a:rPr sz="919" b="1">
                <a:solidFill>
                  <a:srgbClr val="1F2937"/>
                </a:solidFill>
                <a:latin typeface="Poppins"/>
              </a:rPr>
              <a:t>NASA Ames PCoE: </a:t>
            </a:r>
            <a:r>
              <a:rPr sz="880">
                <a:solidFill>
                  <a:srgbClr val="4B5563"/>
                </a:solidFill>
                <a:latin typeface="Poppins"/>
              </a:rPr>
              <a:t>NASA Ames Prognostics Center of Excellence (PCoE), 'Li-ion Battery Aging Datasets,' NASA Open Data Portal (Dashlink resource 133), issued 2010. Available: data.nasa.gov/dataset/li-ion-battery-aging-datasets</a:t>
            </a:r>
          </a:p>
        </p:txBody>
      </p:sp>
      <p:sp>
        <p:nvSpPr>
          <p:cNvPr id="10" name="Rounded Rectangle 9"/>
          <p:cNvSpPr/>
          <p:nvPr/>
        </p:nvSpPr>
        <p:spPr>
          <a:xfrm>
            <a:off x="411480" y="2850000"/>
            <a:ext cx="11368440" cy="3300000"/>
          </a:xfrm>
          <a:prstGeom prst="roundRect">
            <a:avLst/>
          </a:prstGeom>
          <a:solidFill>
            <a:srgbClr val="F9FAFC"/>
          </a:solidFill>
          <a:ln w="12700">
            <a:solidFill>
              <a:srgbClr val="E3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987160"/>
            <a:ext cx="10911240" cy="384048"/>
          </a:xfrm>
          <a:prstGeom prst="rect">
            <a:avLst/>
          </a:prstGeom>
          <a:noFill/>
        </p:spPr>
        <p:txBody>
          <a:bodyPr wrap="square" lIns="0" rIns="0" tIns="0" bIns="0">
            <a:spAutoFit/>
          </a:bodyPr>
          <a:lstStyle/>
          <a:p>
            <a:r>
              <a:rPr sz="1200" b="1">
                <a:solidFill>
                  <a:srgbClr val="831838"/>
                </a:solidFill>
                <a:latin typeface="Poppins"/>
              </a:rPr>
              <a:t>ACADEMIC REFERENCES &amp; LITERATURE</a:t>
            </a:r>
          </a:p>
        </p:txBody>
      </p:sp>
      <p:sp>
        <p:nvSpPr>
          <p:cNvPr id="12" name="TextBox 11"/>
          <p:cNvSpPr txBox="1"/>
          <p:nvPr/>
        </p:nvSpPr>
        <p:spPr>
          <a:xfrm>
            <a:off x="594360" y="3435216"/>
            <a:ext cx="11002680" cy="2641632"/>
          </a:xfrm>
          <a:prstGeom prst="rect">
            <a:avLst/>
          </a:prstGeom>
          <a:noFill/>
        </p:spPr>
        <p:txBody>
          <a:bodyPr wrap="square" lIns="0" rIns="0" tIns="0" bIns="0">
            <a:spAutoFit/>
          </a:bodyPr>
          <a:lstStyle/>
          <a:p>
            <a:pPr>
              <a:spcAft>
                <a:spcPts val="220"/>
              </a:spcAft>
            </a:pPr>
            <a:r>
              <a:rPr sz="919" b="1">
                <a:solidFill>
                  <a:srgbClr val="1F2937"/>
                </a:solidFill>
                <a:latin typeface="Poppins"/>
              </a:rPr>
              <a:t>[1]: </a:t>
            </a:r>
            <a:r>
              <a:rPr sz="880">
                <a:solidFill>
                  <a:srgbClr val="4B5563"/>
                </a:solidFill>
                <a:latin typeface="Poppins"/>
              </a:rPr>
              <a:t>Panda et al., 'Enhanced SOC estimation using ML algorithms,' Scientific Reports (Nature), vol. 14, no. 1, 2024. Explores SVM, Neural Networks, Ensembles, and Gaussian Process Regression for real-time driving cycles.</a:t>
            </a:r>
          </a:p>
          <a:p>
            <a:pPr>
              <a:spcAft>
                <a:spcPts val="220"/>
              </a:spcAft>
            </a:pPr>
            <a:r>
              <a:rPr sz="919" b="1">
                <a:solidFill>
                  <a:srgbClr val="1F2937"/>
                </a:solidFill>
                <a:latin typeface="Poppins"/>
              </a:rPr>
              <a:t>[2]: </a:t>
            </a:r>
            <a:r>
              <a:rPr sz="880">
                <a:solidFill>
                  <a:srgbClr val="4B5563"/>
                </a:solidFill>
                <a:latin typeface="Poppins"/>
              </a:rPr>
              <a:t>Wang et al., 'High-Fidelity SOC Estimation of Li-Ion Batteries using ML,' arXiv preprint arXiv:1911.08253, 2019. Investigates pulse-injection response features for deep neural network SOC regression.</a:t>
            </a:r>
          </a:p>
          <a:p>
            <a:pPr>
              <a:spcAft>
                <a:spcPts val="220"/>
              </a:spcAft>
            </a:pPr>
            <a:r>
              <a:rPr sz="919" b="1">
                <a:solidFill>
                  <a:srgbClr val="1F2937"/>
                </a:solidFill>
                <a:latin typeface="Poppins"/>
              </a:rPr>
              <a:t>[3]: </a:t>
            </a:r>
            <a:r>
              <a:rPr sz="880">
                <a:solidFill>
                  <a:srgbClr val="4B5563"/>
                </a:solidFill>
                <a:latin typeface="Poppins"/>
              </a:rPr>
              <a:t>Zhang et al., 'SOC Estimation using CNN-Bi-LSTM-AM under Low Temperature,' PMC / Sensors, 2024. Demonstrates bidirectional sequential time-series modeling with attention mechanisms for cold ambient conditions.</a:t>
            </a:r>
          </a:p>
          <a:p>
            <a:pPr>
              <a:spcAft>
                <a:spcPts val="220"/>
              </a:spcAft>
            </a:pPr>
            <a:r>
              <a:rPr sz="919" b="1">
                <a:solidFill>
                  <a:srgbClr val="1F2937"/>
                </a:solidFill>
                <a:latin typeface="Poppins"/>
              </a:rPr>
              <a:t>[4]: </a:t>
            </a:r>
            <a:r>
              <a:rPr sz="880">
                <a:solidFill>
                  <a:srgbClr val="4B5563"/>
                </a:solidFill>
                <a:latin typeface="Poppins"/>
              </a:rPr>
              <a:t>Yang et al., 'SOC Estimation using Residual CNNs,' PMC / Energies, 2022. Demonstrates residual convolutional neural networks for robust multi-channel battery telemetry regression.</a:t>
            </a:r>
          </a:p>
          <a:p>
            <a:pPr>
              <a:spcAft>
                <a:spcPts val="220"/>
              </a:spcAft>
            </a:pPr>
            <a:r>
              <a:rPr sz="919" b="1">
                <a:solidFill>
                  <a:srgbClr val="1F2937"/>
                </a:solidFill>
                <a:latin typeface="Poppins"/>
              </a:rPr>
              <a:t>[5]: </a:t>
            </a:r>
            <a:r>
              <a:rPr sz="880">
                <a:solidFill>
                  <a:srgbClr val="4B5563"/>
                </a:solidFill>
                <a:latin typeface="Poppins"/>
              </a:rPr>
              <a:t>Plett, G. L., 'Battery Management Systems, Volume I &amp; II: Battery Modeling and State Estimation,' Artech House, 2015. Foundational reference for Equivalent Circuit Models (ECM), Extended Kalman Filters, and Sigma-Point Kalman Filters.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