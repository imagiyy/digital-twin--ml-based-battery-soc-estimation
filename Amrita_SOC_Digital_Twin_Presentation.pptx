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6"/>
    <p:sldId id="266" r:id="rId17"/>
    <p:sldId id="269" r:id="rId20"/>
    <p:sldId id="267" r:id="rId18"/>
    <p:sldId id="268" r:id="rId1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831838"/>
                </a:solidFill>
                <a:latin typeface="Poppins"/>
              </a:rPr>
              <a:t>Mean SOC error (percentage points)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ML mean error</c:v>
                </c:pt>
              </c:strCache>
            </c:strRef>
          </c:tx>
          <c:spPr>
            <a:solidFill>
              <a:srgbClr val="831838"/>
            </a:solidFill>
          </c:spPr>
          <c:cat>
            <c:strRef>
              <c:f>Sheet1!$A$2:$A$5</c:f>
              <c:strCache>
                <c:ptCount val="4"/>
                <c:pt idx="0">
                  <c:v>1 A pair</c:v>
                </c:pt>
                <c:pt idx="1">
                  <c:v>2 A pair</c:v>
                </c:pt>
                <c:pt idx="2">
                  <c:v>3 A pair</c:v>
                </c:pt>
                <c:pt idx="3">
                  <c:v>0.5 A discharge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1.13</c:v>
                </c:pt>
                <c:pt idx="1">
                  <c:v>1.16</c:v>
                </c:pt>
                <c:pt idx="2">
                  <c:v>2.24</c:v>
                </c:pt>
                <c:pt idx="3">
                  <c:v>1.7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Coulomb counting mean error</c:v>
                </c:pt>
              </c:strCache>
            </c:strRef>
          </c:tx>
          <c:spPr>
            <a:solidFill>
              <a:srgbClr val="D5A831"/>
            </a:solidFill>
          </c:spPr>
          <c:cat>
            <c:strRef>
              <c:f>Sheet1!$A$2:$A$5</c:f>
              <c:strCache>
                <c:ptCount val="4"/>
                <c:pt idx="0">
                  <c:v>1 A pair</c:v>
                </c:pt>
                <c:pt idx="1">
                  <c:v>2 A pair</c:v>
                </c:pt>
                <c:pt idx="2">
                  <c:v>3 A pair</c:v>
                </c:pt>
                <c:pt idx="3">
                  <c:v>0.5 A discharge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1.56</c:v>
                </c:pt>
                <c:pt idx="1">
                  <c:v>0.9</c:v>
                </c:pt>
                <c:pt idx="2">
                  <c:v>0.67</c:v>
                </c:pt>
                <c:pt idx="3">
                  <c:v>3.11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555B63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55B63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5"/>
          <c:min val="0.0"/>
        </c:scaling>
        <c:delete val="0"/>
        <c:axPos val="l"/>
        <c:majorGridlines>
          <c:spPr>
            <a:ln>
              <a:solidFill>
                <a:srgbClr val="EDEF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55B63"/>
                </a:solidFill>
                <a:latin typeface="Poppins"/>
              </a:defRPr>
            </a:pPr>
          </a:p>
        </c:txPr>
        <c:crossAx val="-2068027336"/>
        <c:crosses val="autoZero"/>
        <c:majorUnit val="1.0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55B63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0581A98-3D12-4E82-9AFA-D3BB72170D7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2E540A-8C5E-4313-A247-370337C5D7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9E743A-F960-44D5-B81A-D597F27F05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29A1DB-4C4D-4F21-A168-98CD9F797D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438165-E75F-498F-BA1A-ED043277C1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B79530-9CEA-4A1D-AC6A-74E44CE9FA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8E822A-1737-4C41-B242-48BB54F0B8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733248-2D6B-42CD-B16A-21336FCF4F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E7A87E-62EB-475F-984E-6C75EBE2C5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EBAF92-7EA4-4D96-8357-B6BF9761CD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/home/claude/assets/gradient_bar.png"/>
          <p:cNvPicPr/>
          <p:nvPr/>
        </p:nvPicPr>
        <p:blipFill>
          <a:blip r:embed="rId3"/>
          <a:stretch/>
        </p:blipFill>
        <p:spPr>
          <a:xfrm>
            <a:off x="0" y="0"/>
            <a:ext cx="12191400" cy="7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Image 1" descr="/home/claude/assets/logo.png"/>
          <p:cNvPicPr/>
          <p:nvPr/>
        </p:nvPicPr>
        <p:blipFill>
          <a:blip r:embed="rId4"/>
          <a:stretch/>
        </p:blipFill>
        <p:spPr>
          <a:xfrm>
            <a:off x="9860040" y="201240"/>
            <a:ext cx="2102760" cy="60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 0"/>
          <p:cNvSpPr/>
          <p:nvPr/>
        </p:nvSpPr>
        <p:spPr>
          <a:xfrm>
            <a:off x="0" y="1783080"/>
            <a:ext cx="12191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99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MINI PROJECT PRESENTATION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1097280" y="2103120"/>
            <a:ext cx="9996840" cy="137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Estimation of SOC of a Battery using Machine Learning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Digital Twin Implementation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2"/>
          <p:cNvSpPr/>
          <p:nvPr/>
        </p:nvSpPr>
        <p:spPr>
          <a:xfrm>
            <a:off x="861647" y="3810000"/>
            <a:ext cx="10709030" cy="2514600"/>
          </a:xfrm>
          <a:prstGeom prst="roundRect">
            <a:avLst>
              <a:gd name="adj" fmla="val 5161"/>
            </a:avLst>
          </a:prstGeom>
          <a:solidFill>
            <a:srgbClr val="F9FAFC"/>
          </a:solidFill>
          <a:ln w="12700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1547446" y="4047203"/>
            <a:ext cx="420588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300" b="1" u="none" strike="noStrike" dirty="0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Project Team Members</a:t>
            </a:r>
          </a:p>
          <a:p>
            <a:endParaRPr lang="en-US" sz="1300" b="1" dirty="0">
              <a:solidFill>
                <a:srgbClr val="831838"/>
              </a:solidFill>
              <a:latin typeface="Poppins"/>
            </a:endParaRPr>
          </a:p>
          <a:p>
            <a:r>
              <a:rPr lang="en-US" sz="1300" b="1" u="none" strike="noStrike" dirty="0">
                <a:solidFill>
                  <a:srgbClr val="831838"/>
                </a:solidFill>
                <a:effectLst/>
                <a:uFillTx/>
                <a:latin typeface="Poppins"/>
              </a:rPr>
              <a:t>Maanas S</a:t>
            </a:r>
          </a:p>
          <a:p>
            <a:r>
              <a:rPr lang="en-US" sz="1300" b="1" u="none" strike="noStrike" dirty="0">
                <a:solidFill>
                  <a:srgbClr val="831838"/>
                </a:solidFill>
                <a:effectLst/>
                <a:uFillTx/>
                <a:latin typeface="Poppins"/>
              </a:rPr>
              <a:t>Abrar M</a:t>
            </a:r>
          </a:p>
          <a:p>
            <a:r>
              <a:rPr lang="en-US" sz="1300" b="1" dirty="0">
                <a:solidFill>
                  <a:srgbClr val="831838"/>
                </a:solidFill>
                <a:latin typeface="Poppins"/>
              </a:rPr>
              <a:t>Abhinav Pradeep</a:t>
            </a:r>
          </a:p>
          <a:p>
            <a:r>
              <a:rPr lang="en-US" sz="1300" b="1" u="none" strike="noStrike" dirty="0">
                <a:solidFill>
                  <a:srgbClr val="831838"/>
                </a:solidFill>
                <a:effectLst/>
                <a:uFillTx/>
                <a:latin typeface="Poppins"/>
              </a:rPr>
              <a:t>Varun Ladda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600" b="0" u="none" strike="noStrike" dirty="0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n-US" sz="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Department: Electrical &amp; Electronics Engineering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6337496" y="4047203"/>
            <a:ext cx="4916658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300" b="1" u="none" strike="noStrike" dirty="0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Roll Numbers</a:t>
            </a:r>
          </a:p>
          <a:p>
            <a:endParaRPr lang="en-US" sz="1300" b="1" dirty="0">
              <a:solidFill>
                <a:srgbClr val="831838"/>
              </a:solidFill>
              <a:latin typeface="Poppins"/>
            </a:endParaRPr>
          </a:p>
          <a:p>
            <a:r>
              <a:rPr lang="en-US" sz="1300" b="1" u="none" strike="noStrike" dirty="0">
                <a:solidFill>
                  <a:srgbClr val="831838"/>
                </a:solidFill>
                <a:effectLst/>
                <a:uFillTx/>
                <a:latin typeface="Poppins"/>
              </a:rPr>
              <a:t>CB.EN.U4ELC24052</a:t>
            </a:r>
          </a:p>
          <a:p>
            <a:r>
              <a:rPr lang="en-US" sz="1300" b="1" dirty="0">
                <a:solidFill>
                  <a:srgbClr val="831838"/>
                </a:solidFill>
                <a:latin typeface="Poppins"/>
              </a:rPr>
              <a:t>CB.EN.U4ELC24005</a:t>
            </a:r>
          </a:p>
          <a:p>
            <a:r>
              <a:rPr lang="en-US" sz="1300" b="1" u="none" strike="noStrike" dirty="0">
                <a:solidFill>
                  <a:srgbClr val="831838"/>
                </a:solidFill>
                <a:effectLst/>
                <a:uFillTx/>
                <a:latin typeface="Poppins"/>
              </a:rPr>
              <a:t>CB.EN.U4ELC24004</a:t>
            </a:r>
          </a:p>
          <a:p>
            <a:r>
              <a:rPr lang="en-US" sz="1300" b="1" dirty="0">
                <a:solidFill>
                  <a:srgbClr val="831838"/>
                </a:solidFill>
                <a:latin typeface="Poppins"/>
              </a:rPr>
              <a:t>CB.EN.U4ELC24062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600" b="0" u="none" strike="noStrike" dirty="0">
                <a:solidFill>
                  <a:srgbClr val="000000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n-US" sz="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Institution: Amrita School of Engineering, Amrita Vishwa     Vidyapeetham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/home/claude/assets/gradient_bar.png"/>
          <p:cNvPicPr/>
          <p:nvPr/>
        </p:nvPicPr>
        <p:blipFill>
          <a:blip r:embed="rId3"/>
          <a:stretch/>
        </p:blipFill>
        <p:spPr>
          <a:xfrm>
            <a:off x="0" y="0"/>
            <a:ext cx="12191400" cy="7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Image 1" descr="/home/claude/assets/logo.png"/>
          <p:cNvPicPr/>
          <p:nvPr/>
        </p:nvPicPr>
        <p:blipFill>
          <a:blip r:embed="rId4"/>
          <a:stretch/>
        </p:blipFill>
        <p:spPr>
          <a:xfrm>
            <a:off x="9860040" y="201240"/>
            <a:ext cx="2102760" cy="60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Text 0"/>
          <p:cNvSpPr/>
          <p:nvPr/>
        </p:nvSpPr>
        <p:spPr>
          <a:xfrm>
            <a:off x="411480" y="68580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Motivation  </a:t>
            </a:r>
            <a:r>
              <a:rPr lang="en-US" sz="26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Slide 01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411480" y="1298160"/>
            <a:ext cx="11368440" cy="360"/>
          </a:xfrm>
          <a:prstGeom prst="line">
            <a:avLst/>
          </a:prstGeom>
          <a:ln w="12700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411480" y="15087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Relevance of the Topic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396600" y="1982732"/>
            <a:ext cx="548604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25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IoT-Enabled BMS Growth: </a:t>
            </a:r>
            <a:r>
              <a:rPr lang="en-US" sz="125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Rising EV and portable-electronics adoption has created strong demand for low-cost, connected battery monitoring.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Safety &amp; Reliability: </a:t>
            </a:r>
            <a:r>
              <a:rPr lang="en-US" sz="125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Inaccurate SOC estimation can cause overcharging or deep discharge; a live, always-on dashboard helps the user avoid both.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Safe, Repeatable, Zero-Cost Testing: </a:t>
            </a:r>
            <a:r>
              <a:rPr lang="en-US" sz="125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A digital twin replays charge and discharge cycles as often as needed, with no cells to damage and no hardware to buy.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6309360" y="15087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Scope of the ML Approach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6309360" y="1982732"/>
            <a:ext cx="548604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2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Model-Free Mapping: </a:t>
            </a:r>
            <a:r>
              <a:rPr lang="en-US" sz="12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A trained ML model learns the voltage-to-SOC relationship directly from data, avoiding the need to derive cell-specific equivalent-circuit equations.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Real Data, Portable Model: </a:t>
            </a:r>
            <a:r>
              <a:rPr lang="en-US" sz="12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The twin is driven by real NASA Li-ion cycling data, and the same ML model can later be ported to the ESP32.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11551680" y="64008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Dashboard Screenshot" descr="shot_d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2459" y="3657600"/>
            <a:ext cx="3580202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0" descr="/home/claude/assets/gradient_bar.png"/>
          <p:cNvPicPr/>
          <p:nvPr/>
        </p:nvPicPr>
        <p:blipFill>
          <a:blip r:embed="rId3"/>
          <a:stretch/>
        </p:blipFill>
        <p:spPr>
          <a:xfrm>
            <a:off x="0" y="0"/>
            <a:ext cx="12191400" cy="7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Image 1" descr="/home/claude/assets/logo.png"/>
          <p:cNvPicPr/>
          <p:nvPr/>
        </p:nvPicPr>
        <p:blipFill>
          <a:blip r:embed="rId4"/>
          <a:stretch/>
        </p:blipFill>
        <p:spPr>
          <a:xfrm>
            <a:off x="9860040" y="201240"/>
            <a:ext cx="2102760" cy="60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0"/>
          <p:cNvSpPr/>
          <p:nvPr/>
        </p:nvSpPr>
        <p:spPr>
          <a:xfrm>
            <a:off x="411480" y="68580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Introduction  </a:t>
            </a:r>
            <a:r>
              <a:rPr lang="en-US" sz="26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Slide 02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411480" y="1298160"/>
            <a:ext cx="11368440" cy="360"/>
          </a:xfrm>
          <a:prstGeom prst="line">
            <a:avLst/>
          </a:prstGeom>
          <a:ln w="12700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411480" y="1508760"/>
            <a:ext cx="11338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Broad Domain: Smart BMS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411480" y="1874520"/>
            <a:ext cx="11338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Core Functions: </a:t>
            </a:r>
            <a:r>
              <a:rPr lang="en-US" sz="125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Real-time voltage sensing, charge-status detection, live SOC estimation, and web-based telemetry.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411480" y="2450520"/>
            <a:ext cx="11338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State of Charge (SOC): </a:t>
            </a:r>
            <a:r>
              <a:rPr lang="en-US" sz="125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Represents the available charge percentage relative to total nominal capacity.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5"/>
          <p:cNvSpPr/>
          <p:nvPr/>
        </p:nvSpPr>
        <p:spPr>
          <a:xfrm>
            <a:off x="685800" y="2912400"/>
            <a:ext cx="6034680" cy="685440"/>
          </a:xfrm>
          <a:prstGeom prst="roundRect">
            <a:avLst>
              <a:gd name="adj" fmla="val 6667"/>
            </a:avLst>
          </a:prstGeom>
          <a:solidFill>
            <a:srgbClr val="F9FAFC"/>
          </a:solidFill>
          <a:ln w="12700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822960" y="2976480"/>
            <a:ext cx="5760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831838"/>
                </a:solidFill>
                <a:effectLst/>
                <a:uFillTx/>
                <a:latin typeface="Cambria"/>
                <a:ea typeface="Cambria"/>
              </a:rPr>
              <a:t>SOC(t) = SOC</a:t>
            </a:r>
            <a:r>
              <a:rPr lang="en-US" sz="1700" b="1" u="none" strike="noStrike" baseline="-40000" dirty="0">
                <a:solidFill>
                  <a:srgbClr val="831838"/>
                </a:solidFill>
                <a:effectLst/>
                <a:uFillTx/>
                <a:latin typeface="Cambria"/>
                <a:ea typeface="Cambria"/>
              </a:rPr>
              <a:t>0</a:t>
            </a:r>
            <a:r>
              <a:rPr lang="en-US" sz="1700" b="1" u="none" strike="noStrike" dirty="0">
                <a:solidFill>
                  <a:srgbClr val="831838"/>
                </a:solidFill>
                <a:effectLst/>
                <a:uFillTx/>
                <a:latin typeface="Cambria"/>
                <a:ea typeface="Cambria"/>
              </a:rPr>
              <a:t>  −  (1/C</a:t>
            </a:r>
            <a:r>
              <a:rPr lang="en-US" sz="1700" b="1" u="none" strike="noStrike" baseline="-40000" dirty="0">
                <a:solidFill>
                  <a:srgbClr val="831838"/>
                </a:solidFill>
                <a:effectLst/>
                <a:uFillTx/>
                <a:latin typeface="Cambria"/>
                <a:ea typeface="Cambria"/>
              </a:rPr>
              <a:t>n</a:t>
            </a:r>
            <a:r>
              <a:rPr lang="en-US" sz="1700" b="1" u="none" strike="noStrike" dirty="0">
                <a:solidFill>
                  <a:srgbClr val="831838"/>
                </a:solidFill>
                <a:effectLst/>
                <a:uFillTx/>
                <a:latin typeface="Cambria"/>
                <a:ea typeface="Cambria"/>
              </a:rPr>
              <a:t>) ∫ </a:t>
            </a:r>
            <a:r>
              <a:rPr lang="en-US" sz="1700" b="1" u="none" strike="noStrike" dirty="0" err="1">
                <a:solidFill>
                  <a:srgbClr val="831838"/>
                </a:solidFill>
                <a:effectLst/>
                <a:uFillTx/>
                <a:latin typeface="Cambria"/>
                <a:ea typeface="Cambria"/>
              </a:rPr>
              <a:t>i</a:t>
            </a:r>
            <a:r>
              <a:rPr lang="en-US" sz="1700" b="1" u="none" strike="noStrike" dirty="0">
                <a:solidFill>
                  <a:srgbClr val="831838"/>
                </a:solidFill>
                <a:effectLst/>
                <a:uFillTx/>
                <a:latin typeface="Cambria"/>
                <a:ea typeface="Cambria"/>
              </a:rPr>
              <a:t>(t) dt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822960" y="3357877"/>
            <a:ext cx="5760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SOC₀ = initial charge  ·  Cₙ = nominal capacity  ·  </a:t>
            </a:r>
            <a:r>
              <a:rPr lang="en-US" sz="900" b="0" u="none" strike="noStrike" dirty="0" err="1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i</a:t>
            </a:r>
            <a:r>
              <a:rPr lang="en-US" sz="90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(t) = current draw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8"/>
          <p:cNvSpPr/>
          <p:nvPr/>
        </p:nvSpPr>
        <p:spPr>
          <a:xfrm>
            <a:off x="411480" y="3868200"/>
            <a:ext cx="113382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Non-Linear Battery Behavior: </a:t>
            </a:r>
            <a:r>
              <a:rPr lang="en-US" sz="12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The voltage-to-SOC relationship is non-linear and shifts with temperature, discharge rate, and cell aging, motivating a data-driven ML approach.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9"/>
          <p:cNvSpPr/>
          <p:nvPr/>
        </p:nvSpPr>
        <p:spPr>
          <a:xfrm>
            <a:off x="411480" y="4572000"/>
            <a:ext cx="1133820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20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Battery Cell: </a:t>
            </a:r>
            <a:r>
              <a:rPr lang="en-US" sz="1200" b="1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Single-cell Li-ion battery (3.7V, 18650 form factor), represented in the twin by real NASA Li-ion cycling data.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The ML Model: </a:t>
            </a:r>
            <a:r>
              <a:rPr lang="en-US" sz="1200" b="1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An MLP (3-16-1, tanh hidden layer) trained on voltage, current, and smoothed voltage to directly predict SOC, replacing explicit equivalent-circuit equations.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0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Digital Twin Execution: </a:t>
            </a:r>
            <a:r>
              <a:rPr lang="en-US" sz="1200" b="1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A virtual ESP32 + TP4056 + 18650 chain replays the NASA data, adds ADC noise and a current offset, runs the ML model, and streams a Wi-Fi payload to the web dashboard.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11551680" y="64008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0" descr="/home/claude/assets/gradient_bar.png"/>
          <p:cNvPicPr/>
          <p:nvPr/>
        </p:nvPicPr>
        <p:blipFill>
          <a:blip r:embed="rId3"/>
          <a:stretch/>
        </p:blipFill>
        <p:spPr>
          <a:xfrm>
            <a:off x="0" y="0"/>
            <a:ext cx="12191400" cy="7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Image 1" descr="/home/claude/assets/logo.png"/>
          <p:cNvPicPr/>
          <p:nvPr/>
        </p:nvPicPr>
        <p:blipFill>
          <a:blip r:embed="rId4"/>
          <a:stretch/>
        </p:blipFill>
        <p:spPr>
          <a:xfrm>
            <a:off x="9860040" y="201240"/>
            <a:ext cx="2102760" cy="60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0"/>
          <p:cNvSpPr/>
          <p:nvPr/>
        </p:nvSpPr>
        <p:spPr>
          <a:xfrm>
            <a:off x="411480" y="68580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State of the Art in Related Area  </a:t>
            </a:r>
            <a:r>
              <a:rPr lang="en-US" sz="26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Slide 03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411480" y="1298160"/>
            <a:ext cx="11368440" cy="360"/>
          </a:xfrm>
          <a:prstGeom prst="line">
            <a:avLst/>
          </a:prstGeom>
          <a:ln w="12700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5" name="Table 0"/>
          <p:cNvGraphicFramePr/>
          <p:nvPr/>
        </p:nvGraphicFramePr>
        <p:xfrm>
          <a:off x="411480" y="1600200"/>
          <a:ext cx="11365920" cy="3290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Authors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83183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Title &amp; Venue (Year)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83183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Key Contributions / Inference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83183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Remarks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831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831838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Panda et al.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Enhanced SOC estimation using ML algorithms, Sci. Rep. (2024)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Compared SVM, Neural Network, Ensemble, and Gaussian Process Regression on real-time driving data.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Gaussian Process Regression gave the lowest SOC prediction error.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831838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Wang et al.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High-Fidelity SOC Estimation of Li-Ion Batteries using ML, arXiv (2019)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Trained a feedforward neural network on pulse-injection response data to map directly to SOC.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Showed pulse-based features improve ML SOC accuracy.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831838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Zhang et al.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SOC Estimation using CNN-Bi-LSTM-AM under Low Temperature, PMC (2024)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Combined CNN, bidirectional LSTM, and attention to estimate SOC from voltage/current sequences.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MAE of 0.17-0.77% achieved across driving cycles.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831838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Yang et al.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SOC Estimation using Residual CNNs, PMC (2022)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Used stacked multi-variable time-series inputs with residual CNN blocks to regress SOC.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Deep learning outperformed classical benchmarks at low temperatures.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" name="Text 2"/>
          <p:cNvSpPr/>
          <p:nvPr/>
        </p:nvSpPr>
        <p:spPr>
          <a:xfrm>
            <a:off x="11551680" y="64008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Image 0" descr="/home/claude/assets/gradient_bar.png"/>
          <p:cNvPicPr/>
          <p:nvPr/>
        </p:nvPicPr>
        <p:blipFill>
          <a:blip r:embed="rId3"/>
          <a:stretch/>
        </p:blipFill>
        <p:spPr>
          <a:xfrm>
            <a:off x="0" y="0"/>
            <a:ext cx="12191400" cy="7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Image 1" descr="/home/claude/assets/logo.png"/>
          <p:cNvPicPr/>
          <p:nvPr/>
        </p:nvPicPr>
        <p:blipFill>
          <a:blip r:embed="rId4"/>
          <a:stretch/>
        </p:blipFill>
        <p:spPr>
          <a:xfrm>
            <a:off x="9860040" y="201240"/>
            <a:ext cx="2102760" cy="60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 0"/>
          <p:cNvSpPr/>
          <p:nvPr/>
        </p:nvSpPr>
        <p:spPr>
          <a:xfrm>
            <a:off x="411480" y="68580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Literature Review Summary  </a:t>
            </a:r>
            <a:r>
              <a:rPr lang="en-US" sz="26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Slide 04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"/>
          <p:cNvSpPr/>
          <p:nvPr/>
        </p:nvSpPr>
        <p:spPr>
          <a:xfrm>
            <a:off x="411480" y="1298160"/>
            <a:ext cx="11368440" cy="360"/>
          </a:xfrm>
          <a:prstGeom prst="line">
            <a:avLst/>
          </a:prstGeom>
          <a:ln w="12700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"/>
          <p:cNvSpPr/>
          <p:nvPr/>
        </p:nvSpPr>
        <p:spPr>
          <a:xfrm>
            <a:off x="411480" y="1600200"/>
            <a:ext cx="3611520" cy="2554190"/>
          </a:xfrm>
          <a:prstGeom prst="roundRect">
            <a:avLst>
              <a:gd name="adj" fmla="val 2553"/>
            </a:avLst>
          </a:prstGeom>
          <a:solidFill>
            <a:srgbClr val="F9FAFC"/>
          </a:solidFill>
          <a:ln w="12700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"/>
          <p:cNvSpPr/>
          <p:nvPr/>
        </p:nvSpPr>
        <p:spPr>
          <a:xfrm>
            <a:off x="640080" y="182880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FBE4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640080" y="1828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🧮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640080" y="2377440"/>
            <a:ext cx="3154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Coulomb Counting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640080" y="28346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Pros: </a:t>
            </a:r>
            <a:r>
              <a:rPr lang="en-US" sz="10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Very simple, low computational footprint. </a:t>
            </a: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050" dirty="0">
              <a:solidFill>
                <a:srgbClr val="555B63"/>
              </a:solidFill>
              <a:latin typeface="Poppins"/>
              <a:ea typeface="Poppins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Cons: </a:t>
            </a:r>
            <a:r>
              <a:rPr lang="en-US" sz="10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Drifts severely over time due to current sensor noise accumulation and unknown initial SOC.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7"/>
          <p:cNvSpPr/>
          <p:nvPr/>
        </p:nvSpPr>
        <p:spPr>
          <a:xfrm>
            <a:off x="4279320" y="1600200"/>
            <a:ext cx="3611520" cy="2554910"/>
          </a:xfrm>
          <a:prstGeom prst="roundRect">
            <a:avLst>
              <a:gd name="adj" fmla="val 2553"/>
            </a:avLst>
          </a:prstGeom>
          <a:solidFill>
            <a:srgbClr val="F9FAFC"/>
          </a:solidFill>
          <a:ln w="12700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8"/>
          <p:cNvSpPr/>
          <p:nvPr/>
        </p:nvSpPr>
        <p:spPr>
          <a:xfrm>
            <a:off x="4507920" y="182880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FBE4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9"/>
          <p:cNvSpPr/>
          <p:nvPr/>
        </p:nvSpPr>
        <p:spPr>
          <a:xfrm>
            <a:off x="4507920" y="1828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0"/>
          <p:cNvSpPr/>
          <p:nvPr/>
        </p:nvSpPr>
        <p:spPr>
          <a:xfrm>
            <a:off x="4507920" y="2377440"/>
            <a:ext cx="3154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Open Circuit Voltage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1"/>
          <p:cNvSpPr/>
          <p:nvPr/>
        </p:nvSpPr>
        <p:spPr>
          <a:xfrm>
            <a:off x="4507920" y="28346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Pros: </a:t>
            </a:r>
            <a:r>
              <a:rPr lang="en-US" sz="10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Extremely accurate at equilibrium. </a:t>
            </a: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050" dirty="0">
              <a:solidFill>
                <a:srgbClr val="555B63"/>
              </a:solidFill>
              <a:latin typeface="Poppins"/>
              <a:ea typeface="Poppins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Cons: </a:t>
            </a:r>
            <a:r>
              <a:rPr lang="en-US" sz="10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Unusable in real-time EV driving; requires hours of resting time for voltage stabilization.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2"/>
          <p:cNvSpPr/>
          <p:nvPr/>
        </p:nvSpPr>
        <p:spPr>
          <a:xfrm>
            <a:off x="8122860" y="1600199"/>
            <a:ext cx="3611520" cy="2555631"/>
          </a:xfrm>
          <a:prstGeom prst="roundRect">
            <a:avLst>
              <a:gd name="adj" fmla="val 2553"/>
            </a:avLst>
          </a:prstGeom>
          <a:solidFill>
            <a:srgbClr val="F9FAFC"/>
          </a:solidFill>
          <a:ln w="12700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3"/>
          <p:cNvSpPr/>
          <p:nvPr/>
        </p:nvSpPr>
        <p:spPr>
          <a:xfrm>
            <a:off x="8375760" y="182880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FBE4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4"/>
          <p:cNvSpPr/>
          <p:nvPr/>
        </p:nvSpPr>
        <p:spPr>
          <a:xfrm>
            <a:off x="8375760" y="1828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5"/>
          <p:cNvSpPr/>
          <p:nvPr/>
        </p:nvSpPr>
        <p:spPr>
          <a:xfrm>
            <a:off x="8375760" y="2377440"/>
            <a:ext cx="3154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Machine Learning (ANN / Regression)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6"/>
          <p:cNvSpPr/>
          <p:nvPr/>
        </p:nvSpPr>
        <p:spPr>
          <a:xfrm>
            <a:off x="8282880" y="283464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Pros: </a:t>
            </a:r>
            <a:r>
              <a:rPr lang="en-US" sz="10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Learns the non-linear voltage-to-SOC mapping directly from data and adapts well to aging. </a:t>
            </a: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050" b="1" u="none" strike="noStrike" dirty="0">
              <a:solidFill>
                <a:srgbClr val="44494F"/>
              </a:solidFill>
              <a:effectLst/>
              <a:uFillTx/>
              <a:latin typeface="Poppins"/>
              <a:ea typeface="Poppins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Cons: </a:t>
            </a:r>
            <a:r>
              <a:rPr lang="en-US" sz="10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Needs a labeled dataset and offline training before deployment.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7"/>
          <p:cNvSpPr/>
          <p:nvPr/>
        </p:nvSpPr>
        <p:spPr>
          <a:xfrm>
            <a:off x="11551680" y="64008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Image 0" descr="/home/claude/assets/gradient_bar.png"/>
          <p:cNvPicPr/>
          <p:nvPr/>
        </p:nvPicPr>
        <p:blipFill>
          <a:blip r:embed="rId3"/>
          <a:stretch/>
        </p:blipFill>
        <p:spPr>
          <a:xfrm>
            <a:off x="0" y="0"/>
            <a:ext cx="12191400" cy="7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Image 1" descr="/home/claude/assets/logo.png"/>
          <p:cNvPicPr/>
          <p:nvPr/>
        </p:nvPicPr>
        <p:blipFill>
          <a:blip r:embed="rId4"/>
          <a:stretch/>
        </p:blipFill>
        <p:spPr>
          <a:xfrm>
            <a:off x="9860040" y="201240"/>
            <a:ext cx="2102760" cy="60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0"/>
          <p:cNvSpPr/>
          <p:nvPr/>
        </p:nvSpPr>
        <p:spPr>
          <a:xfrm>
            <a:off x="411480" y="68580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Project Objective  </a:t>
            </a:r>
            <a:r>
              <a:rPr lang="en-US" sz="26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Slide 05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"/>
          <p:cNvSpPr/>
          <p:nvPr/>
        </p:nvSpPr>
        <p:spPr>
          <a:xfrm>
            <a:off x="411480" y="1298160"/>
            <a:ext cx="11368440" cy="360"/>
          </a:xfrm>
          <a:prstGeom prst="line">
            <a:avLst/>
          </a:prstGeom>
          <a:ln w="12700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411480" y="1508760"/>
            <a:ext cx="11365560" cy="1417320"/>
          </a:xfrm>
          <a:prstGeom prst="roundRect">
            <a:avLst>
              <a:gd name="adj" fmla="val 5217"/>
            </a:avLst>
          </a:prstGeom>
          <a:solidFill>
            <a:srgbClr val="FDF1F4"/>
          </a:solidFill>
          <a:ln w="12700">
            <a:solidFill>
              <a:srgbClr val="F3D6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685800" y="1645920"/>
            <a:ext cx="10835280" cy="109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200" b="1" u="none" strike="noStrike" dirty="0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PRIMARY OBJECTIVE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To design and implement a digital twin of a low-cost, real-time, ESP32-based battery monitoring system that uses a Machine Learning model to estimate State of Charge and displays live voltage, charge percentage, and charging status on a web dashboard.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411480" y="30632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Sub-Objectives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411480" y="3429000"/>
            <a:ext cx="11365560" cy="292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25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Dataset Preparation: </a:t>
            </a:r>
            <a:r>
              <a:rPr lang="en-US" sz="125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Average the NASA charge and discharge files to a 5 s grid and derive coulomb-counting SOC labels for the ML model.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Model Development: </a:t>
            </a:r>
            <a:r>
              <a:rPr lang="en-US" sz="125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Train and evaluate an MLP (3-16-1) in Python to map voltage, current, and smoothed voltage to SOC.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Virtual ESP32 &amp; Web Dashboard Integration: </a:t>
            </a:r>
            <a:r>
              <a:rPr lang="en-US" sz="125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Run the model in a virtual ESP32 with ADC noise and a current offset, and build a real-time web dashboard with smooth animations for SOC and charging status.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Benchmarking on Held-Out Cycles: </a:t>
            </a:r>
            <a:r>
              <a:rPr lang="en-US" sz="125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Evaluate SOC estimation accuracy on held-out NASA charge and discharge cycles against the coulomb-counting reference.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11551680" y="64008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Image 0" descr="/home/claude/assets/gradient_bar.png"/>
          <p:cNvPicPr/>
          <p:nvPr/>
        </p:nvPicPr>
        <p:blipFill>
          <a:blip r:embed="rId3"/>
          <a:stretch/>
        </p:blipFill>
        <p:spPr>
          <a:xfrm>
            <a:off x="0" y="0"/>
            <a:ext cx="12191400" cy="7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Image 1" descr="/home/claude/assets/logo.png"/>
          <p:cNvPicPr/>
          <p:nvPr/>
        </p:nvPicPr>
        <p:blipFill>
          <a:blip r:embed="rId4"/>
          <a:stretch/>
        </p:blipFill>
        <p:spPr>
          <a:xfrm>
            <a:off x="9860040" y="201240"/>
            <a:ext cx="2102760" cy="60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0"/>
          <p:cNvSpPr/>
          <p:nvPr/>
        </p:nvSpPr>
        <p:spPr>
          <a:xfrm>
            <a:off x="411480" y="68580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Methodology  </a:t>
            </a:r>
            <a:r>
              <a:rPr lang="en-US" sz="26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Slide 06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"/>
          <p:cNvSpPr/>
          <p:nvPr/>
        </p:nvSpPr>
        <p:spPr>
          <a:xfrm>
            <a:off x="411480" y="1298160"/>
            <a:ext cx="11368440" cy="360"/>
          </a:xfrm>
          <a:prstGeom prst="line">
            <a:avLst/>
          </a:prstGeom>
          <a:ln w="12700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"/>
          <p:cNvSpPr/>
          <p:nvPr/>
        </p:nvSpPr>
        <p:spPr>
          <a:xfrm>
            <a:off x="411480" y="1554480"/>
            <a:ext cx="3618360" cy="2331360"/>
          </a:xfrm>
          <a:prstGeom prst="roundRect">
            <a:avLst>
              <a:gd name="adj" fmla="val 2353"/>
            </a:avLst>
          </a:prstGeom>
          <a:solidFill>
            <a:srgbClr val="F9FAFC"/>
          </a:solidFill>
          <a:ln w="12700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612720" y="171900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7C9D1"/>
                </a:solidFill>
                <a:effectLst/>
                <a:uFillTx/>
                <a:latin typeface="Poppins"/>
                <a:ea typeface="Poppins"/>
              </a:rPr>
              <a:t>01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4"/>
          <p:cNvSpPr/>
          <p:nvPr/>
        </p:nvSpPr>
        <p:spPr>
          <a:xfrm>
            <a:off x="640080" y="2212920"/>
            <a:ext cx="3161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NASA Data Preparation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640080" y="2724840"/>
            <a:ext cx="3161160" cy="97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Load the 60 NASA charge/discharge CSV files, average the four cell voltages (Vbat1-4), and resample to a 5 s grid.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6"/>
          <p:cNvSpPr/>
          <p:nvPr/>
        </p:nvSpPr>
        <p:spPr>
          <a:xfrm>
            <a:off x="4286520" y="1554480"/>
            <a:ext cx="3618360" cy="2331360"/>
          </a:xfrm>
          <a:prstGeom prst="roundRect">
            <a:avLst>
              <a:gd name="adj" fmla="val 2353"/>
            </a:avLst>
          </a:prstGeom>
          <a:solidFill>
            <a:srgbClr val="F9FAFC"/>
          </a:solidFill>
          <a:ln w="12700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7"/>
          <p:cNvSpPr/>
          <p:nvPr/>
        </p:nvSpPr>
        <p:spPr>
          <a:xfrm>
            <a:off x="4487400" y="171900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7C9D1"/>
                </a:solidFill>
                <a:effectLst/>
                <a:uFillTx/>
                <a:latin typeface="Poppins"/>
                <a:ea typeface="Poppins"/>
              </a:rPr>
              <a:t>02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8"/>
          <p:cNvSpPr/>
          <p:nvPr/>
        </p:nvSpPr>
        <p:spPr>
          <a:xfrm>
            <a:off x="4515120" y="2212920"/>
            <a:ext cx="3161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Preprocessing &amp; Feature Engineering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9"/>
          <p:cNvSpPr/>
          <p:nvPr/>
        </p:nvSpPr>
        <p:spPr>
          <a:xfrm>
            <a:off x="4515120" y="2724840"/>
            <a:ext cx="3161160" cy="97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Derive coulomb-counting SOC labels per cycle; build inputs: voltage, current (discharge positive), and 60 s smoothed voltage.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0"/>
          <p:cNvSpPr/>
          <p:nvPr/>
        </p:nvSpPr>
        <p:spPr>
          <a:xfrm>
            <a:off x="8161200" y="1554480"/>
            <a:ext cx="3618360" cy="2331360"/>
          </a:xfrm>
          <a:prstGeom prst="roundRect">
            <a:avLst>
              <a:gd name="adj" fmla="val 2353"/>
            </a:avLst>
          </a:prstGeom>
          <a:solidFill>
            <a:srgbClr val="F9FAFC"/>
          </a:solidFill>
          <a:ln w="12700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1"/>
          <p:cNvSpPr/>
          <p:nvPr/>
        </p:nvSpPr>
        <p:spPr>
          <a:xfrm>
            <a:off x="8362440" y="171900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7C9D1"/>
                </a:solidFill>
                <a:effectLst/>
                <a:uFillTx/>
                <a:latin typeface="Poppins"/>
                <a:ea typeface="Poppins"/>
              </a:rPr>
              <a:t>03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8389800" y="2212920"/>
            <a:ext cx="3161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Model Training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3"/>
          <p:cNvSpPr/>
          <p:nvPr/>
        </p:nvSpPr>
        <p:spPr>
          <a:xfrm>
            <a:off x="8389800" y="2724840"/>
            <a:ext cx="3161160" cy="97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Train a 3-16-1 tanh MLP offline in Python on 53 files with noise augmentation (302,692 samples); hold out 7 files for testing.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4"/>
          <p:cNvSpPr/>
          <p:nvPr/>
        </p:nvSpPr>
        <p:spPr>
          <a:xfrm>
            <a:off x="411480" y="4142160"/>
            <a:ext cx="3618360" cy="2331360"/>
          </a:xfrm>
          <a:prstGeom prst="roundRect">
            <a:avLst>
              <a:gd name="adj" fmla="val 2353"/>
            </a:avLst>
          </a:prstGeom>
          <a:solidFill>
            <a:srgbClr val="F9FAFC"/>
          </a:solidFill>
          <a:ln w="12700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5"/>
          <p:cNvSpPr/>
          <p:nvPr/>
        </p:nvSpPr>
        <p:spPr>
          <a:xfrm>
            <a:off x="612720" y="430668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7C9D1"/>
                </a:solidFill>
                <a:effectLst/>
                <a:uFillTx/>
                <a:latin typeface="Poppins"/>
                <a:ea typeface="Poppins"/>
              </a:rPr>
              <a:t>04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6"/>
          <p:cNvSpPr/>
          <p:nvPr/>
        </p:nvSpPr>
        <p:spPr>
          <a:xfrm>
            <a:off x="640080" y="4800600"/>
            <a:ext cx="3161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Virtual ESP32 Inference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7"/>
          <p:cNvSpPr/>
          <p:nvPr/>
        </p:nvSpPr>
        <p:spPr>
          <a:xfrm>
            <a:off x="640080" y="5312520"/>
            <a:ext cx="3161160" cy="97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Replay the cell signals through a virtual ESP32 (input divided by 2, 12-bit ADC, 5 mV noise, 30 mA offset) and run the model per sample.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8"/>
          <p:cNvSpPr/>
          <p:nvPr/>
        </p:nvSpPr>
        <p:spPr>
          <a:xfrm>
            <a:off x="4286520" y="4142160"/>
            <a:ext cx="3618360" cy="2331360"/>
          </a:xfrm>
          <a:prstGeom prst="roundRect">
            <a:avLst>
              <a:gd name="adj" fmla="val 2353"/>
            </a:avLst>
          </a:prstGeom>
          <a:solidFill>
            <a:srgbClr val="F9FAFC"/>
          </a:solidFill>
          <a:ln w="12700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9"/>
          <p:cNvSpPr/>
          <p:nvPr/>
        </p:nvSpPr>
        <p:spPr>
          <a:xfrm>
            <a:off x="4487400" y="430668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7C9D1"/>
                </a:solidFill>
                <a:effectLst/>
                <a:uFillTx/>
                <a:latin typeface="Poppins"/>
                <a:ea typeface="Poppins"/>
              </a:rPr>
              <a:t>05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0"/>
          <p:cNvSpPr/>
          <p:nvPr/>
        </p:nvSpPr>
        <p:spPr>
          <a:xfrm>
            <a:off x="4515120" y="4800600"/>
            <a:ext cx="3161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Web Dashboard Integration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1"/>
          <p:cNvSpPr/>
          <p:nvPr/>
        </p:nvSpPr>
        <p:spPr>
          <a:xfrm>
            <a:off x="4515120" y="5312520"/>
            <a:ext cx="3161160" cy="97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Show the SOC ring, voltage, current, charging status, CHRG/STDBY LEDs, and the Wi-Fi payload live on a web dashboard.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2"/>
          <p:cNvSpPr/>
          <p:nvPr/>
        </p:nvSpPr>
        <p:spPr>
          <a:xfrm>
            <a:off x="8161200" y="4142160"/>
            <a:ext cx="3618360" cy="2331360"/>
          </a:xfrm>
          <a:prstGeom prst="roundRect">
            <a:avLst>
              <a:gd name="adj" fmla="val 2353"/>
            </a:avLst>
          </a:prstGeom>
          <a:solidFill>
            <a:srgbClr val="F9FAFC"/>
          </a:solidFill>
          <a:ln w="12700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3"/>
          <p:cNvSpPr/>
          <p:nvPr/>
        </p:nvSpPr>
        <p:spPr>
          <a:xfrm>
            <a:off x="8362440" y="430668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7C9D1"/>
                </a:solidFill>
                <a:effectLst/>
                <a:uFillTx/>
                <a:latin typeface="Poppins"/>
                <a:ea typeface="Poppins"/>
              </a:rPr>
              <a:t>06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4"/>
          <p:cNvSpPr/>
          <p:nvPr/>
        </p:nvSpPr>
        <p:spPr>
          <a:xfrm>
            <a:off x="8389800" y="4800600"/>
            <a:ext cx="3161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Validation &amp; Benchmarking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5"/>
          <p:cNvSpPr/>
          <p:nvPr/>
        </p:nvSpPr>
        <p:spPr>
          <a:xfrm>
            <a:off x="8389800" y="5312520"/>
            <a:ext cx="3161160" cy="97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Compare ML SOC with the coulomb-counting reference on held-out cycles; report mean, RMSE, and max error against the 2-3% target.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6"/>
          <p:cNvSpPr/>
          <p:nvPr/>
        </p:nvSpPr>
        <p:spPr>
          <a:xfrm>
            <a:off x="11551680" y="64008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Image 0" descr="/home/claude/assets/gradient_bar.png"/>
          <p:cNvPicPr/>
          <p:nvPr/>
        </p:nvPicPr>
        <p:blipFill>
          <a:blip r:embed="rId3"/>
          <a:stretch/>
        </p:blipFill>
        <p:spPr>
          <a:xfrm>
            <a:off x="0" y="0"/>
            <a:ext cx="12191400" cy="7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Image 1" descr="/home/claude/assets/logo.png"/>
          <p:cNvPicPr/>
          <p:nvPr/>
        </p:nvPicPr>
        <p:blipFill>
          <a:blip r:embed="rId4"/>
          <a:stretch/>
        </p:blipFill>
        <p:spPr>
          <a:xfrm>
            <a:off x="9860040" y="201240"/>
            <a:ext cx="2102760" cy="60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0"/>
          <p:cNvSpPr/>
          <p:nvPr/>
        </p:nvSpPr>
        <p:spPr>
          <a:xfrm>
            <a:off x="411480" y="68580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Expected Outcome &amp; Deliverables  </a:t>
            </a:r>
            <a:r>
              <a:rPr lang="en-US" sz="26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Slide 07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"/>
          <p:cNvSpPr/>
          <p:nvPr/>
        </p:nvSpPr>
        <p:spPr>
          <a:xfrm>
            <a:off x="411480" y="1298160"/>
            <a:ext cx="11368440" cy="360"/>
          </a:xfrm>
          <a:prstGeom prst="line">
            <a:avLst/>
          </a:prstGeom>
          <a:ln w="12700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"/>
          <p:cNvSpPr/>
          <p:nvPr/>
        </p:nvSpPr>
        <p:spPr>
          <a:xfrm>
            <a:off x="411480" y="1794960"/>
            <a:ext cx="3611520" cy="2148480"/>
          </a:xfrm>
          <a:prstGeom prst="roundRect">
            <a:avLst>
              <a:gd name="adj" fmla="val 2553"/>
            </a:avLst>
          </a:prstGeom>
          <a:solidFill>
            <a:srgbClr val="F9FAFC"/>
          </a:solidFill>
          <a:ln w="12700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3"/>
          <p:cNvSpPr/>
          <p:nvPr/>
        </p:nvSpPr>
        <p:spPr>
          <a:xfrm>
            <a:off x="640080" y="193860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FBE4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640080" y="1926876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🧩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640080" y="2423160"/>
            <a:ext cx="3154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Digital Twin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640080" y="28346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A working digital twin of the ESP32 + TP4056 + 18650 chain, driven by real NASA data, with an ML-based SOC model and a custom real-time web dashboard.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7"/>
          <p:cNvSpPr/>
          <p:nvPr/>
        </p:nvSpPr>
        <p:spPr>
          <a:xfrm>
            <a:off x="4251600" y="1794960"/>
            <a:ext cx="3611520" cy="2148480"/>
          </a:xfrm>
          <a:prstGeom prst="roundRect">
            <a:avLst>
              <a:gd name="adj" fmla="val 2553"/>
            </a:avLst>
          </a:prstGeom>
          <a:solidFill>
            <a:srgbClr val="F9FAFC"/>
          </a:solidFill>
          <a:ln w="12700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8"/>
          <p:cNvSpPr/>
          <p:nvPr/>
        </p:nvSpPr>
        <p:spPr>
          <a:xfrm>
            <a:off x="4507920" y="1941111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FBE4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4507920" y="1932738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📈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0"/>
          <p:cNvSpPr/>
          <p:nvPr/>
        </p:nvSpPr>
        <p:spPr>
          <a:xfrm>
            <a:off x="4507920" y="2423160"/>
            <a:ext cx="3154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Target Metrics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1"/>
          <p:cNvSpPr/>
          <p:nvPr/>
        </p:nvSpPr>
        <p:spPr>
          <a:xfrm>
            <a:off x="4507920" y="28346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ML model SOC estimation error under 2-3% on held-out charge and discharge cycles; smooth, low-latency updates on the live web dashboard.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2"/>
          <p:cNvSpPr/>
          <p:nvPr/>
        </p:nvSpPr>
        <p:spPr>
          <a:xfrm>
            <a:off x="8091720" y="1794960"/>
            <a:ext cx="3611520" cy="2148480"/>
          </a:xfrm>
          <a:prstGeom prst="roundRect">
            <a:avLst>
              <a:gd name="adj" fmla="val 2553"/>
            </a:avLst>
          </a:prstGeom>
          <a:solidFill>
            <a:srgbClr val="F9FAFC"/>
          </a:solidFill>
          <a:ln w="12700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3"/>
          <p:cNvSpPr/>
          <p:nvPr/>
        </p:nvSpPr>
        <p:spPr>
          <a:xfrm>
            <a:off x="8375760" y="1938600"/>
            <a:ext cx="456840" cy="456840"/>
          </a:xfrm>
          <a:prstGeom prst="roundRect">
            <a:avLst>
              <a:gd name="adj" fmla="val 20000"/>
            </a:avLst>
          </a:prstGeom>
          <a:solidFill>
            <a:srgbClr val="FBE4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4"/>
          <p:cNvSpPr/>
          <p:nvPr/>
        </p:nvSpPr>
        <p:spPr>
          <a:xfrm>
            <a:off x="8375760" y="19386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🖥️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5"/>
          <p:cNvSpPr/>
          <p:nvPr/>
        </p:nvSpPr>
        <p:spPr>
          <a:xfrm>
            <a:off x="8375760" y="2423160"/>
            <a:ext cx="3154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Real-Time Telemetry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6"/>
          <p:cNvSpPr/>
          <p:nvPr/>
        </p:nvSpPr>
        <p:spPr>
          <a:xfrm>
            <a:off x="8375760" y="28346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Live web dashboard showing voltage, charge percentage, and charging status (Charging / Discharging / Charged-Standby) with smooth animations.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7"/>
          <p:cNvSpPr/>
          <p:nvPr/>
        </p:nvSpPr>
        <p:spPr>
          <a:xfrm>
            <a:off x="11551680" y="64008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Image 0" descr="/home/claude/assets/gradient_bar.png"/>
          <p:cNvPicPr/>
          <p:nvPr/>
        </p:nvPicPr>
        <p:blipFill>
          <a:blip r:embed="rId3"/>
          <a:stretch/>
        </p:blipFill>
        <p:spPr>
          <a:xfrm>
            <a:off x="0" y="0"/>
            <a:ext cx="12191400" cy="7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Image 1" descr="/home/claude/assets/logo.png"/>
          <p:cNvPicPr/>
          <p:nvPr/>
        </p:nvPicPr>
        <p:blipFill>
          <a:blip r:embed="rId4"/>
          <a:stretch/>
        </p:blipFill>
        <p:spPr>
          <a:xfrm>
            <a:off x="9860040" y="201240"/>
            <a:ext cx="2102760" cy="60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0"/>
          <p:cNvSpPr/>
          <p:nvPr/>
        </p:nvSpPr>
        <p:spPr>
          <a:xfrm>
            <a:off x="411480" y="68580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System Overview &amp; Block Diagram  </a:t>
            </a:r>
            <a:r>
              <a:rPr lang="en-US" sz="26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Slide 08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"/>
          <p:cNvSpPr/>
          <p:nvPr/>
        </p:nvSpPr>
        <p:spPr>
          <a:xfrm>
            <a:off x="411480" y="1298160"/>
            <a:ext cx="11368440" cy="360"/>
          </a:xfrm>
          <a:prstGeom prst="line">
            <a:avLst/>
          </a:prstGeom>
          <a:ln w="12700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411480" y="1508760"/>
            <a:ext cx="6309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Digital Twin Block Architecture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411480" y="1783080"/>
            <a:ext cx="6309000" cy="28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10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Data Source: </a:t>
            </a:r>
            <a:r>
              <a:rPr lang="en-US" sz="110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Real NASA Li-ion charge and discharge data stands in for the 18650 cell.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Voltage Sensing: </a:t>
            </a:r>
            <a:r>
              <a:rPr lang="en-US" sz="110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A virtual divider halves the cell voltage; the 12-bit ADC adds 5 mV noise on the pin.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Processing Unit: </a:t>
            </a:r>
            <a:r>
              <a:rPr lang="en-US" sz="110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A virtual ESP32 adds a 30 mA current offset and runs the ML model for SOC.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Charge Status: </a:t>
            </a:r>
            <a:r>
              <a:rPr lang="en-US" sz="110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A virtual TP4056 reports Charging / Discharging / Charged-Standby with CHRG and STDBY LEDs.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Web Dashboard: </a:t>
            </a:r>
            <a:r>
              <a:rPr lang="en-US" sz="110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Animated SOC ring, voltage, current, status, plots, and the Wi-Fi payload.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4"/>
          <p:cNvSpPr/>
          <p:nvPr/>
        </p:nvSpPr>
        <p:spPr>
          <a:xfrm>
            <a:off x="411480" y="4800600"/>
            <a:ext cx="6309000" cy="1691280"/>
          </a:xfrm>
          <a:prstGeom prst="roundRect">
            <a:avLst>
              <a:gd name="adj" fmla="val 3243"/>
            </a:avLst>
          </a:prstGeom>
          <a:solidFill>
            <a:srgbClr val="F9FAFC"/>
          </a:solidFill>
          <a:ln w="12700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5"/>
          <p:cNvSpPr/>
          <p:nvPr/>
        </p:nvSpPr>
        <p:spPr>
          <a:xfrm>
            <a:off x="576000" y="4928760"/>
            <a:ext cx="1042200" cy="42012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8318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576000" y="4928760"/>
            <a:ext cx="10422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800" b="1" u="none" strike="noStrike" dirty="0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NASA cell data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real Li-ion cycles</a:t>
            </a:r>
            <a:endParaRPr lang="en-US" sz="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7"/>
          <p:cNvSpPr/>
          <p:nvPr/>
        </p:nvSpPr>
        <p:spPr>
          <a:xfrm>
            <a:off x="1618560" y="5074920"/>
            <a:ext cx="123120" cy="12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5A8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8"/>
          <p:cNvSpPr/>
          <p:nvPr/>
        </p:nvSpPr>
        <p:spPr>
          <a:xfrm>
            <a:off x="1742040" y="4928760"/>
            <a:ext cx="1042200" cy="42012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8318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1742040" y="4928760"/>
            <a:ext cx="10422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Voltage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divider (÷2)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0"/>
          <p:cNvSpPr/>
          <p:nvPr/>
        </p:nvSpPr>
        <p:spPr>
          <a:xfrm>
            <a:off x="2784240" y="5074920"/>
            <a:ext cx="123120" cy="12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5A8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1"/>
          <p:cNvSpPr/>
          <p:nvPr/>
        </p:nvSpPr>
        <p:spPr>
          <a:xfrm>
            <a:off x="2907720" y="4928760"/>
            <a:ext cx="1042200" cy="42012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8318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2"/>
          <p:cNvSpPr/>
          <p:nvPr/>
        </p:nvSpPr>
        <p:spPr>
          <a:xfrm>
            <a:off x="2907720" y="4928760"/>
            <a:ext cx="10422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800" b="1" u="none" strike="noStrike" dirty="0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Virtual ESP32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ADC + ML model</a:t>
            </a:r>
            <a:endParaRPr lang="en-US" sz="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3"/>
          <p:cNvSpPr/>
          <p:nvPr/>
        </p:nvSpPr>
        <p:spPr>
          <a:xfrm>
            <a:off x="3950280" y="5074920"/>
            <a:ext cx="123120" cy="12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5A8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4"/>
          <p:cNvSpPr/>
          <p:nvPr/>
        </p:nvSpPr>
        <p:spPr>
          <a:xfrm>
            <a:off x="4073760" y="4928760"/>
            <a:ext cx="1042200" cy="42012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8318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4073760" y="4928760"/>
            <a:ext cx="10422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Wi-Fi payload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6"/>
          <p:cNvSpPr/>
          <p:nvPr/>
        </p:nvSpPr>
        <p:spPr>
          <a:xfrm>
            <a:off x="5115960" y="5074920"/>
            <a:ext cx="123120" cy="12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5A8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7"/>
          <p:cNvSpPr/>
          <p:nvPr/>
        </p:nvSpPr>
        <p:spPr>
          <a:xfrm>
            <a:off x="5239440" y="4928760"/>
            <a:ext cx="1042200" cy="42012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8318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8"/>
          <p:cNvSpPr/>
          <p:nvPr/>
        </p:nvSpPr>
        <p:spPr>
          <a:xfrm>
            <a:off x="5239440" y="4928760"/>
            <a:ext cx="10422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Web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Dashboard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9"/>
          <p:cNvSpPr/>
          <p:nvPr/>
        </p:nvSpPr>
        <p:spPr>
          <a:xfrm>
            <a:off x="2907720" y="5623560"/>
            <a:ext cx="1042200" cy="42012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8318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0"/>
          <p:cNvSpPr/>
          <p:nvPr/>
        </p:nvSpPr>
        <p:spPr>
          <a:xfrm>
            <a:off x="2907720" y="5623560"/>
            <a:ext cx="10422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800" b="1" u="none" strike="noStrike" dirty="0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Virtual TP4056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charge status</a:t>
            </a:r>
            <a:endParaRPr lang="en-US" sz="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1"/>
          <p:cNvSpPr/>
          <p:nvPr/>
        </p:nvSpPr>
        <p:spPr>
          <a:xfrm>
            <a:off x="3364920" y="5422320"/>
            <a:ext cx="127800" cy="20088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D5A8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2"/>
          <p:cNvSpPr/>
          <p:nvPr/>
        </p:nvSpPr>
        <p:spPr>
          <a:xfrm>
            <a:off x="576000" y="6099120"/>
            <a:ext cx="5979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Signal / data flow: solid boxes = virtual hardware or software components  ·  arrows = data path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0" name="Table 0"/>
          <p:cNvGraphicFramePr/>
          <p:nvPr/>
        </p:nvGraphicFramePr>
        <p:xfrm>
          <a:off x="6995160" y="1508760"/>
          <a:ext cx="4800600" cy="19656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Component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83183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Specification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831838"/>
                    </a:solidFill>
                  </a:tcPr>
                </a:tc>
              </a:tr>
              <a:tr h="327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Data Source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NASA Li-ion cycling data (60 CSV files)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7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Virtual ESP32 ADC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12-bit, input divided by 2, 5 mV noise, 30 mA offset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7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Virtual TP4056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Charging / Discharging / Charged-Standby, CHRG and STDBY LEDs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7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ML Model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MLP 3-16-1 (tanh), about 7 µs per sample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76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Dashboard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SOC ring, voltage, current, plots, Wi-Fi payload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37800" marB="3780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1" name="Text 25"/>
          <p:cNvSpPr/>
          <p:nvPr/>
        </p:nvSpPr>
        <p:spPr>
          <a:xfrm>
            <a:off x="11551680" y="64008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4"/>
          <p:cNvSpPr/>
          <p:nvPr/>
        </p:nvSpPr>
        <p:spPr>
          <a:xfrm>
            <a:off x="6995160" y="3931920"/>
            <a:ext cx="4800600" cy="2377440"/>
          </a:xfrm>
          <a:prstGeom prst="roundRect">
            <a:avLst>
              <a:gd name="adj" fmla="val 3243"/>
            </a:avLst>
          </a:prstGeom>
          <a:solidFill>
            <a:srgbClr val="F9FAFC"/>
          </a:solidFill>
          <a:ln w="12700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7178040" y="4069080"/>
            <a:ext cx="448056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Wi-Fi Payload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"/>
          <p:cNvSpPr/>
          <p:nvPr/>
        </p:nvSpPr>
        <p:spPr>
          <a:xfrm>
            <a:off x="7178040" y="4480560"/>
            <a:ext cx="4480560" cy="17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10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v: </a:t>
            </a:r>
            <a:r>
              <a:rPr lang="en-US" sz="110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cell voltage (V)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i: </a:t>
            </a:r>
            <a:r>
              <a:rPr lang="en-US" sz="110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current (A)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soc: </a:t>
            </a:r>
            <a:r>
              <a:rPr lang="en-US" sz="110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ML-estimated SOC (%)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status: </a:t>
            </a:r>
            <a:r>
              <a:rPr lang="en-US" sz="110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charging state streamed to the dashboard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0" descr="/home/claude/assets/gradient_bar.png"/>
          <p:cNvPicPr/>
          <p:nvPr/>
        </p:nvPicPr>
        <p:blipFill>
          <a:blip r:embed="rId3"/>
          <a:stretch/>
        </p:blipFill>
        <p:spPr>
          <a:xfrm>
            <a:off x="0" y="0"/>
            <a:ext cx="12191400" cy="7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Image 1" descr="/home/claude/assets/logo.png"/>
          <p:cNvPicPr/>
          <p:nvPr/>
        </p:nvPicPr>
        <p:blipFill>
          <a:blip r:embed="rId4"/>
          <a:stretch/>
        </p:blipFill>
        <p:spPr>
          <a:xfrm>
            <a:off x="9860040" y="201240"/>
            <a:ext cx="2102760" cy="60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0"/>
          <p:cNvSpPr/>
          <p:nvPr/>
        </p:nvSpPr>
        <p:spPr>
          <a:xfrm>
            <a:off x="411480" y="68580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Dataset &amp; Data Preparation</a:t>
            </a:r>
            <a:r>
              <a:rPr lang="en-US" sz="26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  Slide 09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411480" y="1298160"/>
            <a:ext cx="11368440" cy="360"/>
          </a:xfrm>
          <a:prstGeom prst="line">
            <a:avLst/>
          </a:prstGeom>
          <a:ln w="12700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5" name="Table 0"/>
          <p:cNvGraphicFramePr/>
          <p:nvPr/>
        </p:nvGraphicFramePr>
        <p:xfrm>
          <a:off x="411480" y="1508760"/>
          <a:ext cx="11365992" cy="2505456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Type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83183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Files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83183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Rate (A)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83183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Duration (s)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83183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Capacity (Ah)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8318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831838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Discharge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01-02  (2 files)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0.5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20622-21138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2.59-2.65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831838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Discharge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03-11  (9 files)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9572-10503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2.52-2.77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831838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Discharge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12-21  (10 files)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4486-4964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2.34-2.62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831838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Discharge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22-30  (9 files)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3072-3378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2.29-2.56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831838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Charge (CC then CV)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01-10  (10 files)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10614-13530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2.74-3.02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831838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Charge (CC then CV)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11-21  (11 files)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6125-7600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2.64-2.86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831838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Charge (CC then CV)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22-30  (9 files)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4374-5252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2.45-2.72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" name="Text 2"/>
          <p:cNvSpPr/>
          <p:nvPr/>
        </p:nvSpPr>
        <p:spPr>
          <a:xfrm>
            <a:off x="11551680" y="64008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"/>
          <p:cNvSpPr/>
          <p:nvPr/>
        </p:nvSpPr>
        <p:spPr>
          <a:xfrm>
            <a:off x="411480" y="4434840"/>
            <a:ext cx="5577840" cy="1965960"/>
          </a:xfrm>
          <a:prstGeom prst="roundRect">
            <a:avLst>
              <a:gd name="adj" fmla="val 2553"/>
            </a:avLst>
          </a:prstGeom>
          <a:solidFill>
            <a:srgbClr val="F9FAFC"/>
          </a:solidFill>
          <a:ln w="12700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640080" y="4544568"/>
            <a:ext cx="512064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Data Preparation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640080" y="4892040"/>
            <a:ext cx="5120640" cy="14630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Columns: </a:t>
            </a:r>
            <a:r>
              <a:rPr lang="en-US" sz="10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Time; Current; Temperature; Vbat1-4. Cell voltage = mean of Vbat1-4 on a 5 s grid; charge current is sign-flipped (discharge positive).</a:t>
            </a: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050" dirty="0">
              <a:solidFill>
                <a:srgbClr val="555B63"/>
              </a:solidFill>
              <a:latin typeface="Poppins"/>
              <a:ea typeface="Poppins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SOC reference: </a:t>
            </a:r>
            <a:r>
              <a:rPr lang="en-US" sz="10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No SOC column exists, so SOC is coulomb counting normalised to each cycle's own measured capacity (discharge 100% to 0%, charge 0% to 100%).</a:t>
            </a:r>
          </a:p>
        </p:txBody>
      </p:sp>
      <p:sp>
        <p:nvSpPr>
          <p:cNvPr id="57" name="Shape 2"/>
          <p:cNvSpPr/>
          <p:nvPr/>
        </p:nvSpPr>
        <p:spPr>
          <a:xfrm>
            <a:off x="6199632" y="4434840"/>
            <a:ext cx="5577840" cy="1965960"/>
          </a:xfrm>
          <a:prstGeom prst="roundRect">
            <a:avLst>
              <a:gd name="adj" fmla="val 2553"/>
            </a:avLst>
          </a:prstGeom>
          <a:solidFill>
            <a:srgbClr val="F9FAFC"/>
          </a:solidFill>
          <a:ln w="12700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6428232" y="4544568"/>
            <a:ext cx="512064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Train / Test Split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6428232" y="4892040"/>
            <a:ext cx="5120640" cy="14630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Training: </a:t>
            </a:r>
            <a:r>
              <a:rPr lang="en-US" sz="10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53 of 60 files (26 discharge, 27 charge), noise-augmented to 302,692 samples.</a:t>
            </a: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050" dirty="0">
              <a:solidFill>
                <a:srgbClr val="555B63"/>
              </a:solidFill>
              <a:latin typeface="Poppins"/>
              <a:ea typeface="Poppins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Held out: </a:t>
            </a:r>
            <a:r>
              <a:rPr lang="en-US" sz="10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discharge 02 and pairs 10, 20, 30 (7 files).</a:t>
            </a: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050" dirty="0">
              <a:solidFill>
                <a:srgbClr val="555B63"/>
              </a:solidFill>
              <a:latin typeface="Poppins"/>
              <a:ea typeface="Poppins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Source: </a:t>
            </a:r>
            <a:r>
              <a:rPr lang="en-US" sz="10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NASA Ames Prognostics Center of Excellence, Li-ion Battery Aging Datasets (data.nasa.gov).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0" descr="/home/claude/assets/gradient_bar.png"/>
          <p:cNvPicPr/>
          <p:nvPr/>
        </p:nvPicPr>
        <p:blipFill>
          <a:blip r:embed="rId3"/>
          <a:stretch/>
        </p:blipFill>
        <p:spPr>
          <a:xfrm>
            <a:off x="0" y="0"/>
            <a:ext cx="12191400" cy="7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Image 1" descr="/home/claude/assets/logo.png"/>
          <p:cNvPicPr/>
          <p:nvPr/>
        </p:nvPicPr>
        <p:blipFill>
          <a:blip r:embed="rId4"/>
          <a:stretch/>
        </p:blipFill>
        <p:spPr>
          <a:xfrm>
            <a:off x="9860040" y="201240"/>
            <a:ext cx="2102760" cy="60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0"/>
          <p:cNvSpPr/>
          <p:nvPr/>
        </p:nvSpPr>
        <p:spPr>
          <a:xfrm>
            <a:off x="411480" y="68580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Results on Held-Out Cycles</a:t>
            </a:r>
            <a:r>
              <a:rPr lang="en-US" sz="26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  Slide 10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411480" y="1298160"/>
            <a:ext cx="11368440" cy="360"/>
          </a:xfrm>
          <a:prstGeom prst="line">
            <a:avLst/>
          </a:prstGeom>
          <a:ln w="12700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5" name="Table 0"/>
          <p:cNvGraphicFramePr/>
          <p:nvPr/>
        </p:nvGraphicFramePr>
        <p:xfrm>
          <a:off x="411480" y="1463040"/>
          <a:ext cx="11365992" cy="1572768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Cycle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83183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ML mean (%)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83183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ML RMSE (%)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83183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ML max (%)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83183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Coulomb counting mean (%)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8318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831838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 A pair (discharge 10 + charge 10)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1.13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1.46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4.8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1.56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831838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 A pair (discharge 20 + charge 20)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1.16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1.57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4.5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0.90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831838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3 A pair (discharge 30 + charge 30)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2.24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2.83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7.0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0.67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831838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0.5 A discharge only (02)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1.70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1.93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5.0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4494F"/>
                          </a:solidFill>
                          <a:effectLst/>
                          <a:uFillTx/>
                          <a:latin typeface="Poppins"/>
                          <a:ea typeface="Poppins"/>
                        </a:rPr>
                        <a:t>3.11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75960" marB="75960" anchor="ctr">
                    <a:lnL w="9360">
                      <a:solidFill>
                        <a:srgbClr val="EDEFF2"/>
                      </a:solidFill>
                      <a:prstDash val="solid"/>
                    </a:lnL>
                    <a:lnR w="9360">
                      <a:solidFill>
                        <a:srgbClr val="EDEFF2"/>
                      </a:solidFill>
                      <a:prstDash val="solid"/>
                    </a:lnR>
                    <a:lnT w="9360">
                      <a:solidFill>
                        <a:srgbClr val="EDEFF2"/>
                      </a:solidFill>
                      <a:prstDash val="solid"/>
                    </a:lnT>
                    <a:lnB w="9360">
                      <a:solidFill>
                        <a:srgbClr val="ED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" name="Text 2"/>
          <p:cNvSpPr/>
          <p:nvPr/>
        </p:nvSpPr>
        <p:spPr>
          <a:xfrm>
            <a:off x="11551680" y="64008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11480" y="3337560"/>
            <a:ext cx="11338560" cy="27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Error in SOC percentage points </a:t>
            </a:r>
            <a:r>
              <a:rPr lang="en-US" sz="110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vs the coulomb-counting reference, with 5 mV ADC noise and a 30 mA offset. All four cycles meet the 2-3% target.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8" name="Error Chart"/>
          <p:cNvGraphicFramePr>
            <a:graphicFrameLocks noGrp="1"/>
          </p:cNvGraphicFramePr>
          <p:nvPr/>
        </p:nvGraphicFramePr>
        <p:xfrm>
          <a:off x="411480" y="3703320"/>
          <a:ext cx="557784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2" name="Shape 2"/>
          <p:cNvSpPr/>
          <p:nvPr/>
        </p:nvSpPr>
        <p:spPr>
          <a:xfrm>
            <a:off x="6199632" y="3703320"/>
            <a:ext cx="5577840" cy="2697480"/>
          </a:xfrm>
          <a:prstGeom prst="roundRect">
            <a:avLst>
              <a:gd name="adj" fmla="val 2553"/>
            </a:avLst>
          </a:prstGeom>
          <a:solidFill>
            <a:srgbClr val="F9FAFC"/>
          </a:solidFill>
          <a:ln w="12700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6428232" y="3840480"/>
            <a:ext cx="5120640" cy="246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ML vs Coulomb counting: </a:t>
            </a:r>
            <a:r>
              <a:rPr lang="en-US" sz="10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ML has the lower mean error on the 1 A pair and the 0.5 A run (1.70 vs 3.11); Coulomb counting is lower on the 2 A and 3 A pairs.</a:t>
            </a: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050" dirty="0">
              <a:solidFill>
                <a:srgbClr val="555B63"/>
              </a:solidFill>
              <a:latin typeface="Poppins"/>
              <a:ea typeface="Poppins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Fair baseline: </a:t>
            </a:r>
            <a:r>
              <a:rPr lang="en-US" sz="10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Coulomb counting starts from the true SOC, so short runs barely drift.</a:t>
            </a: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050" dirty="0">
              <a:solidFill>
                <a:srgbClr val="555B63"/>
              </a:solidFill>
              <a:latin typeface="Poppins"/>
              <a:ea typeface="Poppins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Generalisation: </a:t>
            </a:r>
            <a:r>
              <a:rPr lang="en-US" sz="10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held-out cycles come from the same cells as training, so this shows generalisation across cycles, not across cells.</a:t>
            </a: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050" dirty="0">
              <a:solidFill>
                <a:srgbClr val="555B63"/>
              </a:solidFill>
              <a:latin typeface="Poppins"/>
              <a:ea typeface="Poppins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Label quality: </a:t>
            </a:r>
            <a:r>
              <a:rPr lang="en-US" sz="10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SOC labels are only as good as the coulomb-counting reference.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0" descr="/home/claude/assets/gradient_bar.png"/>
          <p:cNvPicPr/>
          <p:nvPr/>
        </p:nvPicPr>
        <p:blipFill>
          <a:blip r:embed="rId3"/>
          <a:stretch/>
        </p:blipFill>
        <p:spPr>
          <a:xfrm>
            <a:off x="0" y="0"/>
            <a:ext cx="12191400" cy="7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Image 1" descr="/home/claude/assets/logo.png"/>
          <p:cNvPicPr/>
          <p:nvPr/>
        </p:nvPicPr>
        <p:blipFill>
          <a:blip r:embed="rId4"/>
          <a:stretch/>
        </p:blipFill>
        <p:spPr>
          <a:xfrm>
            <a:off x="9860040" y="201240"/>
            <a:ext cx="2102760" cy="60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0"/>
          <p:cNvSpPr/>
          <p:nvPr/>
        </p:nvSpPr>
        <p:spPr>
          <a:xfrm>
            <a:off x="411480" y="68580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Twin Dashboard Output</a:t>
            </a:r>
            <a:r>
              <a:rPr lang="en-US" sz="26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  Slide 11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411480" y="1298160"/>
            <a:ext cx="11368440" cy="360"/>
          </a:xfrm>
          <a:prstGeom prst="line">
            <a:avLst/>
          </a:prstGeom>
          <a:ln w="12700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11551680" y="64008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Dashboard Screenshot" descr="shot_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08760"/>
            <a:ext cx="5394960" cy="4064798"/>
          </a:xfrm>
          <a:prstGeom prst="rect">
            <a:avLst/>
          </a:prstGeom>
        </p:spPr>
      </p:pic>
      <p:pic>
        <p:nvPicPr>
          <p:cNvPr id="48" name="SOC Plot Screenshot" descr="shot_pl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508760"/>
            <a:ext cx="5650992" cy="2414323"/>
          </a:xfrm>
          <a:prstGeom prst="rect">
            <a:avLst/>
          </a:prstGeom>
        </p:spPr>
      </p:pic>
      <p:sp>
        <p:nvSpPr>
          <p:cNvPr id="49" name="Text 3"/>
          <p:cNvSpPr/>
          <p:nvPr/>
        </p:nvSpPr>
        <p:spPr>
          <a:xfrm>
            <a:off x="411480" y="5664997"/>
            <a:ext cx="5394960" cy="27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/>
            </a:r>
            <a:r>
              <a:rPr lang="en-US" sz="105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Twin dashboard in NASA replay mode (held-out 1 A pair, charging phase).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6126480" y="4014523"/>
            <a:ext cx="5650992" cy="27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/>
            </a:r>
            <a:r>
              <a:rPr lang="en-US" sz="105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SOC vs time and estimation error for the same held-out 1 A pair.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"/>
          <p:cNvSpPr/>
          <p:nvPr/>
        </p:nvSpPr>
        <p:spPr>
          <a:xfrm>
            <a:off x="6126480" y="4297680"/>
            <a:ext cx="5650992" cy="2103120"/>
          </a:xfrm>
          <a:prstGeom prst="roundRect">
            <a:avLst>
              <a:gd name="adj" fmla="val 2553"/>
            </a:avLst>
          </a:prstGeom>
          <a:solidFill>
            <a:srgbClr val="F9FAFC"/>
          </a:solidFill>
          <a:ln w="12700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6355080" y="4407408"/>
            <a:ext cx="5193792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What the Dashboard Shows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6355080" y="4754880"/>
            <a:ext cx="5193792" cy="16001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Live view: </a:t>
            </a:r>
            <a:r>
              <a:rPr lang="en-US" sz="10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SOC ring, voltage, current, status, CHRG/STDBY LEDs, Wi-Fi payload.</a:t>
            </a: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050" dirty="0">
              <a:solidFill>
                <a:srgbClr val="555B63"/>
              </a:solidFill>
              <a:latin typeface="Poppins"/>
              <a:ea typeface="Poppins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Plots: </a:t>
            </a:r>
            <a:r>
              <a:rPr lang="en-US" sz="10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True SOC, ML estimate, and Coulomb counting vs time, plus error.</a:t>
            </a: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050" dirty="0">
              <a:solidFill>
                <a:srgbClr val="555B63"/>
              </a:solidFill>
              <a:latin typeface="Poppins"/>
              <a:ea typeface="Poppins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Metrics: </a:t>
            </a:r>
            <a:r>
              <a:rPr lang="en-US" sz="10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ML and Coulomb-counting error; adjustable ADC noise and offset.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/home/claude/assets/gradient_bar.png"/>
          <p:cNvPicPr/>
          <p:nvPr/>
        </p:nvPicPr>
        <p:blipFill>
          <a:blip r:embed="rId3"/>
          <a:stretch/>
        </p:blipFill>
        <p:spPr>
          <a:xfrm>
            <a:off x="0" y="0"/>
            <a:ext cx="12191400" cy="7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Image 1" descr="/home/claude/assets/logo.png"/>
          <p:cNvPicPr/>
          <p:nvPr/>
        </p:nvPicPr>
        <p:blipFill>
          <a:blip r:embed="rId4"/>
          <a:stretch/>
        </p:blipFill>
        <p:spPr>
          <a:xfrm>
            <a:off x="9860040" y="201240"/>
            <a:ext cx="2102760" cy="60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Text 0"/>
          <p:cNvSpPr/>
          <p:nvPr/>
        </p:nvSpPr>
        <p:spPr>
          <a:xfrm>
            <a:off x="411480" y="68580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Conclusion &amp; Future Scope</a:t>
            </a:r>
            <a:r>
              <a:rPr lang="en-US" sz="26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  Slide 12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411480" y="1298160"/>
            <a:ext cx="11368440" cy="360"/>
          </a:xfrm>
          <a:prstGeom prst="line">
            <a:avLst/>
          </a:prstGeom>
          <a:ln w="12700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411480" y="15087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Conclusion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396600" y="1982732"/>
            <a:ext cx="548604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25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Digital Twin Delivered: </a:t>
            </a:r>
            <a:r>
              <a:rPr lang="en-US" sz="125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A virtual ESP32 + TP4056 + 18650 chain driven by real NASA Li-ion data, with a live web dashboard for charging and discharging.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Accuracy: </a:t>
            </a:r>
            <a:r>
              <a:rPr lang="en-US" sz="125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The 3-16-1 MLP gave a 1.13-2.24 percentage-point mean SOC error on held-out cycles (5 mV ADC noise, 30 mA offset), meeting the 2-3% target.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Real-Time Capable: </a:t>
            </a:r>
            <a:r>
              <a:rPr lang="en-US" sz="125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Inference takes about 7 µs per sample in the dashboard.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Limits: </a:t>
            </a:r>
            <a:r>
              <a:rPr lang="en-US" sz="125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Tested across cycles of the same cells; SOC labels rely on the coulomb-counting reference.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6309360" y="15087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Future Scope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6309360" y="1982732"/>
            <a:ext cx="5486040" cy="420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2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More Cells: </a:t>
            </a:r>
            <a:r>
              <a:rPr lang="en-US" sz="12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Retrain on data from more cells to test generalisation across cells.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Temperature Input: </a:t>
            </a:r>
            <a:r>
              <a:rPr lang="en-US" sz="12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Add temperature as a model input.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Unknown Starting SOC: </a:t>
            </a:r>
            <a:r>
              <a:rPr lang="en-US" sz="12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Test the estimator when the initial SOC is not known.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Hardware-in-the-Loop: </a:t>
            </a:r>
            <a:r>
              <a:rPr lang="en-US" sz="1250" b="0" u="none" strike="noStrike" dirty="0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Port the model to the ESP32 and test it with the physical ESP32 + TP4056 setup.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11551680" y="64008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Image 0" descr="/home/claude/assets/gradient_bar.png"/>
          <p:cNvPicPr/>
          <p:nvPr/>
        </p:nvPicPr>
        <p:blipFill>
          <a:blip r:embed="rId3"/>
          <a:stretch/>
        </p:blipFill>
        <p:spPr>
          <a:xfrm>
            <a:off x="0" y="0"/>
            <a:ext cx="12191400" cy="7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Image 1" descr="/home/claude/assets/logo.png"/>
          <p:cNvPicPr/>
          <p:nvPr/>
        </p:nvPicPr>
        <p:blipFill>
          <a:blip r:embed="rId4"/>
          <a:stretch/>
        </p:blipFill>
        <p:spPr>
          <a:xfrm>
            <a:off x="9860040" y="201240"/>
            <a:ext cx="2102760" cy="60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0"/>
          <p:cNvSpPr/>
          <p:nvPr/>
        </p:nvSpPr>
        <p:spPr>
          <a:xfrm>
            <a:off x="411480" y="68580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References</a:t>
            </a:r>
            <a:r>
              <a:rPr lang="en-US" sz="26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  Slide 13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"/>
          <p:cNvSpPr/>
          <p:nvPr/>
        </p:nvSpPr>
        <p:spPr>
          <a:xfrm>
            <a:off x="411480" y="1298160"/>
            <a:ext cx="11368440" cy="360"/>
          </a:xfrm>
          <a:prstGeom prst="line">
            <a:avLst/>
          </a:prstGeom>
          <a:ln w="12700">
            <a:solidFill>
              <a:srgbClr val="DDE1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411480" y="5074920"/>
            <a:ext cx="11365560" cy="1188720"/>
          </a:xfrm>
          <a:prstGeom prst="roundRect">
            <a:avLst>
              <a:gd name="adj" fmla="val 5217"/>
            </a:avLst>
          </a:prstGeom>
          <a:solidFill>
            <a:srgbClr val="FDF1F4"/>
          </a:solidFill>
          <a:ln w="12700">
            <a:solidFill>
              <a:srgbClr val="F3D6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685800" y="5212080"/>
            <a:ext cx="10835280" cy="91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200" b="1" u="none" strike="noStrike" dirty="0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DATASET NOTE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The NASA page lists several Li-ion aging sets; the 60 constant-current charge and discharge files used here are from that collection.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411480" y="15087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831838"/>
                </a:solidFill>
                <a:effectLst/>
                <a:uFillTx/>
                <a:latin typeface="Poppins"/>
                <a:ea typeface="Poppins"/>
              </a:rPr>
              <a:t>References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411480" y="1965960"/>
            <a:ext cx="11365560" cy="292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25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[1] Panda et al., </a:t>
            </a:r>
            <a:r>
              <a:rPr lang="en-US" sz="125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"Enhanced SOC estimation using ML algorithms," Sci. Rep., 2024.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[2] Wang et al., </a:t>
            </a:r>
            <a:r>
              <a:rPr lang="en-US" sz="125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"High-Fidelity SOC Estimation of Li-Ion Batteries using ML," arXiv, 2019.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[3] Zhang et al., </a:t>
            </a:r>
            <a:r>
              <a:rPr lang="en-US" sz="125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"SOC Estimation using CNN-Bi-LSTM-AM under Low Temperature," PMC, 2024.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[4] Yang et al., </a:t>
            </a:r>
            <a:r>
              <a:rPr lang="en-US" sz="125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"SOC Estimation using Residual CNNs," PMC, 2022.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1" u="none" strike="noStrike">
                <a:solidFill>
                  <a:srgbClr val="44494F"/>
                </a:solidFill>
                <a:effectLst/>
                <a:uFillTx/>
                <a:latin typeface="Poppins"/>
                <a:ea typeface="Poppins"/>
              </a:rPr>
              <a:t>[5] NASA Ames Prognostics Center of Excellence (PCoE), </a:t>
            </a:r>
            <a:r>
              <a:rPr lang="en-US" sz="1250" b="0" u="none" strike="noStrike">
                <a:solidFill>
                  <a:srgbClr val="555B63"/>
                </a:solidFill>
                <a:effectLst/>
                <a:uFillTx/>
                <a:latin typeface="Poppins"/>
                <a:ea typeface="Poppins"/>
              </a:rPr>
              <a:t>"Li-ion Battery Aging Datasets," NASA Open Data Portal (Dashlink resource 133), issued 2010. data.nasa.gov/dataset/li-ion-battery-aging-datasets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11551680" y="64008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9A3AF"/>
                </a:solidFill>
                <a:effectLst/>
                <a:uFillTx/>
                <a:latin typeface="Poppins"/>
                <a:ea typeface="Poppins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1249</Words>
  <Application>Microsoft Office PowerPoint</Application>
  <PresentationFormat>Widescreen</PresentationFormat>
  <Paragraphs>202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Cambria</vt:lpstr>
      <vt:lpstr>Poppins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Abhinav Pradeep</cp:lastModifiedBy>
  <cp:revision>5</cp:revision>
  <dcterms:created xsi:type="dcterms:W3CDTF">2026-08-10T04:26:39Z</dcterms:created>
  <dcterms:modified xsi:type="dcterms:W3CDTF">2026-08-10T08:28:57Z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